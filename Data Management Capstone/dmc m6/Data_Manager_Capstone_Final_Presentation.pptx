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66"/>
  </p:notesMasterIdLst>
  <p:sldIdLst>
    <p:sldId id="256" r:id="rId2"/>
    <p:sldId id="290" r:id="rId3"/>
    <p:sldId id="259" r:id="rId4"/>
    <p:sldId id="291" r:id="rId5"/>
    <p:sldId id="307" r:id="rId6"/>
    <p:sldId id="308" r:id="rId7"/>
    <p:sldId id="292" r:id="rId8"/>
    <p:sldId id="299" r:id="rId9"/>
    <p:sldId id="300" r:id="rId10"/>
    <p:sldId id="309" r:id="rId11"/>
    <p:sldId id="310" r:id="rId12"/>
    <p:sldId id="311" r:id="rId13"/>
    <p:sldId id="293" r:id="rId14"/>
    <p:sldId id="312" r:id="rId15"/>
    <p:sldId id="313" r:id="rId16"/>
    <p:sldId id="301" r:id="rId17"/>
    <p:sldId id="302" r:id="rId18"/>
    <p:sldId id="314" r:id="rId19"/>
    <p:sldId id="315" r:id="rId20"/>
    <p:sldId id="316" r:id="rId21"/>
    <p:sldId id="294" r:id="rId22"/>
    <p:sldId id="317" r:id="rId23"/>
    <p:sldId id="318" r:id="rId24"/>
    <p:sldId id="341" r:id="rId25"/>
    <p:sldId id="340" r:id="rId26"/>
    <p:sldId id="319" r:id="rId27"/>
    <p:sldId id="342" r:id="rId28"/>
    <p:sldId id="303" r:id="rId29"/>
    <p:sldId id="343" r:id="rId30"/>
    <p:sldId id="320" r:id="rId31"/>
    <p:sldId id="344" r:id="rId32"/>
    <p:sldId id="321" r:id="rId33"/>
    <p:sldId id="295" r:id="rId34"/>
    <p:sldId id="322" r:id="rId35"/>
    <p:sldId id="323" r:id="rId36"/>
    <p:sldId id="324" r:id="rId37"/>
    <p:sldId id="325" r:id="rId38"/>
    <p:sldId id="326" r:id="rId39"/>
    <p:sldId id="327" r:id="rId40"/>
    <p:sldId id="296" r:id="rId41"/>
    <p:sldId id="329" r:id="rId42"/>
    <p:sldId id="330" r:id="rId43"/>
    <p:sldId id="331" r:id="rId44"/>
    <p:sldId id="332" r:id="rId45"/>
    <p:sldId id="333" r:id="rId46"/>
    <p:sldId id="305" r:id="rId47"/>
    <p:sldId id="334" r:id="rId48"/>
    <p:sldId id="335" r:id="rId49"/>
    <p:sldId id="336" r:id="rId50"/>
    <p:sldId id="297" r:id="rId51"/>
    <p:sldId id="337" r:id="rId52"/>
    <p:sldId id="345" r:id="rId53"/>
    <p:sldId id="346" r:id="rId54"/>
    <p:sldId id="338" r:id="rId55"/>
    <p:sldId id="347" r:id="rId56"/>
    <p:sldId id="339" r:id="rId57"/>
    <p:sldId id="271" r:id="rId58"/>
    <p:sldId id="348" r:id="rId59"/>
    <p:sldId id="349" r:id="rId60"/>
    <p:sldId id="273" r:id="rId61"/>
    <p:sldId id="275" r:id="rId62"/>
    <p:sldId id="351" r:id="rId63"/>
    <p:sldId id="276" r:id="rId64"/>
    <p:sldId id="350"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geeta srinivasan" initials="ss" lastIdx="12" clrIdx="0">
    <p:extLst>
      <p:ext uri="{19B8F6BF-5375-455C-9EA6-DF929625EA0E}">
        <p15:presenceInfo xmlns:p15="http://schemas.microsoft.com/office/powerpoint/2012/main" userId="ae16b587ac2706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C439BD-94BC-4D9A-98D7-49CD37684A8D}" v="129" dt="2026-03-17T14:01:49.1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9674"/>
    <p:restoredTop sz="92566" autoAdjust="0"/>
  </p:normalViewPr>
  <p:slideViewPr>
    <p:cSldViewPr snapToGrid="0">
      <p:cViewPr varScale="1">
        <p:scale>
          <a:sx n="109" d="100"/>
          <a:sy n="109" d="100"/>
        </p:scale>
        <p:origin x="318"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hahidullah Chowdhury" userId="faf84d911d157f64" providerId="LiveId" clId="{8D76A4EA-5E1E-47FD-A00E-CA75266C40CF}"/>
    <pc:docChg chg="undo redo custSel addSld delSld modSld sldOrd modMainMaster">
      <pc:chgData name="Mohammad Shahidullah Chowdhury" userId="faf84d911d157f64" providerId="LiveId" clId="{8D76A4EA-5E1E-47FD-A00E-CA75266C40CF}" dt="2026-03-17T14:03:26" v="3976" actId="1076"/>
      <pc:docMkLst>
        <pc:docMk/>
      </pc:docMkLst>
      <pc:sldChg chg="modSp mod">
        <pc:chgData name="Mohammad Shahidullah Chowdhury" userId="faf84d911d157f64" providerId="LiveId" clId="{8D76A4EA-5E1E-47FD-A00E-CA75266C40CF}" dt="2026-03-17T13:09:03.360" v="3837" actId="948"/>
        <pc:sldMkLst>
          <pc:docMk/>
          <pc:sldMk cId="2971515690" sldId="271"/>
        </pc:sldMkLst>
        <pc:spChg chg="mod">
          <ac:chgData name="Mohammad Shahidullah Chowdhury" userId="faf84d911d157f64" providerId="LiveId" clId="{8D76A4EA-5E1E-47FD-A00E-CA75266C40CF}" dt="2026-03-17T11:48:39.682" v="3803" actId="20577"/>
          <ac:spMkLst>
            <pc:docMk/>
            <pc:sldMk cId="2971515690" sldId="271"/>
            <ac:spMk id="4" creationId="{F15DC2DD-53EF-AD02-C14D-F3F37423A3C2}"/>
          </ac:spMkLst>
        </pc:spChg>
        <pc:spChg chg="mod">
          <ac:chgData name="Mohammad Shahidullah Chowdhury" userId="faf84d911d157f64" providerId="LiveId" clId="{8D76A4EA-5E1E-47FD-A00E-CA75266C40CF}" dt="2026-03-17T13:09:03.360" v="3837" actId="948"/>
          <ac:spMkLst>
            <pc:docMk/>
            <pc:sldMk cId="2971515690" sldId="271"/>
            <ac:spMk id="5" creationId="{28072E42-DDEE-F140-AB06-21CFED9B6549}"/>
          </ac:spMkLst>
        </pc:spChg>
      </pc:sldChg>
      <pc:sldChg chg="modSp mod">
        <pc:chgData name="Mohammad Shahidullah Chowdhury" userId="faf84d911d157f64" providerId="LiveId" clId="{8D76A4EA-5E1E-47FD-A00E-CA75266C40CF}" dt="2026-03-17T12:58:15.644" v="3826" actId="948"/>
        <pc:sldMkLst>
          <pc:docMk/>
          <pc:sldMk cId="603056362" sldId="273"/>
        </pc:sldMkLst>
        <pc:spChg chg="mod">
          <ac:chgData name="Mohammad Shahidullah Chowdhury" userId="faf84d911d157f64" providerId="LiveId" clId="{8D76A4EA-5E1E-47FD-A00E-CA75266C40CF}" dt="2026-03-17T12:58:15.644" v="3826" actId="948"/>
          <ac:spMkLst>
            <pc:docMk/>
            <pc:sldMk cId="603056362" sldId="273"/>
            <ac:spMk id="5" creationId="{28072E42-DDEE-F140-AB06-21CFED9B6549}"/>
          </ac:spMkLst>
        </pc:spChg>
      </pc:sldChg>
      <pc:sldChg chg="addSp delSp modSp mod ord modClrScheme chgLayout">
        <pc:chgData name="Mohammad Shahidullah Chowdhury" userId="faf84d911d157f64" providerId="LiveId" clId="{8D76A4EA-5E1E-47FD-A00E-CA75266C40CF}" dt="2026-03-17T13:35:28.061" v="3909" actId="14100"/>
        <pc:sldMkLst>
          <pc:docMk/>
          <pc:sldMk cId="3935955217" sldId="276"/>
        </pc:sldMkLst>
        <pc:spChg chg="mod">
          <ac:chgData name="Mohammad Shahidullah Chowdhury" userId="faf84d911d157f64" providerId="LiveId" clId="{8D76A4EA-5E1E-47FD-A00E-CA75266C40CF}" dt="2026-03-17T13:34:47.817" v="3900" actId="26606"/>
          <ac:spMkLst>
            <pc:docMk/>
            <pc:sldMk cId="3935955217" sldId="276"/>
            <ac:spMk id="4" creationId="{F15DC2DD-53EF-AD02-C14D-F3F37423A3C2}"/>
          </ac:spMkLst>
        </pc:spChg>
        <pc:spChg chg="add del mod">
          <ac:chgData name="Mohammad Shahidullah Chowdhury" userId="faf84d911d157f64" providerId="LiveId" clId="{8D76A4EA-5E1E-47FD-A00E-CA75266C40CF}" dt="2026-03-17T13:34:47.817" v="3900" actId="26606"/>
          <ac:spMkLst>
            <pc:docMk/>
            <pc:sldMk cId="3935955217" sldId="276"/>
            <ac:spMk id="5" creationId="{28072E42-DDEE-F140-AB06-21CFED9B6549}"/>
          </ac:spMkLst>
        </pc:spChg>
        <pc:spChg chg="add del">
          <ac:chgData name="Mohammad Shahidullah Chowdhury" userId="faf84d911d157f64" providerId="LiveId" clId="{8D76A4EA-5E1E-47FD-A00E-CA75266C40CF}" dt="2026-03-17T13:34:55.769" v="3903" actId="22"/>
          <ac:spMkLst>
            <pc:docMk/>
            <pc:sldMk cId="3935955217" sldId="276"/>
            <ac:spMk id="11" creationId="{32374735-A136-B59F-1469-9112626DEF0C}"/>
          </ac:spMkLst>
        </pc:spChg>
        <pc:picChg chg="add del mod ord">
          <ac:chgData name="Mohammad Shahidullah Chowdhury" userId="faf84d911d157f64" providerId="LiveId" clId="{8D76A4EA-5E1E-47FD-A00E-CA75266C40CF}" dt="2026-03-17T13:27:26.542" v="3851" actId="22"/>
          <ac:picMkLst>
            <pc:docMk/>
            <pc:sldMk cId="3935955217" sldId="276"/>
            <ac:picMk id="3" creationId="{968CCFEA-BA29-7B2B-C481-BE997240FCC3}"/>
          </ac:picMkLst>
        </pc:picChg>
        <pc:picChg chg="add del">
          <ac:chgData name="Mohammad Shahidullah Chowdhury" userId="faf84d911d157f64" providerId="LiveId" clId="{8D76A4EA-5E1E-47FD-A00E-CA75266C40CF}" dt="2026-03-17T13:27:25.869" v="3850" actId="22"/>
          <ac:picMkLst>
            <pc:docMk/>
            <pc:sldMk cId="3935955217" sldId="276"/>
            <ac:picMk id="7" creationId="{D38C7635-25B4-952F-1794-D85C414A571A}"/>
          </ac:picMkLst>
        </pc:picChg>
        <pc:picChg chg="add del mod">
          <ac:chgData name="Mohammad Shahidullah Chowdhury" userId="faf84d911d157f64" providerId="LiveId" clId="{8D76A4EA-5E1E-47FD-A00E-CA75266C40CF}" dt="2026-03-17T13:34:48.992" v="3901" actId="931"/>
          <ac:picMkLst>
            <pc:docMk/>
            <pc:sldMk cId="3935955217" sldId="276"/>
            <ac:picMk id="9" creationId="{86646776-34CA-9E71-C886-64AC43AB52B5}"/>
          </ac:picMkLst>
        </pc:picChg>
        <pc:picChg chg="add mod">
          <ac:chgData name="Mohammad Shahidullah Chowdhury" userId="faf84d911d157f64" providerId="LiveId" clId="{8D76A4EA-5E1E-47FD-A00E-CA75266C40CF}" dt="2026-03-17T13:35:28.061" v="3909" actId="14100"/>
          <ac:picMkLst>
            <pc:docMk/>
            <pc:sldMk cId="3935955217" sldId="276"/>
            <ac:picMk id="13" creationId="{31BD794A-9D3D-6D67-212E-46110F3E0918}"/>
          </ac:picMkLst>
        </pc:picChg>
      </pc:sldChg>
      <pc:sldChg chg="modSp mod">
        <pc:chgData name="Mohammad Shahidullah Chowdhury" userId="faf84d911d157f64" providerId="LiveId" clId="{8D76A4EA-5E1E-47FD-A00E-CA75266C40CF}" dt="2026-03-15T17:53:51.142" v="12"/>
        <pc:sldMkLst>
          <pc:docMk/>
          <pc:sldMk cId="3684286581" sldId="291"/>
        </pc:sldMkLst>
        <pc:spChg chg="mod">
          <ac:chgData name="Mohammad Shahidullah Chowdhury" userId="faf84d911d157f64" providerId="LiveId" clId="{8D76A4EA-5E1E-47FD-A00E-CA75266C40CF}" dt="2026-03-15T17:53:51.142" v="12"/>
          <ac:spMkLst>
            <pc:docMk/>
            <pc:sldMk cId="3684286581" sldId="291"/>
            <ac:spMk id="3" creationId="{A2D7AA8D-39C3-B36F-483E-A19161CFADF4}"/>
          </ac:spMkLst>
        </pc:spChg>
      </pc:sldChg>
      <pc:sldChg chg="modSp mod">
        <pc:chgData name="Mohammad Shahidullah Chowdhury" userId="faf84d911d157f64" providerId="LiveId" clId="{8D76A4EA-5E1E-47FD-A00E-CA75266C40CF}" dt="2026-03-15T18:10:50.660" v="26" actId="20577"/>
        <pc:sldMkLst>
          <pc:docMk/>
          <pc:sldMk cId="2024151607" sldId="292"/>
        </pc:sldMkLst>
        <pc:spChg chg="mod">
          <ac:chgData name="Mohammad Shahidullah Chowdhury" userId="faf84d911d157f64" providerId="LiveId" clId="{8D76A4EA-5E1E-47FD-A00E-CA75266C40CF}" dt="2026-03-15T18:10:50.660" v="26" actId="20577"/>
          <ac:spMkLst>
            <pc:docMk/>
            <pc:sldMk cId="2024151607" sldId="292"/>
            <ac:spMk id="3" creationId="{601C0206-00EE-253C-1A58-2DFA775555CE}"/>
          </ac:spMkLst>
        </pc:spChg>
      </pc:sldChg>
      <pc:sldChg chg="addSp modSp mod modNotesTx">
        <pc:chgData name="Mohammad Shahidullah Chowdhury" userId="faf84d911d157f64" providerId="LiveId" clId="{8D76A4EA-5E1E-47FD-A00E-CA75266C40CF}" dt="2026-03-15T19:49:48.021" v="611" actId="20577"/>
        <pc:sldMkLst>
          <pc:docMk/>
          <pc:sldMk cId="1566631295" sldId="293"/>
        </pc:sldMkLst>
        <pc:spChg chg="mod">
          <ac:chgData name="Mohammad Shahidullah Chowdhury" userId="faf84d911d157f64" providerId="LiveId" clId="{8D76A4EA-5E1E-47FD-A00E-CA75266C40CF}" dt="2026-03-15T19:40:19.115" v="265" actId="5793"/>
          <ac:spMkLst>
            <pc:docMk/>
            <pc:sldMk cId="1566631295" sldId="293"/>
            <ac:spMk id="3" creationId="{ECB42A31-692D-9D42-0E64-7824DBE6044A}"/>
          </ac:spMkLst>
        </pc:spChg>
        <pc:spChg chg="add mod">
          <ac:chgData name="Mohammad Shahidullah Chowdhury" userId="faf84d911d157f64" providerId="LiveId" clId="{8D76A4EA-5E1E-47FD-A00E-CA75266C40CF}" dt="2026-03-15T19:48:52.714" v="610" actId="1035"/>
          <ac:spMkLst>
            <pc:docMk/>
            <pc:sldMk cId="1566631295" sldId="293"/>
            <ac:spMk id="10" creationId="{BFF3B9C6-31CF-7811-37DE-3658CCA22AEF}"/>
          </ac:spMkLst>
        </pc:spChg>
        <pc:spChg chg="add mod">
          <ac:chgData name="Mohammad Shahidullah Chowdhury" userId="faf84d911d157f64" providerId="LiveId" clId="{8D76A4EA-5E1E-47FD-A00E-CA75266C40CF}" dt="2026-03-15T19:48:52.714" v="610" actId="1035"/>
          <ac:spMkLst>
            <pc:docMk/>
            <pc:sldMk cId="1566631295" sldId="293"/>
            <ac:spMk id="11" creationId="{C8FE80C1-537B-FD43-44D6-9378D13A01D3}"/>
          </ac:spMkLst>
        </pc:spChg>
        <pc:spChg chg="add mod">
          <ac:chgData name="Mohammad Shahidullah Chowdhury" userId="faf84d911d157f64" providerId="LiveId" clId="{8D76A4EA-5E1E-47FD-A00E-CA75266C40CF}" dt="2026-03-15T19:48:52.714" v="610" actId="1035"/>
          <ac:spMkLst>
            <pc:docMk/>
            <pc:sldMk cId="1566631295" sldId="293"/>
            <ac:spMk id="12" creationId="{382E68E6-E418-7965-7BD7-BEDD6919F5FF}"/>
          </ac:spMkLst>
        </pc:spChg>
        <pc:picChg chg="add mod">
          <ac:chgData name="Mohammad Shahidullah Chowdhury" userId="faf84d911d157f64" providerId="LiveId" clId="{8D76A4EA-5E1E-47FD-A00E-CA75266C40CF}" dt="2026-03-15T19:45:27.935" v="331" actId="14100"/>
          <ac:picMkLst>
            <pc:docMk/>
            <pc:sldMk cId="1566631295" sldId="293"/>
            <ac:picMk id="5" creationId="{E73820E4-D0F5-DC3A-565C-6CEE5F0843B1}"/>
          </ac:picMkLst>
        </pc:picChg>
        <pc:picChg chg="add mod">
          <ac:chgData name="Mohammad Shahidullah Chowdhury" userId="faf84d911d157f64" providerId="LiveId" clId="{8D76A4EA-5E1E-47FD-A00E-CA75266C40CF}" dt="2026-03-15T19:43:26.492" v="330" actId="1038"/>
          <ac:picMkLst>
            <pc:docMk/>
            <pc:sldMk cId="1566631295" sldId="293"/>
            <ac:picMk id="7" creationId="{84F89752-7D36-D362-3782-63E9E5E7B7F9}"/>
          </ac:picMkLst>
        </pc:picChg>
        <pc:picChg chg="add mod">
          <ac:chgData name="Mohammad Shahidullah Chowdhury" userId="faf84d911d157f64" providerId="LiveId" clId="{8D76A4EA-5E1E-47FD-A00E-CA75266C40CF}" dt="2026-03-15T19:43:20.981" v="317" actId="1038"/>
          <ac:picMkLst>
            <pc:docMk/>
            <pc:sldMk cId="1566631295" sldId="293"/>
            <ac:picMk id="9" creationId="{27CC32E4-D981-8AEF-A4EE-24603E7603E6}"/>
          </ac:picMkLst>
        </pc:picChg>
      </pc:sldChg>
      <pc:sldChg chg="modSp mod">
        <pc:chgData name="Mohammad Shahidullah Chowdhury" userId="faf84d911d157f64" providerId="LiveId" clId="{8D76A4EA-5E1E-47FD-A00E-CA75266C40CF}" dt="2026-03-16T17:22:35.870" v="1302" actId="20577"/>
        <pc:sldMkLst>
          <pc:docMk/>
          <pc:sldMk cId="29645856" sldId="294"/>
        </pc:sldMkLst>
        <pc:spChg chg="mod">
          <ac:chgData name="Mohammad Shahidullah Chowdhury" userId="faf84d911d157f64" providerId="LiveId" clId="{8D76A4EA-5E1E-47FD-A00E-CA75266C40CF}" dt="2026-03-16T17:22:35.870" v="1302" actId="20577"/>
          <ac:spMkLst>
            <pc:docMk/>
            <pc:sldMk cId="29645856" sldId="294"/>
            <ac:spMk id="2" creationId="{B4257D30-FC14-D885-592D-C7FF4FAAEDF6}"/>
          </ac:spMkLst>
        </pc:spChg>
        <pc:spChg chg="mod">
          <ac:chgData name="Mohammad Shahidullah Chowdhury" userId="faf84d911d157f64" providerId="LiveId" clId="{8D76A4EA-5E1E-47FD-A00E-CA75266C40CF}" dt="2026-03-16T10:40:36.240" v="1023" actId="27636"/>
          <ac:spMkLst>
            <pc:docMk/>
            <pc:sldMk cId="29645856" sldId="294"/>
            <ac:spMk id="3" creationId="{7BF1B0C9-1E90-D0DF-7662-85F3F7F2D1A3}"/>
          </ac:spMkLst>
        </pc:spChg>
      </pc:sldChg>
      <pc:sldChg chg="modSp mod">
        <pc:chgData name="Mohammad Shahidullah Chowdhury" userId="faf84d911d157f64" providerId="LiveId" clId="{8D76A4EA-5E1E-47FD-A00E-CA75266C40CF}" dt="2026-03-16T18:54:16.719" v="1423" actId="27636"/>
        <pc:sldMkLst>
          <pc:docMk/>
          <pc:sldMk cId="773972771" sldId="295"/>
        </pc:sldMkLst>
        <pc:spChg chg="mod">
          <ac:chgData name="Mohammad Shahidullah Chowdhury" userId="faf84d911d157f64" providerId="LiveId" clId="{8D76A4EA-5E1E-47FD-A00E-CA75266C40CF}" dt="2026-03-16T18:54:16.719" v="1423" actId="27636"/>
          <ac:spMkLst>
            <pc:docMk/>
            <pc:sldMk cId="773972771" sldId="295"/>
            <ac:spMk id="3" creationId="{E315FA32-BA56-27CF-2F10-6EA9E0E5B245}"/>
          </ac:spMkLst>
        </pc:spChg>
      </pc:sldChg>
      <pc:sldChg chg="modSp mod">
        <pc:chgData name="Mohammad Shahidullah Chowdhury" userId="faf84d911d157f64" providerId="LiveId" clId="{8D76A4EA-5E1E-47FD-A00E-CA75266C40CF}" dt="2026-03-17T09:56:29.397" v="2493" actId="1035"/>
        <pc:sldMkLst>
          <pc:docMk/>
          <pc:sldMk cId="1675122726" sldId="296"/>
        </pc:sldMkLst>
        <pc:spChg chg="mod">
          <ac:chgData name="Mohammad Shahidullah Chowdhury" userId="faf84d911d157f64" providerId="LiveId" clId="{8D76A4EA-5E1E-47FD-A00E-CA75266C40CF}" dt="2026-03-17T09:56:29.397" v="2493" actId="1035"/>
          <ac:spMkLst>
            <pc:docMk/>
            <pc:sldMk cId="1675122726" sldId="296"/>
            <ac:spMk id="6" creationId="{6E62E306-D7A4-708A-FA48-5667344BECB5}"/>
          </ac:spMkLst>
        </pc:spChg>
      </pc:sldChg>
      <pc:sldChg chg="modSp mod">
        <pc:chgData name="Mohammad Shahidullah Chowdhury" userId="faf84d911d157f64" providerId="LiveId" clId="{8D76A4EA-5E1E-47FD-A00E-CA75266C40CF}" dt="2026-03-17T10:25:39.121" v="2517" actId="255"/>
        <pc:sldMkLst>
          <pc:docMk/>
          <pc:sldMk cId="2137381795" sldId="297"/>
        </pc:sldMkLst>
        <pc:spChg chg="mod">
          <ac:chgData name="Mohammad Shahidullah Chowdhury" userId="faf84d911d157f64" providerId="LiveId" clId="{8D76A4EA-5E1E-47FD-A00E-CA75266C40CF}" dt="2026-03-17T10:25:39.121" v="2517" actId="255"/>
          <ac:spMkLst>
            <pc:docMk/>
            <pc:sldMk cId="2137381795" sldId="297"/>
            <ac:spMk id="3" creationId="{951DF861-C031-409A-1FD9-FAC239C53F78}"/>
          </ac:spMkLst>
        </pc:spChg>
      </pc:sldChg>
      <pc:sldChg chg="modSp mod modNotesTx">
        <pc:chgData name="Mohammad Shahidullah Chowdhury" userId="faf84d911d157f64" providerId="LiveId" clId="{8D76A4EA-5E1E-47FD-A00E-CA75266C40CF}" dt="2026-03-15T18:34:15.717" v="73" actId="20577"/>
        <pc:sldMkLst>
          <pc:docMk/>
          <pc:sldMk cId="86167250" sldId="299"/>
        </pc:sldMkLst>
        <pc:spChg chg="mod">
          <ac:chgData name="Mohammad Shahidullah Chowdhury" userId="faf84d911d157f64" providerId="LiveId" clId="{8D76A4EA-5E1E-47FD-A00E-CA75266C40CF}" dt="2026-03-15T18:34:15.717" v="73" actId="20577"/>
          <ac:spMkLst>
            <pc:docMk/>
            <pc:sldMk cId="86167250" sldId="299"/>
            <ac:spMk id="3" creationId="{76B09F0D-5DF7-97C8-5C8F-4EB9BEB1B265}"/>
          </ac:spMkLst>
        </pc:spChg>
      </pc:sldChg>
      <pc:sldChg chg="modSp mod modNotesTx">
        <pc:chgData name="Mohammad Shahidullah Chowdhury" userId="faf84d911d157f64" providerId="LiveId" clId="{8D76A4EA-5E1E-47FD-A00E-CA75266C40CF}" dt="2026-03-15T18:36:06.417" v="100" actId="20577"/>
        <pc:sldMkLst>
          <pc:docMk/>
          <pc:sldMk cId="1612933680" sldId="300"/>
        </pc:sldMkLst>
        <pc:spChg chg="mod">
          <ac:chgData name="Mohammad Shahidullah Chowdhury" userId="faf84d911d157f64" providerId="LiveId" clId="{8D76A4EA-5E1E-47FD-A00E-CA75266C40CF}" dt="2026-03-15T18:34:57.016" v="76" actId="5793"/>
          <ac:spMkLst>
            <pc:docMk/>
            <pc:sldMk cId="1612933680" sldId="300"/>
            <ac:spMk id="3" creationId="{B5AB276F-DBCB-1127-6AAC-70689E910386}"/>
          </ac:spMkLst>
        </pc:spChg>
      </pc:sldChg>
      <pc:sldChg chg="addSp modSp mod">
        <pc:chgData name="Mohammad Shahidullah Chowdhury" userId="faf84d911d157f64" providerId="LiveId" clId="{8D76A4EA-5E1E-47FD-A00E-CA75266C40CF}" dt="2026-03-15T20:05:13.535" v="677" actId="1035"/>
        <pc:sldMkLst>
          <pc:docMk/>
          <pc:sldMk cId="4017965814" sldId="301"/>
        </pc:sldMkLst>
        <pc:spChg chg="mod">
          <ac:chgData name="Mohammad Shahidullah Chowdhury" userId="faf84d911d157f64" providerId="LiveId" clId="{8D76A4EA-5E1E-47FD-A00E-CA75266C40CF}" dt="2026-03-15T20:01:37.351" v="661" actId="5793"/>
          <ac:spMkLst>
            <pc:docMk/>
            <pc:sldMk cId="4017965814" sldId="301"/>
            <ac:spMk id="3" creationId="{20CD5F3F-2CD1-A14F-A9A2-3777A2D8C926}"/>
          </ac:spMkLst>
        </pc:spChg>
        <pc:spChg chg="add mod">
          <ac:chgData name="Mohammad Shahidullah Chowdhury" userId="faf84d911d157f64" providerId="LiveId" clId="{8D76A4EA-5E1E-47FD-A00E-CA75266C40CF}" dt="2026-03-15T20:02:11.425" v="665" actId="14100"/>
          <ac:spMkLst>
            <pc:docMk/>
            <pc:sldMk cId="4017965814" sldId="301"/>
            <ac:spMk id="5" creationId="{AF2FDB60-0A69-E8DF-C6E8-BD028D42D51F}"/>
          </ac:spMkLst>
        </pc:spChg>
        <pc:graphicFrameChg chg="add mod modGraphic">
          <ac:chgData name="Mohammad Shahidullah Chowdhury" userId="faf84d911d157f64" providerId="LiveId" clId="{8D76A4EA-5E1E-47FD-A00E-CA75266C40CF}" dt="2026-03-15T20:05:13.535" v="677" actId="1035"/>
          <ac:graphicFrameMkLst>
            <pc:docMk/>
            <pc:sldMk cId="4017965814" sldId="301"/>
            <ac:graphicFrameMk id="4" creationId="{6706AF96-3BE1-7038-6BEB-02BC0B156D37}"/>
          </ac:graphicFrameMkLst>
        </pc:graphicFrameChg>
      </pc:sldChg>
      <pc:sldChg chg="modSp mod modNotesTx">
        <pc:chgData name="Mohammad Shahidullah Chowdhury" userId="faf84d911d157f64" providerId="LiveId" clId="{8D76A4EA-5E1E-47FD-A00E-CA75266C40CF}" dt="2026-03-16T04:55:28.579" v="696" actId="20577"/>
        <pc:sldMkLst>
          <pc:docMk/>
          <pc:sldMk cId="1530451401" sldId="302"/>
        </pc:sldMkLst>
        <pc:spChg chg="mod">
          <ac:chgData name="Mohammad Shahidullah Chowdhury" userId="faf84d911d157f64" providerId="LiveId" clId="{8D76A4EA-5E1E-47FD-A00E-CA75266C40CF}" dt="2026-03-16T04:54:23.855" v="694" actId="20577"/>
          <ac:spMkLst>
            <pc:docMk/>
            <pc:sldMk cId="1530451401" sldId="302"/>
            <ac:spMk id="3" creationId="{36FEAA53-7BA6-829E-D2B2-79E813EB43A2}"/>
          </ac:spMkLst>
        </pc:spChg>
      </pc:sldChg>
      <pc:sldChg chg="modSp mod">
        <pc:chgData name="Mohammad Shahidullah Chowdhury" userId="faf84d911d157f64" providerId="LiveId" clId="{8D76A4EA-5E1E-47FD-A00E-CA75266C40CF}" dt="2026-03-16T18:38:03.356" v="1386" actId="255"/>
        <pc:sldMkLst>
          <pc:docMk/>
          <pc:sldMk cId="847521215" sldId="303"/>
        </pc:sldMkLst>
        <pc:spChg chg="mod">
          <ac:chgData name="Mohammad Shahidullah Chowdhury" userId="faf84d911d157f64" providerId="LiveId" clId="{8D76A4EA-5E1E-47FD-A00E-CA75266C40CF}" dt="2026-03-16T18:29:53.729" v="1356" actId="20577"/>
          <ac:spMkLst>
            <pc:docMk/>
            <pc:sldMk cId="847521215" sldId="303"/>
            <ac:spMk id="2" creationId="{60E3E5D5-DAD6-971F-73F8-584F5D2B8A8E}"/>
          </ac:spMkLst>
        </pc:spChg>
        <pc:spChg chg="mod">
          <ac:chgData name="Mohammad Shahidullah Chowdhury" userId="faf84d911d157f64" providerId="LiveId" clId="{8D76A4EA-5E1E-47FD-A00E-CA75266C40CF}" dt="2026-03-16T18:38:03.356" v="1386" actId="255"/>
          <ac:spMkLst>
            <pc:docMk/>
            <pc:sldMk cId="847521215" sldId="303"/>
            <ac:spMk id="3" creationId="{02330931-6412-5510-1B40-A3E53F30AC55}"/>
          </ac:spMkLst>
        </pc:spChg>
      </pc:sldChg>
      <pc:sldChg chg="addSp delSp modSp mod">
        <pc:chgData name="Mohammad Shahidullah Chowdhury" userId="faf84d911d157f64" providerId="LiveId" clId="{8D76A4EA-5E1E-47FD-A00E-CA75266C40CF}" dt="2026-03-17T09:01:44.647" v="2338" actId="207"/>
        <pc:sldMkLst>
          <pc:docMk/>
          <pc:sldMk cId="4129931056" sldId="305"/>
        </pc:sldMkLst>
        <pc:spChg chg="add del mod">
          <ac:chgData name="Mohammad Shahidullah Chowdhury" userId="faf84d911d157f64" providerId="LiveId" clId="{8D76A4EA-5E1E-47FD-A00E-CA75266C40CF}" dt="2026-03-17T09:01:44.647" v="2338" actId="207"/>
          <ac:spMkLst>
            <pc:docMk/>
            <pc:sldMk cId="4129931056" sldId="305"/>
            <ac:spMk id="6" creationId="{2D40017C-47B7-EC98-13E8-B9FBD19881AB}"/>
          </ac:spMkLst>
        </pc:spChg>
        <pc:graphicFrameChg chg="add mod">
          <ac:chgData name="Mohammad Shahidullah Chowdhury" userId="faf84d911d157f64" providerId="LiveId" clId="{8D76A4EA-5E1E-47FD-A00E-CA75266C40CF}" dt="2026-03-17T08:49:25.194" v="2214" actId="12084"/>
          <ac:graphicFrameMkLst>
            <pc:docMk/>
            <pc:sldMk cId="4129931056" sldId="305"/>
            <ac:graphicFrameMk id="3" creationId="{76544A9E-7FE0-097C-B435-A4A4CA7AC14D}"/>
          </ac:graphicFrameMkLst>
        </pc:graphicFrameChg>
        <pc:graphicFrameChg chg="add del mod modGraphic">
          <ac:chgData name="Mohammad Shahidullah Chowdhury" userId="faf84d911d157f64" providerId="LiveId" clId="{8D76A4EA-5E1E-47FD-A00E-CA75266C40CF}" dt="2026-03-17T08:56:44.412" v="2293" actId="478"/>
          <ac:graphicFrameMkLst>
            <pc:docMk/>
            <pc:sldMk cId="4129931056" sldId="305"/>
            <ac:graphicFrameMk id="4" creationId="{58E50CB4-D375-CA76-8910-A6E5DB558C7B}"/>
          </ac:graphicFrameMkLst>
        </pc:graphicFrameChg>
        <pc:graphicFrameChg chg="add mod modGraphic">
          <ac:chgData name="Mohammad Shahidullah Chowdhury" userId="faf84d911d157f64" providerId="LiveId" clId="{8D76A4EA-5E1E-47FD-A00E-CA75266C40CF}" dt="2026-03-17T09:00:19.844" v="2328" actId="14100"/>
          <ac:graphicFrameMkLst>
            <pc:docMk/>
            <pc:sldMk cId="4129931056" sldId="305"/>
            <ac:graphicFrameMk id="5" creationId="{5585C5AE-A7F6-D044-3E50-71331C881D36}"/>
          </ac:graphicFrameMkLst>
        </pc:graphicFrameChg>
      </pc:sldChg>
      <pc:sldChg chg="modSp mod">
        <pc:chgData name="Mohammad Shahidullah Chowdhury" userId="faf84d911d157f64" providerId="LiveId" clId="{8D76A4EA-5E1E-47FD-A00E-CA75266C40CF}" dt="2026-03-15T17:56:45.345" v="16"/>
        <pc:sldMkLst>
          <pc:docMk/>
          <pc:sldMk cId="847424175" sldId="307"/>
        </pc:sldMkLst>
        <pc:spChg chg="mod">
          <ac:chgData name="Mohammad Shahidullah Chowdhury" userId="faf84d911d157f64" providerId="LiveId" clId="{8D76A4EA-5E1E-47FD-A00E-CA75266C40CF}" dt="2026-03-15T17:56:45.345" v="16"/>
          <ac:spMkLst>
            <pc:docMk/>
            <pc:sldMk cId="847424175" sldId="307"/>
            <ac:spMk id="3" creationId="{A2D7AA8D-39C3-B36F-483E-A19161CFADF4}"/>
          </ac:spMkLst>
        </pc:spChg>
      </pc:sldChg>
      <pc:sldChg chg="modSp mod">
        <pc:chgData name="Mohammad Shahidullah Chowdhury" userId="faf84d911d157f64" providerId="LiveId" clId="{8D76A4EA-5E1E-47FD-A00E-CA75266C40CF}" dt="2026-03-15T19:17:38.313" v="263" actId="113"/>
        <pc:sldMkLst>
          <pc:docMk/>
          <pc:sldMk cId="2900995220" sldId="309"/>
        </pc:sldMkLst>
        <pc:spChg chg="mod">
          <ac:chgData name="Mohammad Shahidullah Chowdhury" userId="faf84d911d157f64" providerId="LiveId" clId="{8D76A4EA-5E1E-47FD-A00E-CA75266C40CF}" dt="2026-03-15T19:17:38.313" v="263" actId="113"/>
          <ac:spMkLst>
            <pc:docMk/>
            <pc:sldMk cId="2900995220" sldId="309"/>
            <ac:spMk id="3" creationId="{B5AB276F-DBCB-1127-6AAC-70689E910386}"/>
          </ac:spMkLst>
        </pc:spChg>
      </pc:sldChg>
      <pc:sldChg chg="modSp mod modNotesTx">
        <pc:chgData name="Mohammad Shahidullah Chowdhury" userId="faf84d911d157f64" providerId="LiveId" clId="{8D76A4EA-5E1E-47FD-A00E-CA75266C40CF}" dt="2026-03-15T18:47:30.677" v="146" actId="20577"/>
        <pc:sldMkLst>
          <pc:docMk/>
          <pc:sldMk cId="3552821643" sldId="310"/>
        </pc:sldMkLst>
        <pc:spChg chg="mod">
          <ac:chgData name="Mohammad Shahidullah Chowdhury" userId="faf84d911d157f64" providerId="LiveId" clId="{8D76A4EA-5E1E-47FD-A00E-CA75266C40CF}" dt="2026-03-15T18:46:53.993" v="144" actId="20577"/>
          <ac:spMkLst>
            <pc:docMk/>
            <pc:sldMk cId="3552821643" sldId="310"/>
            <ac:spMk id="3" creationId="{B5AB276F-DBCB-1127-6AAC-70689E910386}"/>
          </ac:spMkLst>
        </pc:spChg>
      </pc:sldChg>
      <pc:sldChg chg="modSp mod">
        <pc:chgData name="Mohammad Shahidullah Chowdhury" userId="faf84d911d157f64" providerId="LiveId" clId="{8D76A4EA-5E1E-47FD-A00E-CA75266C40CF}" dt="2026-03-15T19:53:20.690" v="630" actId="27636"/>
        <pc:sldMkLst>
          <pc:docMk/>
          <pc:sldMk cId="4047446271" sldId="312"/>
        </pc:sldMkLst>
        <pc:spChg chg="mod">
          <ac:chgData name="Mohammad Shahidullah Chowdhury" userId="faf84d911d157f64" providerId="LiveId" clId="{8D76A4EA-5E1E-47FD-A00E-CA75266C40CF}" dt="2026-03-15T19:53:20.690" v="630" actId="27636"/>
          <ac:spMkLst>
            <pc:docMk/>
            <pc:sldMk cId="4047446271" sldId="312"/>
            <ac:spMk id="3" creationId="{ECB42A31-692D-9D42-0E64-7824DBE6044A}"/>
          </ac:spMkLst>
        </pc:spChg>
      </pc:sldChg>
      <pc:sldChg chg="modSp mod">
        <pc:chgData name="Mohammad Shahidullah Chowdhury" userId="faf84d911d157f64" providerId="LiveId" clId="{8D76A4EA-5E1E-47FD-A00E-CA75266C40CF}" dt="2026-03-15T19:58:43.513" v="659" actId="113"/>
        <pc:sldMkLst>
          <pc:docMk/>
          <pc:sldMk cId="1532298741" sldId="313"/>
        </pc:sldMkLst>
        <pc:spChg chg="mod">
          <ac:chgData name="Mohammad Shahidullah Chowdhury" userId="faf84d911d157f64" providerId="LiveId" clId="{8D76A4EA-5E1E-47FD-A00E-CA75266C40CF}" dt="2026-03-15T19:58:43.513" v="659" actId="113"/>
          <ac:spMkLst>
            <pc:docMk/>
            <pc:sldMk cId="1532298741" sldId="313"/>
            <ac:spMk id="3" creationId="{ECB42A31-692D-9D42-0E64-7824DBE6044A}"/>
          </ac:spMkLst>
        </pc:spChg>
      </pc:sldChg>
      <pc:sldChg chg="modSp mod modNotesTx">
        <pc:chgData name="Mohammad Shahidullah Chowdhury" userId="faf84d911d157f64" providerId="LiveId" clId="{8D76A4EA-5E1E-47FD-A00E-CA75266C40CF}" dt="2026-03-16T05:38:58.229" v="888" actId="20577"/>
        <pc:sldMkLst>
          <pc:docMk/>
          <pc:sldMk cId="1585772453" sldId="314"/>
        </pc:sldMkLst>
        <pc:spChg chg="mod">
          <ac:chgData name="Mohammad Shahidullah Chowdhury" userId="faf84d911d157f64" providerId="LiveId" clId="{8D76A4EA-5E1E-47FD-A00E-CA75266C40CF}" dt="2026-03-16T05:36:33.802" v="887" actId="948"/>
          <ac:spMkLst>
            <pc:docMk/>
            <pc:sldMk cId="1585772453" sldId="314"/>
            <ac:spMk id="3" creationId="{36FEAA53-7BA6-829E-D2B2-79E813EB43A2}"/>
          </ac:spMkLst>
        </pc:spChg>
      </pc:sldChg>
      <pc:sldChg chg="addSp delSp modSp mod modClrScheme chgLayout">
        <pc:chgData name="Mohammad Shahidullah Chowdhury" userId="faf84d911d157f64" providerId="LiveId" clId="{8D76A4EA-5E1E-47FD-A00E-CA75266C40CF}" dt="2026-03-16T05:47:17.286" v="963" actId="255"/>
        <pc:sldMkLst>
          <pc:docMk/>
          <pc:sldMk cId="3093832407" sldId="315"/>
        </pc:sldMkLst>
        <pc:spChg chg="mod">
          <ac:chgData name="Mohammad Shahidullah Chowdhury" userId="faf84d911d157f64" providerId="LiveId" clId="{8D76A4EA-5E1E-47FD-A00E-CA75266C40CF}" dt="2026-03-16T05:46:33.737" v="961" actId="26606"/>
          <ac:spMkLst>
            <pc:docMk/>
            <pc:sldMk cId="3093832407" sldId="315"/>
            <ac:spMk id="2" creationId="{0AFD9446-A509-3906-33E1-DDD5CE84D291}"/>
          </ac:spMkLst>
        </pc:spChg>
        <pc:spChg chg="mod">
          <ac:chgData name="Mohammad Shahidullah Chowdhury" userId="faf84d911d157f64" providerId="LiveId" clId="{8D76A4EA-5E1E-47FD-A00E-CA75266C40CF}" dt="2026-03-16T05:47:17.286" v="963" actId="255"/>
          <ac:spMkLst>
            <pc:docMk/>
            <pc:sldMk cId="3093832407" sldId="315"/>
            <ac:spMk id="3" creationId="{36FEAA53-7BA6-829E-D2B2-79E813EB43A2}"/>
          </ac:spMkLst>
        </pc:spChg>
        <pc:spChg chg="ord">
          <ac:chgData name="Mohammad Shahidullah Chowdhury" userId="faf84d911d157f64" providerId="LiveId" clId="{8D76A4EA-5E1E-47FD-A00E-CA75266C40CF}" dt="2026-03-16T05:46:33.737" v="961" actId="26606"/>
          <ac:spMkLst>
            <pc:docMk/>
            <pc:sldMk cId="3093832407" sldId="315"/>
            <ac:spMk id="4" creationId="{BCD0FE2B-CD4A-9159-9957-B724063F3A49}"/>
          </ac:spMkLst>
        </pc:spChg>
        <pc:picChg chg="add del mod">
          <ac:chgData name="Mohammad Shahidullah Chowdhury" userId="faf84d911d157f64" providerId="LiveId" clId="{8D76A4EA-5E1E-47FD-A00E-CA75266C40CF}" dt="2026-03-16T05:41:54.109" v="912" actId="931"/>
          <ac:picMkLst>
            <pc:docMk/>
            <pc:sldMk cId="3093832407" sldId="315"/>
            <ac:picMk id="6" creationId="{3F38DED2-4403-1509-DC59-E8A3E7DE2E02}"/>
          </ac:picMkLst>
        </pc:picChg>
        <pc:picChg chg="add del mod">
          <ac:chgData name="Mohammad Shahidullah Chowdhury" userId="faf84d911d157f64" providerId="LiveId" clId="{8D76A4EA-5E1E-47FD-A00E-CA75266C40CF}" dt="2026-03-16T05:43:53.379" v="939" actId="931"/>
          <ac:picMkLst>
            <pc:docMk/>
            <pc:sldMk cId="3093832407" sldId="315"/>
            <ac:picMk id="8" creationId="{2C5268F7-8327-B156-EBEC-7A59815B7F42}"/>
          </ac:picMkLst>
        </pc:picChg>
        <pc:picChg chg="add mod">
          <ac:chgData name="Mohammad Shahidullah Chowdhury" userId="faf84d911d157f64" providerId="LiveId" clId="{8D76A4EA-5E1E-47FD-A00E-CA75266C40CF}" dt="2026-03-16T05:46:41.345" v="962" actId="14100"/>
          <ac:picMkLst>
            <pc:docMk/>
            <pc:sldMk cId="3093832407" sldId="315"/>
            <ac:picMk id="10" creationId="{5489BE82-705A-BD9A-2F06-67C9B61A8843}"/>
          </ac:picMkLst>
        </pc:picChg>
      </pc:sldChg>
      <pc:sldChg chg="modSp mod">
        <pc:chgData name="Mohammad Shahidullah Chowdhury" userId="faf84d911d157f64" providerId="LiveId" clId="{8D76A4EA-5E1E-47FD-A00E-CA75266C40CF}" dt="2026-03-16T17:22:28.314" v="1300" actId="20577"/>
        <pc:sldMkLst>
          <pc:docMk/>
          <pc:sldMk cId="3393689326" sldId="317"/>
        </pc:sldMkLst>
        <pc:spChg chg="mod">
          <ac:chgData name="Mohammad Shahidullah Chowdhury" userId="faf84d911d157f64" providerId="LiveId" clId="{8D76A4EA-5E1E-47FD-A00E-CA75266C40CF}" dt="2026-03-16T17:22:28.314" v="1300" actId="20577"/>
          <ac:spMkLst>
            <pc:docMk/>
            <pc:sldMk cId="3393689326" sldId="317"/>
            <ac:spMk id="2" creationId="{B4257D30-FC14-D885-592D-C7FF4FAAEDF6}"/>
          </ac:spMkLst>
        </pc:spChg>
        <pc:spChg chg="mod">
          <ac:chgData name="Mohammad Shahidullah Chowdhury" userId="faf84d911d157f64" providerId="LiveId" clId="{8D76A4EA-5E1E-47FD-A00E-CA75266C40CF}" dt="2026-03-16T13:35:50.664" v="1067" actId="255"/>
          <ac:spMkLst>
            <pc:docMk/>
            <pc:sldMk cId="3393689326" sldId="317"/>
            <ac:spMk id="3" creationId="{7BF1B0C9-1E90-D0DF-7662-85F3F7F2D1A3}"/>
          </ac:spMkLst>
        </pc:spChg>
      </pc:sldChg>
      <pc:sldChg chg="modSp mod">
        <pc:chgData name="Mohammad Shahidullah Chowdhury" userId="faf84d911d157f64" providerId="LiveId" clId="{8D76A4EA-5E1E-47FD-A00E-CA75266C40CF}" dt="2026-03-16T17:22:20.475" v="1298" actId="20577"/>
        <pc:sldMkLst>
          <pc:docMk/>
          <pc:sldMk cId="3532205515" sldId="318"/>
        </pc:sldMkLst>
        <pc:spChg chg="mod">
          <ac:chgData name="Mohammad Shahidullah Chowdhury" userId="faf84d911d157f64" providerId="LiveId" clId="{8D76A4EA-5E1E-47FD-A00E-CA75266C40CF}" dt="2026-03-16T17:22:20.475" v="1298" actId="20577"/>
          <ac:spMkLst>
            <pc:docMk/>
            <pc:sldMk cId="3532205515" sldId="318"/>
            <ac:spMk id="2" creationId="{B4257D30-FC14-D885-592D-C7FF4FAAEDF6}"/>
          </ac:spMkLst>
        </pc:spChg>
        <pc:spChg chg="mod">
          <ac:chgData name="Mohammad Shahidullah Chowdhury" userId="faf84d911d157f64" providerId="LiveId" clId="{8D76A4EA-5E1E-47FD-A00E-CA75266C40CF}" dt="2026-03-16T14:10:00.679" v="1153" actId="255"/>
          <ac:spMkLst>
            <pc:docMk/>
            <pc:sldMk cId="3532205515" sldId="318"/>
            <ac:spMk id="3" creationId="{7BF1B0C9-1E90-D0DF-7662-85F3F7F2D1A3}"/>
          </ac:spMkLst>
        </pc:spChg>
      </pc:sldChg>
      <pc:sldChg chg="modSp mod">
        <pc:chgData name="Mohammad Shahidullah Chowdhury" userId="faf84d911d157f64" providerId="LiveId" clId="{8D76A4EA-5E1E-47FD-A00E-CA75266C40CF}" dt="2026-03-16T17:21:31.850" v="1288" actId="20577"/>
        <pc:sldMkLst>
          <pc:docMk/>
          <pc:sldMk cId="549561740" sldId="319"/>
        </pc:sldMkLst>
        <pc:spChg chg="mod">
          <ac:chgData name="Mohammad Shahidullah Chowdhury" userId="faf84d911d157f64" providerId="LiveId" clId="{8D76A4EA-5E1E-47FD-A00E-CA75266C40CF}" dt="2026-03-16T17:21:31.850" v="1288" actId="20577"/>
          <ac:spMkLst>
            <pc:docMk/>
            <pc:sldMk cId="549561740" sldId="319"/>
            <ac:spMk id="2" creationId="{B4257D30-FC14-D885-592D-C7FF4FAAEDF6}"/>
          </ac:spMkLst>
        </pc:spChg>
        <pc:spChg chg="mod">
          <ac:chgData name="Mohammad Shahidullah Chowdhury" userId="faf84d911d157f64" providerId="LiveId" clId="{8D76A4EA-5E1E-47FD-A00E-CA75266C40CF}" dt="2026-03-16T17:16:43.745" v="1276" actId="20577"/>
          <ac:spMkLst>
            <pc:docMk/>
            <pc:sldMk cId="549561740" sldId="319"/>
            <ac:spMk id="3" creationId="{7BF1B0C9-1E90-D0DF-7662-85F3F7F2D1A3}"/>
          </ac:spMkLst>
        </pc:spChg>
      </pc:sldChg>
      <pc:sldChg chg="modSp mod">
        <pc:chgData name="Mohammad Shahidullah Chowdhury" userId="faf84d911d157f64" providerId="LiveId" clId="{8D76A4EA-5E1E-47FD-A00E-CA75266C40CF}" dt="2026-03-16T18:39:56.191" v="1398" actId="20577"/>
        <pc:sldMkLst>
          <pc:docMk/>
          <pc:sldMk cId="324589011" sldId="320"/>
        </pc:sldMkLst>
        <pc:spChg chg="mod">
          <ac:chgData name="Mohammad Shahidullah Chowdhury" userId="faf84d911d157f64" providerId="LiveId" clId="{8D76A4EA-5E1E-47FD-A00E-CA75266C40CF}" dt="2026-03-16T18:39:56.191" v="1398" actId="20577"/>
          <ac:spMkLst>
            <pc:docMk/>
            <pc:sldMk cId="324589011" sldId="320"/>
            <ac:spMk id="2" creationId="{60E3E5D5-DAD6-971F-73F8-584F5D2B8A8E}"/>
          </ac:spMkLst>
        </pc:spChg>
        <pc:spChg chg="mod">
          <ac:chgData name="Mohammad Shahidullah Chowdhury" userId="faf84d911d157f64" providerId="LiveId" clId="{8D76A4EA-5E1E-47FD-A00E-CA75266C40CF}" dt="2026-03-16T18:39:13.784" v="1394" actId="15"/>
          <ac:spMkLst>
            <pc:docMk/>
            <pc:sldMk cId="324589011" sldId="320"/>
            <ac:spMk id="3" creationId="{02330931-6412-5510-1B40-A3E53F30AC55}"/>
          </ac:spMkLst>
        </pc:spChg>
      </pc:sldChg>
      <pc:sldChg chg="modSp mod">
        <pc:chgData name="Mohammad Shahidullah Chowdhury" userId="faf84d911d157f64" providerId="LiveId" clId="{8D76A4EA-5E1E-47FD-A00E-CA75266C40CF}" dt="2026-03-16T18:57:15.212" v="1431" actId="27636"/>
        <pc:sldMkLst>
          <pc:docMk/>
          <pc:sldMk cId="1562373301" sldId="322"/>
        </pc:sldMkLst>
        <pc:spChg chg="mod">
          <ac:chgData name="Mohammad Shahidullah Chowdhury" userId="faf84d911d157f64" providerId="LiveId" clId="{8D76A4EA-5E1E-47FD-A00E-CA75266C40CF}" dt="2026-03-16T18:57:15.212" v="1431" actId="27636"/>
          <ac:spMkLst>
            <pc:docMk/>
            <pc:sldMk cId="1562373301" sldId="322"/>
            <ac:spMk id="3" creationId="{E315FA32-BA56-27CF-2F10-6EA9E0E5B245}"/>
          </ac:spMkLst>
        </pc:spChg>
      </pc:sldChg>
      <pc:sldChg chg="modSp mod">
        <pc:chgData name="Mohammad Shahidullah Chowdhury" userId="faf84d911d157f64" providerId="LiveId" clId="{8D76A4EA-5E1E-47FD-A00E-CA75266C40CF}" dt="2026-03-16T19:03:15.448" v="1452" actId="948"/>
        <pc:sldMkLst>
          <pc:docMk/>
          <pc:sldMk cId="2116308472" sldId="323"/>
        </pc:sldMkLst>
        <pc:spChg chg="mod">
          <ac:chgData name="Mohammad Shahidullah Chowdhury" userId="faf84d911d157f64" providerId="LiveId" clId="{8D76A4EA-5E1E-47FD-A00E-CA75266C40CF}" dt="2026-03-16T19:03:15.448" v="1452" actId="948"/>
          <ac:spMkLst>
            <pc:docMk/>
            <pc:sldMk cId="2116308472" sldId="323"/>
            <ac:spMk id="3" creationId="{E315FA32-BA56-27CF-2F10-6EA9E0E5B245}"/>
          </ac:spMkLst>
        </pc:spChg>
      </pc:sldChg>
      <pc:sldChg chg="addSp delSp modSp mod">
        <pc:chgData name="Mohammad Shahidullah Chowdhury" userId="faf84d911d157f64" providerId="LiveId" clId="{8D76A4EA-5E1E-47FD-A00E-CA75266C40CF}" dt="2026-03-16T20:09:08.789" v="1732" actId="14100"/>
        <pc:sldMkLst>
          <pc:docMk/>
          <pc:sldMk cId="3128231716" sldId="324"/>
        </pc:sldMkLst>
        <pc:spChg chg="add del mod">
          <ac:chgData name="Mohammad Shahidullah Chowdhury" userId="faf84d911d157f64" providerId="LiveId" clId="{8D76A4EA-5E1E-47FD-A00E-CA75266C40CF}" dt="2026-03-16T20:07:29.298" v="1724" actId="12084"/>
          <ac:spMkLst>
            <pc:docMk/>
            <pc:sldMk cId="3128231716" sldId="324"/>
            <ac:spMk id="3" creationId="{E315FA32-BA56-27CF-2F10-6EA9E0E5B245}"/>
          </ac:spMkLst>
        </pc:spChg>
        <pc:graphicFrameChg chg="add del mod modGraphic">
          <ac:chgData name="Mohammad Shahidullah Chowdhury" userId="faf84d911d157f64" providerId="LiveId" clId="{8D76A4EA-5E1E-47FD-A00E-CA75266C40CF}" dt="2026-03-16T19:15:09.043" v="1474" actId="3680"/>
          <ac:graphicFrameMkLst>
            <pc:docMk/>
            <pc:sldMk cId="3128231716" sldId="324"/>
            <ac:graphicFrameMk id="4" creationId="{68050BB7-B19F-025B-8DC8-F7B8D3BC4AEF}"/>
          </ac:graphicFrameMkLst>
        </pc:graphicFrameChg>
        <pc:graphicFrameChg chg="add mod">
          <ac:chgData name="Mohammad Shahidullah Chowdhury" userId="faf84d911d157f64" providerId="LiveId" clId="{8D76A4EA-5E1E-47FD-A00E-CA75266C40CF}" dt="2026-03-16T19:27:21.385" v="1599" actId="12084"/>
          <ac:graphicFrameMkLst>
            <pc:docMk/>
            <pc:sldMk cId="3128231716" sldId="324"/>
            <ac:graphicFrameMk id="5" creationId="{9897D1E5-8907-6A2A-5424-A9F6733B8327}"/>
          </ac:graphicFrameMkLst>
        </pc:graphicFrameChg>
        <pc:graphicFrameChg chg="add del mod modGraphic">
          <ac:chgData name="Mohammad Shahidullah Chowdhury" userId="faf84d911d157f64" providerId="LiveId" clId="{8D76A4EA-5E1E-47FD-A00E-CA75266C40CF}" dt="2026-03-16T19:58:41.556" v="1672" actId="3680"/>
          <ac:graphicFrameMkLst>
            <pc:docMk/>
            <pc:sldMk cId="3128231716" sldId="324"/>
            <ac:graphicFrameMk id="6" creationId="{880DE452-BC05-E1FB-9319-9FE156031C34}"/>
          </ac:graphicFrameMkLst>
        </pc:graphicFrameChg>
        <pc:graphicFrameChg chg="add del mod modGraphic">
          <ac:chgData name="Mohammad Shahidullah Chowdhury" userId="faf84d911d157f64" providerId="LiveId" clId="{8D76A4EA-5E1E-47FD-A00E-CA75266C40CF}" dt="2026-03-16T19:58:33.468" v="1663" actId="3680"/>
          <ac:graphicFrameMkLst>
            <pc:docMk/>
            <pc:sldMk cId="3128231716" sldId="324"/>
            <ac:graphicFrameMk id="7" creationId="{F6C7C0EC-8B0E-59CB-CC79-EBF184AB2DE0}"/>
          </ac:graphicFrameMkLst>
        </pc:graphicFrameChg>
        <pc:graphicFrameChg chg="add mod modGraphic">
          <ac:chgData name="Mohammad Shahidullah Chowdhury" userId="faf84d911d157f64" providerId="LiveId" clId="{8D76A4EA-5E1E-47FD-A00E-CA75266C40CF}" dt="2026-03-16T20:09:08.789" v="1732" actId="14100"/>
          <ac:graphicFrameMkLst>
            <pc:docMk/>
            <pc:sldMk cId="3128231716" sldId="324"/>
            <ac:graphicFrameMk id="8" creationId="{27223283-86F7-0F2F-50EB-4D3BA0D041AF}"/>
          </ac:graphicFrameMkLst>
        </pc:graphicFrameChg>
        <pc:graphicFrameChg chg="add mod">
          <ac:chgData name="Mohammad Shahidullah Chowdhury" userId="faf84d911d157f64" providerId="LiveId" clId="{8D76A4EA-5E1E-47FD-A00E-CA75266C40CF}" dt="2026-03-16T20:07:29.298" v="1724" actId="12084"/>
          <ac:graphicFrameMkLst>
            <pc:docMk/>
            <pc:sldMk cId="3128231716" sldId="324"/>
            <ac:graphicFrameMk id="9" creationId="{206B22E1-DE39-91AF-2262-1F60BC887268}"/>
          </ac:graphicFrameMkLst>
        </pc:graphicFrameChg>
      </pc:sldChg>
      <pc:sldChg chg="addSp modSp mod">
        <pc:chgData name="Mohammad Shahidullah Chowdhury" userId="faf84d911d157f64" providerId="LiveId" clId="{8D76A4EA-5E1E-47FD-A00E-CA75266C40CF}" dt="2026-03-16T20:36:55.988" v="1805" actId="1076"/>
        <pc:sldMkLst>
          <pc:docMk/>
          <pc:sldMk cId="968187356" sldId="325"/>
        </pc:sldMkLst>
        <pc:spChg chg="mod">
          <ac:chgData name="Mohammad Shahidullah Chowdhury" userId="faf84d911d157f64" providerId="LiveId" clId="{8D76A4EA-5E1E-47FD-A00E-CA75266C40CF}" dt="2026-03-16T20:35:48.688" v="1802" actId="27636"/>
          <ac:spMkLst>
            <pc:docMk/>
            <pc:sldMk cId="968187356" sldId="325"/>
            <ac:spMk id="3" creationId="{E315FA32-BA56-27CF-2F10-6EA9E0E5B245}"/>
          </ac:spMkLst>
        </pc:spChg>
        <pc:graphicFrameChg chg="add mod modGraphic">
          <ac:chgData name="Mohammad Shahidullah Chowdhury" userId="faf84d911d157f64" providerId="LiveId" clId="{8D76A4EA-5E1E-47FD-A00E-CA75266C40CF}" dt="2026-03-16T20:36:55.988" v="1805" actId="1076"/>
          <ac:graphicFrameMkLst>
            <pc:docMk/>
            <pc:sldMk cId="968187356" sldId="325"/>
            <ac:graphicFrameMk id="4" creationId="{115758D1-FFB8-671B-8392-359A446819B9}"/>
          </ac:graphicFrameMkLst>
        </pc:graphicFrameChg>
      </pc:sldChg>
      <pc:sldChg chg="addSp modSp mod">
        <pc:chgData name="Mohammad Shahidullah Chowdhury" userId="faf84d911d157f64" providerId="LiveId" clId="{8D76A4EA-5E1E-47FD-A00E-CA75266C40CF}" dt="2026-03-16T20:49:09.475" v="1835" actId="1076"/>
        <pc:sldMkLst>
          <pc:docMk/>
          <pc:sldMk cId="1952376888" sldId="326"/>
        </pc:sldMkLst>
        <pc:spChg chg="mod">
          <ac:chgData name="Mohammad Shahidullah Chowdhury" userId="faf84d911d157f64" providerId="LiveId" clId="{8D76A4EA-5E1E-47FD-A00E-CA75266C40CF}" dt="2026-03-16T20:47:26.820" v="1830" actId="255"/>
          <ac:spMkLst>
            <pc:docMk/>
            <pc:sldMk cId="1952376888" sldId="326"/>
            <ac:spMk id="3" creationId="{E315FA32-BA56-27CF-2F10-6EA9E0E5B245}"/>
          </ac:spMkLst>
        </pc:spChg>
        <pc:graphicFrameChg chg="add mod modGraphic">
          <ac:chgData name="Mohammad Shahidullah Chowdhury" userId="faf84d911d157f64" providerId="LiveId" clId="{8D76A4EA-5E1E-47FD-A00E-CA75266C40CF}" dt="2026-03-16T20:49:09.475" v="1835" actId="1076"/>
          <ac:graphicFrameMkLst>
            <pc:docMk/>
            <pc:sldMk cId="1952376888" sldId="326"/>
            <ac:graphicFrameMk id="4" creationId="{7BF4D583-6E08-3676-297F-85BC508470CE}"/>
          </ac:graphicFrameMkLst>
        </pc:graphicFrameChg>
      </pc:sldChg>
      <pc:sldChg chg="addSp modSp mod">
        <pc:chgData name="Mohammad Shahidullah Chowdhury" userId="faf84d911d157f64" providerId="LiveId" clId="{8D76A4EA-5E1E-47FD-A00E-CA75266C40CF}" dt="2026-03-17T06:52:16.807" v="1963" actId="12385"/>
        <pc:sldMkLst>
          <pc:docMk/>
          <pc:sldMk cId="2381259570" sldId="329"/>
        </pc:sldMkLst>
        <pc:spChg chg="mod">
          <ac:chgData name="Mohammad Shahidullah Chowdhury" userId="faf84d911d157f64" providerId="LiveId" clId="{8D76A4EA-5E1E-47FD-A00E-CA75266C40CF}" dt="2026-03-17T06:50:53.680" v="1932" actId="255"/>
          <ac:spMkLst>
            <pc:docMk/>
            <pc:sldMk cId="2381259570" sldId="329"/>
            <ac:spMk id="6" creationId="{6E62E306-D7A4-708A-FA48-5667344BECB5}"/>
          </ac:spMkLst>
        </pc:spChg>
        <pc:graphicFrameChg chg="add mod modGraphic">
          <ac:chgData name="Mohammad Shahidullah Chowdhury" userId="faf84d911d157f64" providerId="LiveId" clId="{8D76A4EA-5E1E-47FD-A00E-CA75266C40CF}" dt="2026-03-17T06:52:16.807" v="1963" actId="12385"/>
          <ac:graphicFrameMkLst>
            <pc:docMk/>
            <pc:sldMk cId="2381259570" sldId="329"/>
            <ac:graphicFrameMk id="3" creationId="{DA1DC30A-77E0-7831-3C45-15115B27276C}"/>
          </ac:graphicFrameMkLst>
        </pc:graphicFrameChg>
      </pc:sldChg>
      <pc:sldChg chg="addSp delSp modSp mod modClrScheme chgLayout">
        <pc:chgData name="Mohammad Shahidullah Chowdhury" userId="faf84d911d157f64" providerId="LiveId" clId="{8D76A4EA-5E1E-47FD-A00E-CA75266C40CF}" dt="2026-03-17T07:23:52.444" v="2135" actId="26606"/>
        <pc:sldMkLst>
          <pc:docMk/>
          <pc:sldMk cId="3831829358" sldId="330"/>
        </pc:sldMkLst>
        <pc:spChg chg="mod">
          <ac:chgData name="Mohammad Shahidullah Chowdhury" userId="faf84d911d157f64" providerId="LiveId" clId="{8D76A4EA-5E1E-47FD-A00E-CA75266C40CF}" dt="2026-03-17T07:16:27.355" v="2087" actId="26606"/>
          <ac:spMkLst>
            <pc:docMk/>
            <pc:sldMk cId="3831829358" sldId="330"/>
            <ac:spMk id="2" creationId="{51611730-4C4C-DED6-8CF2-0AA1A1B46819}"/>
          </ac:spMkLst>
        </pc:spChg>
        <pc:spChg chg="mod ord">
          <ac:chgData name="Mohammad Shahidullah Chowdhury" userId="faf84d911d157f64" providerId="LiveId" clId="{8D76A4EA-5E1E-47FD-A00E-CA75266C40CF}" dt="2026-03-17T07:23:52.444" v="2135" actId="26606"/>
          <ac:spMkLst>
            <pc:docMk/>
            <pc:sldMk cId="3831829358" sldId="330"/>
            <ac:spMk id="6" creationId="{6E62E306-D7A4-708A-FA48-5667344BECB5}"/>
          </ac:spMkLst>
        </pc:spChg>
        <pc:picChg chg="add del mod">
          <ac:chgData name="Mohammad Shahidullah Chowdhury" userId="faf84d911d157f64" providerId="LiveId" clId="{8D76A4EA-5E1E-47FD-A00E-CA75266C40CF}" dt="2026-03-17T06:58:16.923" v="1978" actId="931"/>
          <ac:picMkLst>
            <pc:docMk/>
            <pc:sldMk cId="3831829358" sldId="330"/>
            <ac:picMk id="4" creationId="{84E8C87B-7839-1A33-F7C7-692D598428E0}"/>
          </ac:picMkLst>
        </pc:picChg>
        <pc:picChg chg="add mod ord">
          <ac:chgData name="Mohammad Shahidullah Chowdhury" userId="faf84d911d157f64" providerId="LiveId" clId="{8D76A4EA-5E1E-47FD-A00E-CA75266C40CF}" dt="2026-03-17T07:23:52.444" v="2135" actId="26606"/>
          <ac:picMkLst>
            <pc:docMk/>
            <pc:sldMk cId="3831829358" sldId="330"/>
            <ac:picMk id="7" creationId="{E04B51C9-AF94-95CB-6623-4FDBAE86DCF4}"/>
          </ac:picMkLst>
        </pc:picChg>
      </pc:sldChg>
      <pc:sldChg chg="addSp modSp mod modClrScheme chgLayout">
        <pc:chgData name="Mohammad Shahidullah Chowdhury" userId="faf84d911d157f64" providerId="LiveId" clId="{8D76A4EA-5E1E-47FD-A00E-CA75266C40CF}" dt="2026-03-17T07:21:17.534" v="2116" actId="26606"/>
        <pc:sldMkLst>
          <pc:docMk/>
          <pc:sldMk cId="2855793214" sldId="331"/>
        </pc:sldMkLst>
        <pc:spChg chg="mod">
          <ac:chgData name="Mohammad Shahidullah Chowdhury" userId="faf84d911d157f64" providerId="LiveId" clId="{8D76A4EA-5E1E-47FD-A00E-CA75266C40CF}" dt="2026-03-17T07:20:25.509" v="2115" actId="26606"/>
          <ac:spMkLst>
            <pc:docMk/>
            <pc:sldMk cId="2855793214" sldId="331"/>
            <ac:spMk id="2" creationId="{51611730-4C4C-DED6-8CF2-0AA1A1B46819}"/>
          </ac:spMkLst>
        </pc:spChg>
        <pc:spChg chg="mod ord">
          <ac:chgData name="Mohammad Shahidullah Chowdhury" userId="faf84d911d157f64" providerId="LiveId" clId="{8D76A4EA-5E1E-47FD-A00E-CA75266C40CF}" dt="2026-03-17T07:21:17.534" v="2116" actId="26606"/>
          <ac:spMkLst>
            <pc:docMk/>
            <pc:sldMk cId="2855793214" sldId="331"/>
            <ac:spMk id="6" creationId="{6E62E306-D7A4-708A-FA48-5667344BECB5}"/>
          </ac:spMkLst>
        </pc:spChg>
        <pc:picChg chg="add mod">
          <ac:chgData name="Mohammad Shahidullah Chowdhury" userId="faf84d911d157f64" providerId="LiveId" clId="{8D76A4EA-5E1E-47FD-A00E-CA75266C40CF}" dt="2026-03-17T07:21:17.534" v="2116" actId="26606"/>
          <ac:picMkLst>
            <pc:docMk/>
            <pc:sldMk cId="2855793214" sldId="331"/>
            <ac:picMk id="4" creationId="{EE84D575-6CC7-C4D2-A317-F46F75367D76}"/>
          </ac:picMkLst>
        </pc:picChg>
      </pc:sldChg>
      <pc:sldChg chg="addSp modSp mod modClrScheme chgLayout">
        <pc:chgData name="Mohammad Shahidullah Chowdhury" userId="faf84d911d157f64" providerId="LiveId" clId="{8D76A4EA-5E1E-47FD-A00E-CA75266C40CF}" dt="2026-03-17T08:18:34.905" v="2156" actId="26606"/>
        <pc:sldMkLst>
          <pc:docMk/>
          <pc:sldMk cId="3306712291" sldId="332"/>
        </pc:sldMkLst>
        <pc:spChg chg="mod">
          <ac:chgData name="Mohammad Shahidullah Chowdhury" userId="faf84d911d157f64" providerId="LiveId" clId="{8D76A4EA-5E1E-47FD-A00E-CA75266C40CF}" dt="2026-03-17T08:18:34.905" v="2156" actId="26606"/>
          <ac:spMkLst>
            <pc:docMk/>
            <pc:sldMk cId="3306712291" sldId="332"/>
            <ac:spMk id="2" creationId="{51611730-4C4C-DED6-8CF2-0AA1A1B46819}"/>
          </ac:spMkLst>
        </pc:spChg>
        <pc:spChg chg="mod ord">
          <ac:chgData name="Mohammad Shahidullah Chowdhury" userId="faf84d911d157f64" providerId="LiveId" clId="{8D76A4EA-5E1E-47FD-A00E-CA75266C40CF}" dt="2026-03-17T08:18:34.905" v="2156" actId="26606"/>
          <ac:spMkLst>
            <pc:docMk/>
            <pc:sldMk cId="3306712291" sldId="332"/>
            <ac:spMk id="6" creationId="{6E62E306-D7A4-708A-FA48-5667344BECB5}"/>
          </ac:spMkLst>
        </pc:spChg>
        <pc:picChg chg="add mod">
          <ac:chgData name="Mohammad Shahidullah Chowdhury" userId="faf84d911d157f64" providerId="LiveId" clId="{8D76A4EA-5E1E-47FD-A00E-CA75266C40CF}" dt="2026-03-17T08:18:34.905" v="2156" actId="26606"/>
          <ac:picMkLst>
            <pc:docMk/>
            <pc:sldMk cId="3306712291" sldId="332"/>
            <ac:picMk id="4" creationId="{823FEDE9-F6BE-89C9-AAC3-442DDB0AA469}"/>
          </ac:picMkLst>
        </pc:picChg>
      </pc:sldChg>
      <pc:sldChg chg="addSp modSp mod modClrScheme chgLayout">
        <pc:chgData name="Mohammad Shahidullah Chowdhury" userId="faf84d911d157f64" providerId="LiveId" clId="{8D76A4EA-5E1E-47FD-A00E-CA75266C40CF}" dt="2026-03-17T08:42:01.193" v="2201" actId="26606"/>
        <pc:sldMkLst>
          <pc:docMk/>
          <pc:sldMk cId="3997815046" sldId="333"/>
        </pc:sldMkLst>
        <pc:spChg chg="mod">
          <ac:chgData name="Mohammad Shahidullah Chowdhury" userId="faf84d911d157f64" providerId="LiveId" clId="{8D76A4EA-5E1E-47FD-A00E-CA75266C40CF}" dt="2026-03-17T08:42:01.193" v="2201" actId="26606"/>
          <ac:spMkLst>
            <pc:docMk/>
            <pc:sldMk cId="3997815046" sldId="333"/>
            <ac:spMk id="2" creationId="{51611730-4C4C-DED6-8CF2-0AA1A1B46819}"/>
          </ac:spMkLst>
        </pc:spChg>
        <pc:spChg chg="mod ord">
          <ac:chgData name="Mohammad Shahidullah Chowdhury" userId="faf84d911d157f64" providerId="LiveId" clId="{8D76A4EA-5E1E-47FD-A00E-CA75266C40CF}" dt="2026-03-17T08:42:01.193" v="2201" actId="26606"/>
          <ac:spMkLst>
            <pc:docMk/>
            <pc:sldMk cId="3997815046" sldId="333"/>
            <ac:spMk id="6" creationId="{6E62E306-D7A4-708A-FA48-5667344BECB5}"/>
          </ac:spMkLst>
        </pc:spChg>
        <pc:picChg chg="add mod">
          <ac:chgData name="Mohammad Shahidullah Chowdhury" userId="faf84d911d157f64" providerId="LiveId" clId="{8D76A4EA-5E1E-47FD-A00E-CA75266C40CF}" dt="2026-03-17T08:42:01.193" v="2201" actId="26606"/>
          <ac:picMkLst>
            <pc:docMk/>
            <pc:sldMk cId="3997815046" sldId="333"/>
            <ac:picMk id="4" creationId="{0BC941AC-3E06-E944-FC47-2EF747407FCF}"/>
          </ac:picMkLst>
        </pc:picChg>
      </pc:sldChg>
      <pc:sldChg chg="addSp modSp mod modClrScheme chgLayout">
        <pc:chgData name="Mohammad Shahidullah Chowdhury" userId="faf84d911d157f64" providerId="LiveId" clId="{8D76A4EA-5E1E-47FD-A00E-CA75266C40CF}" dt="2026-03-17T09:27:07.836" v="2366" actId="26606"/>
        <pc:sldMkLst>
          <pc:docMk/>
          <pc:sldMk cId="3611809842" sldId="334"/>
        </pc:sldMkLst>
        <pc:spChg chg="mod">
          <ac:chgData name="Mohammad Shahidullah Chowdhury" userId="faf84d911d157f64" providerId="LiveId" clId="{8D76A4EA-5E1E-47FD-A00E-CA75266C40CF}" dt="2026-03-17T09:27:07.836" v="2366" actId="26606"/>
          <ac:spMkLst>
            <pc:docMk/>
            <pc:sldMk cId="3611809842" sldId="334"/>
            <ac:spMk id="2" creationId="{62E82733-EB4F-7585-AC93-D22460A317C3}"/>
          </ac:spMkLst>
        </pc:spChg>
        <pc:spChg chg="mod ord">
          <ac:chgData name="Mohammad Shahidullah Chowdhury" userId="faf84d911d157f64" providerId="LiveId" clId="{8D76A4EA-5E1E-47FD-A00E-CA75266C40CF}" dt="2026-03-17T09:27:07.836" v="2366" actId="26606"/>
          <ac:spMkLst>
            <pc:docMk/>
            <pc:sldMk cId="3611809842" sldId="334"/>
            <ac:spMk id="6" creationId="{2D40017C-47B7-EC98-13E8-B9FBD19881AB}"/>
          </ac:spMkLst>
        </pc:spChg>
        <pc:picChg chg="add mod">
          <ac:chgData name="Mohammad Shahidullah Chowdhury" userId="faf84d911d157f64" providerId="LiveId" clId="{8D76A4EA-5E1E-47FD-A00E-CA75266C40CF}" dt="2026-03-17T09:27:07.836" v="2366" actId="26606"/>
          <ac:picMkLst>
            <pc:docMk/>
            <pc:sldMk cId="3611809842" sldId="334"/>
            <ac:picMk id="4" creationId="{DA3B0964-8816-D95E-1C9D-942137A5BE86}"/>
          </ac:picMkLst>
        </pc:picChg>
      </pc:sldChg>
      <pc:sldChg chg="addSp delSp modSp mod modClrScheme chgLayout">
        <pc:chgData name="Mohammad Shahidullah Chowdhury" userId="faf84d911d157f64" providerId="LiveId" clId="{8D76A4EA-5E1E-47FD-A00E-CA75266C40CF}" dt="2026-03-17T09:32:18.359" v="2390" actId="26606"/>
        <pc:sldMkLst>
          <pc:docMk/>
          <pc:sldMk cId="322177936" sldId="335"/>
        </pc:sldMkLst>
        <pc:spChg chg="mod">
          <ac:chgData name="Mohammad Shahidullah Chowdhury" userId="faf84d911d157f64" providerId="LiveId" clId="{8D76A4EA-5E1E-47FD-A00E-CA75266C40CF}" dt="2026-03-17T09:32:18.359" v="2390" actId="26606"/>
          <ac:spMkLst>
            <pc:docMk/>
            <pc:sldMk cId="322177936" sldId="335"/>
            <ac:spMk id="2" creationId="{62E82733-EB4F-7585-AC93-D22460A317C3}"/>
          </ac:spMkLst>
        </pc:spChg>
        <pc:spChg chg="mod ord">
          <ac:chgData name="Mohammad Shahidullah Chowdhury" userId="faf84d911d157f64" providerId="LiveId" clId="{8D76A4EA-5E1E-47FD-A00E-CA75266C40CF}" dt="2026-03-17T09:32:18.359" v="2390" actId="26606"/>
          <ac:spMkLst>
            <pc:docMk/>
            <pc:sldMk cId="322177936" sldId="335"/>
            <ac:spMk id="6" creationId="{2D40017C-47B7-EC98-13E8-B9FBD19881AB}"/>
          </ac:spMkLst>
        </pc:spChg>
        <pc:picChg chg="add del mod">
          <ac:chgData name="Mohammad Shahidullah Chowdhury" userId="faf84d911d157f64" providerId="LiveId" clId="{8D76A4EA-5E1E-47FD-A00E-CA75266C40CF}" dt="2026-03-17T09:31:37.413" v="2385" actId="931"/>
          <ac:picMkLst>
            <pc:docMk/>
            <pc:sldMk cId="322177936" sldId="335"/>
            <ac:picMk id="4" creationId="{8864243B-8D55-6AD9-59CB-53C96FC9DF55}"/>
          </ac:picMkLst>
        </pc:picChg>
        <pc:picChg chg="add del mod">
          <ac:chgData name="Mohammad Shahidullah Chowdhury" userId="faf84d911d157f64" providerId="LiveId" clId="{8D76A4EA-5E1E-47FD-A00E-CA75266C40CF}" dt="2026-03-17T09:31:35.366" v="2384" actId="931"/>
          <ac:picMkLst>
            <pc:docMk/>
            <pc:sldMk cId="322177936" sldId="335"/>
            <ac:picMk id="7" creationId="{32DD6A36-D9F8-DE97-A7F0-AA03D76B92D4}"/>
          </ac:picMkLst>
        </pc:picChg>
        <pc:picChg chg="add mod">
          <ac:chgData name="Mohammad Shahidullah Chowdhury" userId="faf84d911d157f64" providerId="LiveId" clId="{8D76A4EA-5E1E-47FD-A00E-CA75266C40CF}" dt="2026-03-17T09:32:18.359" v="2390" actId="26606"/>
          <ac:picMkLst>
            <pc:docMk/>
            <pc:sldMk cId="322177936" sldId="335"/>
            <ac:picMk id="9" creationId="{D20991AB-5963-0C9D-67C1-5A25728A397F}"/>
          </ac:picMkLst>
        </pc:picChg>
      </pc:sldChg>
      <pc:sldChg chg="modSp mod">
        <pc:chgData name="Mohammad Shahidullah Chowdhury" userId="faf84d911d157f64" providerId="LiveId" clId="{8D76A4EA-5E1E-47FD-A00E-CA75266C40CF}" dt="2026-03-17T10:36:23.086" v="2667" actId="20577"/>
        <pc:sldMkLst>
          <pc:docMk/>
          <pc:sldMk cId="3682156066" sldId="337"/>
        </pc:sldMkLst>
        <pc:spChg chg="mod">
          <ac:chgData name="Mohammad Shahidullah Chowdhury" userId="faf84d911d157f64" providerId="LiveId" clId="{8D76A4EA-5E1E-47FD-A00E-CA75266C40CF}" dt="2026-03-17T10:36:23.086" v="2667" actId="20577"/>
          <ac:spMkLst>
            <pc:docMk/>
            <pc:sldMk cId="3682156066" sldId="337"/>
            <ac:spMk id="2" creationId="{51611730-4C4C-DED6-8CF2-0AA1A1B46819}"/>
          </ac:spMkLst>
        </pc:spChg>
        <pc:spChg chg="mod">
          <ac:chgData name="Mohammad Shahidullah Chowdhury" userId="faf84d911d157f64" providerId="LiveId" clId="{8D76A4EA-5E1E-47FD-A00E-CA75266C40CF}" dt="2026-03-17T10:35:00.814" v="2627" actId="20577"/>
          <ac:spMkLst>
            <pc:docMk/>
            <pc:sldMk cId="3682156066" sldId="337"/>
            <ac:spMk id="3" creationId="{951DF861-C031-409A-1FD9-FAC239C53F78}"/>
          </ac:spMkLst>
        </pc:spChg>
      </pc:sldChg>
      <pc:sldChg chg="modSp mod">
        <pc:chgData name="Mohammad Shahidullah Chowdhury" userId="faf84d911d157f64" providerId="LiveId" clId="{8D76A4EA-5E1E-47FD-A00E-CA75266C40CF}" dt="2026-03-17T10:43:55.608" v="2724" actId="20577"/>
        <pc:sldMkLst>
          <pc:docMk/>
          <pc:sldMk cId="2747442401" sldId="338"/>
        </pc:sldMkLst>
        <pc:spChg chg="mod">
          <ac:chgData name="Mohammad Shahidullah Chowdhury" userId="faf84d911d157f64" providerId="LiveId" clId="{8D76A4EA-5E1E-47FD-A00E-CA75266C40CF}" dt="2026-03-17T10:43:55.608" v="2724" actId="20577"/>
          <ac:spMkLst>
            <pc:docMk/>
            <pc:sldMk cId="2747442401" sldId="338"/>
            <ac:spMk id="2" creationId="{51611730-4C4C-DED6-8CF2-0AA1A1B46819}"/>
          </ac:spMkLst>
        </pc:spChg>
        <pc:spChg chg="mod">
          <ac:chgData name="Mohammad Shahidullah Chowdhury" userId="faf84d911d157f64" providerId="LiveId" clId="{8D76A4EA-5E1E-47FD-A00E-CA75266C40CF}" dt="2026-03-17T10:42:49.502" v="2701" actId="27636"/>
          <ac:spMkLst>
            <pc:docMk/>
            <pc:sldMk cId="2747442401" sldId="338"/>
            <ac:spMk id="3" creationId="{951DF861-C031-409A-1FD9-FAC239C53F78}"/>
          </ac:spMkLst>
        </pc:spChg>
      </pc:sldChg>
      <pc:sldChg chg="modSp add mod">
        <pc:chgData name="Mohammad Shahidullah Chowdhury" userId="faf84d911d157f64" providerId="LiveId" clId="{8D76A4EA-5E1E-47FD-A00E-CA75266C40CF}" dt="2026-03-16T17:21:56.930" v="1292" actId="20577"/>
        <pc:sldMkLst>
          <pc:docMk/>
          <pc:sldMk cId="3967412851" sldId="340"/>
        </pc:sldMkLst>
        <pc:spChg chg="mod">
          <ac:chgData name="Mohammad Shahidullah Chowdhury" userId="faf84d911d157f64" providerId="LiveId" clId="{8D76A4EA-5E1E-47FD-A00E-CA75266C40CF}" dt="2026-03-16T17:21:56.930" v="1292" actId="20577"/>
          <ac:spMkLst>
            <pc:docMk/>
            <pc:sldMk cId="3967412851" sldId="340"/>
            <ac:spMk id="2" creationId="{3A0F41BE-0228-3E59-EC78-84E359B45D8D}"/>
          </ac:spMkLst>
        </pc:spChg>
        <pc:spChg chg="mod">
          <ac:chgData name="Mohammad Shahidullah Chowdhury" userId="faf84d911d157f64" providerId="LiveId" clId="{8D76A4EA-5E1E-47FD-A00E-CA75266C40CF}" dt="2026-03-16T17:17:02.638" v="1278" actId="27636"/>
          <ac:spMkLst>
            <pc:docMk/>
            <pc:sldMk cId="3967412851" sldId="340"/>
            <ac:spMk id="3" creationId="{71BDF6F3-FD00-F398-C0E3-B722D23ABC13}"/>
          </ac:spMkLst>
        </pc:spChg>
      </pc:sldChg>
      <pc:sldChg chg="modSp add mod">
        <pc:chgData name="Mohammad Shahidullah Chowdhury" userId="faf84d911d157f64" providerId="LiveId" clId="{8D76A4EA-5E1E-47FD-A00E-CA75266C40CF}" dt="2026-03-16T17:22:13.174" v="1296" actId="20577"/>
        <pc:sldMkLst>
          <pc:docMk/>
          <pc:sldMk cId="4206463572" sldId="341"/>
        </pc:sldMkLst>
        <pc:spChg chg="mod">
          <ac:chgData name="Mohammad Shahidullah Chowdhury" userId="faf84d911d157f64" providerId="LiveId" clId="{8D76A4EA-5E1E-47FD-A00E-CA75266C40CF}" dt="2026-03-16T17:22:13.174" v="1296" actId="20577"/>
          <ac:spMkLst>
            <pc:docMk/>
            <pc:sldMk cId="4206463572" sldId="341"/>
            <ac:spMk id="2" creationId="{6293DDB5-C67C-ED51-4575-1F704D06BFEC}"/>
          </ac:spMkLst>
        </pc:spChg>
        <pc:spChg chg="mod">
          <ac:chgData name="Mohammad Shahidullah Chowdhury" userId="faf84d911d157f64" providerId="LiveId" clId="{8D76A4EA-5E1E-47FD-A00E-CA75266C40CF}" dt="2026-03-16T17:18:02.626" v="1280" actId="27636"/>
          <ac:spMkLst>
            <pc:docMk/>
            <pc:sldMk cId="4206463572" sldId="341"/>
            <ac:spMk id="3" creationId="{DA7570CE-70C1-9452-4D87-4D1961267E8C}"/>
          </ac:spMkLst>
        </pc:spChg>
      </pc:sldChg>
      <pc:sldChg chg="modSp add mod">
        <pc:chgData name="Mohammad Shahidullah Chowdhury" userId="faf84d911d157f64" providerId="LiveId" clId="{8D76A4EA-5E1E-47FD-A00E-CA75266C40CF}" dt="2026-03-16T17:30:46.206" v="1333" actId="255"/>
        <pc:sldMkLst>
          <pc:docMk/>
          <pc:sldMk cId="3507888575" sldId="342"/>
        </pc:sldMkLst>
        <pc:spChg chg="mod">
          <ac:chgData name="Mohammad Shahidullah Chowdhury" userId="faf84d911d157f64" providerId="LiveId" clId="{8D76A4EA-5E1E-47FD-A00E-CA75266C40CF}" dt="2026-03-16T17:21:19.440" v="1284" actId="20577"/>
          <ac:spMkLst>
            <pc:docMk/>
            <pc:sldMk cId="3507888575" sldId="342"/>
            <ac:spMk id="2" creationId="{BED142A5-892A-4D20-F05A-72C228C72D96}"/>
          </ac:spMkLst>
        </pc:spChg>
        <pc:spChg chg="mod">
          <ac:chgData name="Mohammad Shahidullah Chowdhury" userId="faf84d911d157f64" providerId="LiveId" clId="{8D76A4EA-5E1E-47FD-A00E-CA75266C40CF}" dt="2026-03-16T17:30:46.206" v="1333" actId="255"/>
          <ac:spMkLst>
            <pc:docMk/>
            <pc:sldMk cId="3507888575" sldId="342"/>
            <ac:spMk id="3" creationId="{C00471F0-5B6D-42DA-3F50-9CC8C6B15868}"/>
          </ac:spMkLst>
        </pc:spChg>
      </pc:sldChg>
      <pc:sldChg chg="modSp add mod">
        <pc:chgData name="Mohammad Shahidullah Chowdhury" userId="faf84d911d157f64" providerId="LiveId" clId="{8D76A4EA-5E1E-47FD-A00E-CA75266C40CF}" dt="2026-03-16T18:41:44.762" v="1411" actId="14"/>
        <pc:sldMkLst>
          <pc:docMk/>
          <pc:sldMk cId="3104904899" sldId="343"/>
        </pc:sldMkLst>
        <pc:spChg chg="mod">
          <ac:chgData name="Mohammad Shahidullah Chowdhury" userId="faf84d911d157f64" providerId="LiveId" clId="{8D76A4EA-5E1E-47FD-A00E-CA75266C40CF}" dt="2026-03-16T18:30:07.142" v="1360" actId="20577"/>
          <ac:spMkLst>
            <pc:docMk/>
            <pc:sldMk cId="3104904899" sldId="343"/>
            <ac:spMk id="2" creationId="{35261ED4-9171-0578-E947-8A1C29CE10EB}"/>
          </ac:spMkLst>
        </pc:spChg>
        <pc:spChg chg="mod">
          <ac:chgData name="Mohammad Shahidullah Chowdhury" userId="faf84d911d157f64" providerId="LiveId" clId="{8D76A4EA-5E1E-47FD-A00E-CA75266C40CF}" dt="2026-03-16T18:41:44.762" v="1411" actId="14"/>
          <ac:spMkLst>
            <pc:docMk/>
            <pc:sldMk cId="3104904899" sldId="343"/>
            <ac:spMk id="3" creationId="{6E04DCF3-B96E-C85E-01EA-8F38FDC79EDB}"/>
          </ac:spMkLst>
        </pc:spChg>
      </pc:sldChg>
      <pc:sldChg chg="modSp add mod">
        <pc:chgData name="Mohammad Shahidullah Chowdhury" userId="faf84d911d157f64" providerId="LiveId" clId="{8D76A4EA-5E1E-47FD-A00E-CA75266C40CF}" dt="2026-03-16T18:41:02.366" v="1408" actId="27636"/>
        <pc:sldMkLst>
          <pc:docMk/>
          <pc:sldMk cId="2673802724" sldId="344"/>
        </pc:sldMkLst>
        <pc:spChg chg="mod">
          <ac:chgData name="Mohammad Shahidullah Chowdhury" userId="faf84d911d157f64" providerId="LiveId" clId="{8D76A4EA-5E1E-47FD-A00E-CA75266C40CF}" dt="2026-03-16T18:30:32.550" v="1367" actId="20577"/>
          <ac:spMkLst>
            <pc:docMk/>
            <pc:sldMk cId="2673802724" sldId="344"/>
            <ac:spMk id="2" creationId="{7B89415D-593B-61FB-7D00-E1C0ABE8E660}"/>
          </ac:spMkLst>
        </pc:spChg>
        <pc:spChg chg="mod">
          <ac:chgData name="Mohammad Shahidullah Chowdhury" userId="faf84d911d157f64" providerId="LiveId" clId="{8D76A4EA-5E1E-47FD-A00E-CA75266C40CF}" dt="2026-03-16T18:41:02.366" v="1408" actId="27636"/>
          <ac:spMkLst>
            <pc:docMk/>
            <pc:sldMk cId="2673802724" sldId="344"/>
            <ac:spMk id="3" creationId="{06EF97CB-2B32-7563-B37C-FDB68701B6EF}"/>
          </ac:spMkLst>
        </pc:spChg>
      </pc:sldChg>
      <pc:sldChg chg="modSp add mod">
        <pc:chgData name="Mohammad Shahidullah Chowdhury" userId="faf84d911d157f64" providerId="LiveId" clId="{8D76A4EA-5E1E-47FD-A00E-CA75266C40CF}" dt="2026-03-17T10:36:14.602" v="2663" actId="20577"/>
        <pc:sldMkLst>
          <pc:docMk/>
          <pc:sldMk cId="3674765463" sldId="345"/>
        </pc:sldMkLst>
        <pc:spChg chg="mod">
          <ac:chgData name="Mohammad Shahidullah Chowdhury" userId="faf84d911d157f64" providerId="LiveId" clId="{8D76A4EA-5E1E-47FD-A00E-CA75266C40CF}" dt="2026-03-17T10:36:14.602" v="2663" actId="20577"/>
          <ac:spMkLst>
            <pc:docMk/>
            <pc:sldMk cId="3674765463" sldId="345"/>
            <ac:spMk id="2" creationId="{B7E34C4C-3F75-5696-6217-B23FA1932C50}"/>
          </ac:spMkLst>
        </pc:spChg>
        <pc:spChg chg="mod">
          <ac:chgData name="Mohammad Shahidullah Chowdhury" userId="faf84d911d157f64" providerId="LiveId" clId="{8D76A4EA-5E1E-47FD-A00E-CA75266C40CF}" dt="2026-03-17T10:34:38.248" v="2594" actId="20577"/>
          <ac:spMkLst>
            <pc:docMk/>
            <pc:sldMk cId="3674765463" sldId="345"/>
            <ac:spMk id="3" creationId="{A28AA044-1AB5-5D5D-A682-2B8A2E5254E7}"/>
          </ac:spMkLst>
        </pc:spChg>
      </pc:sldChg>
      <pc:sldChg chg="modSp add mod">
        <pc:chgData name="Mohammad Shahidullah Chowdhury" userId="faf84d911d157f64" providerId="LiveId" clId="{8D76A4EA-5E1E-47FD-A00E-CA75266C40CF}" dt="2026-03-17T10:36:02.313" v="2658" actId="20577"/>
        <pc:sldMkLst>
          <pc:docMk/>
          <pc:sldMk cId="1668743100" sldId="346"/>
        </pc:sldMkLst>
        <pc:spChg chg="mod">
          <ac:chgData name="Mohammad Shahidullah Chowdhury" userId="faf84d911d157f64" providerId="LiveId" clId="{8D76A4EA-5E1E-47FD-A00E-CA75266C40CF}" dt="2026-03-17T10:36:02.313" v="2658" actId="20577"/>
          <ac:spMkLst>
            <pc:docMk/>
            <pc:sldMk cId="1668743100" sldId="346"/>
            <ac:spMk id="2" creationId="{5C8E0614-020C-5CB6-1762-A6B9C7389E4B}"/>
          </ac:spMkLst>
        </pc:spChg>
        <pc:spChg chg="mod">
          <ac:chgData name="Mohammad Shahidullah Chowdhury" userId="faf84d911d157f64" providerId="LiveId" clId="{8D76A4EA-5E1E-47FD-A00E-CA75266C40CF}" dt="2026-03-17T10:35:31.470" v="2653" actId="20577"/>
          <ac:spMkLst>
            <pc:docMk/>
            <pc:sldMk cId="1668743100" sldId="346"/>
            <ac:spMk id="3" creationId="{AE0DFAD2-E232-FE53-B214-5F80108BD9FD}"/>
          </ac:spMkLst>
        </pc:spChg>
      </pc:sldChg>
      <pc:sldChg chg="modSp add mod">
        <pc:chgData name="Mohammad Shahidullah Chowdhury" userId="faf84d911d157f64" providerId="LiveId" clId="{8D76A4EA-5E1E-47FD-A00E-CA75266C40CF}" dt="2026-03-17T10:44:08.364" v="2729" actId="20577"/>
        <pc:sldMkLst>
          <pc:docMk/>
          <pc:sldMk cId="1736009748" sldId="347"/>
        </pc:sldMkLst>
        <pc:spChg chg="mod">
          <ac:chgData name="Mohammad Shahidullah Chowdhury" userId="faf84d911d157f64" providerId="LiveId" clId="{8D76A4EA-5E1E-47FD-A00E-CA75266C40CF}" dt="2026-03-17T10:44:08.364" v="2729" actId="20577"/>
          <ac:spMkLst>
            <pc:docMk/>
            <pc:sldMk cId="1736009748" sldId="347"/>
            <ac:spMk id="2" creationId="{DC66B140-A6FE-9DD9-DC0E-6F39A9735A15}"/>
          </ac:spMkLst>
        </pc:spChg>
        <pc:spChg chg="mod">
          <ac:chgData name="Mohammad Shahidullah Chowdhury" userId="faf84d911d157f64" providerId="LiveId" clId="{8D76A4EA-5E1E-47FD-A00E-CA75266C40CF}" dt="2026-03-17T10:43:43.507" v="2720" actId="27636"/>
          <ac:spMkLst>
            <pc:docMk/>
            <pc:sldMk cId="1736009748" sldId="347"/>
            <ac:spMk id="3" creationId="{075FAAB2-BDB2-88D8-B5D5-283C263CAF1C}"/>
          </ac:spMkLst>
        </pc:spChg>
      </pc:sldChg>
      <pc:sldChg chg="modSp add mod">
        <pc:chgData name="Mohammad Shahidullah Chowdhury" userId="faf84d911d157f64" providerId="LiveId" clId="{8D76A4EA-5E1E-47FD-A00E-CA75266C40CF}" dt="2026-03-17T13:12:31.863" v="3843" actId="948"/>
        <pc:sldMkLst>
          <pc:docMk/>
          <pc:sldMk cId="1945580848" sldId="348"/>
        </pc:sldMkLst>
        <pc:spChg chg="mod">
          <ac:chgData name="Mohammad Shahidullah Chowdhury" userId="faf84d911d157f64" providerId="LiveId" clId="{8D76A4EA-5E1E-47FD-A00E-CA75266C40CF}" dt="2026-03-17T11:48:46.776" v="3808" actId="20577"/>
          <ac:spMkLst>
            <pc:docMk/>
            <pc:sldMk cId="1945580848" sldId="348"/>
            <ac:spMk id="4" creationId="{8F89AF16-A7DD-EE35-AA7F-D984A4215616}"/>
          </ac:spMkLst>
        </pc:spChg>
        <pc:spChg chg="mod">
          <ac:chgData name="Mohammad Shahidullah Chowdhury" userId="faf84d911d157f64" providerId="LiveId" clId="{8D76A4EA-5E1E-47FD-A00E-CA75266C40CF}" dt="2026-03-17T13:12:31.863" v="3843" actId="948"/>
          <ac:spMkLst>
            <pc:docMk/>
            <pc:sldMk cId="1945580848" sldId="348"/>
            <ac:spMk id="5" creationId="{2C39E737-E6A8-4D64-11B3-BCED813A1A24}"/>
          </ac:spMkLst>
        </pc:spChg>
      </pc:sldChg>
      <pc:sldChg chg="modSp add mod">
        <pc:chgData name="Mohammad Shahidullah Chowdhury" userId="faf84d911d157f64" providerId="LiveId" clId="{8D76A4EA-5E1E-47FD-A00E-CA75266C40CF}" dt="2026-03-17T13:10:26.431" v="3839" actId="255"/>
        <pc:sldMkLst>
          <pc:docMk/>
          <pc:sldMk cId="2005926100" sldId="349"/>
        </pc:sldMkLst>
        <pc:spChg chg="mod">
          <ac:chgData name="Mohammad Shahidullah Chowdhury" userId="faf84d911d157f64" providerId="LiveId" clId="{8D76A4EA-5E1E-47FD-A00E-CA75266C40CF}" dt="2026-03-17T11:48:55.594" v="3814" actId="20577"/>
          <ac:spMkLst>
            <pc:docMk/>
            <pc:sldMk cId="2005926100" sldId="349"/>
            <ac:spMk id="4" creationId="{91AC416F-7AEE-4C91-EA94-77DE42E74102}"/>
          </ac:spMkLst>
        </pc:spChg>
        <pc:spChg chg="mod">
          <ac:chgData name="Mohammad Shahidullah Chowdhury" userId="faf84d911d157f64" providerId="LiveId" clId="{8D76A4EA-5E1E-47FD-A00E-CA75266C40CF}" dt="2026-03-17T13:10:26.431" v="3839" actId="255"/>
          <ac:spMkLst>
            <pc:docMk/>
            <pc:sldMk cId="2005926100" sldId="349"/>
            <ac:spMk id="5" creationId="{3F17D740-2047-DBF8-7208-3BAA6C309CD8}"/>
          </ac:spMkLst>
        </pc:spChg>
      </pc:sldChg>
      <pc:sldChg chg="modSp add mod">
        <pc:chgData name="Mohammad Shahidullah Chowdhury" userId="faf84d911d157f64" providerId="LiveId" clId="{8D76A4EA-5E1E-47FD-A00E-CA75266C40CF}" dt="2026-03-17T13:56:14.523" v="3947" actId="20577"/>
        <pc:sldMkLst>
          <pc:docMk/>
          <pc:sldMk cId="618990585" sldId="350"/>
        </pc:sldMkLst>
        <pc:spChg chg="mod">
          <ac:chgData name="Mohammad Shahidullah Chowdhury" userId="faf84d911d157f64" providerId="LiveId" clId="{8D76A4EA-5E1E-47FD-A00E-CA75266C40CF}" dt="2026-03-17T13:56:14.523" v="3947" actId="20577"/>
          <ac:spMkLst>
            <pc:docMk/>
            <pc:sldMk cId="618990585" sldId="350"/>
            <ac:spMk id="5" creationId="{039F0E12-F512-0BEC-FC81-BA00FF98C53E}"/>
          </ac:spMkLst>
        </pc:spChg>
      </pc:sldChg>
      <pc:sldChg chg="add del">
        <pc:chgData name="Mohammad Shahidullah Chowdhury" userId="faf84d911d157f64" providerId="LiveId" clId="{8D76A4EA-5E1E-47FD-A00E-CA75266C40CF}" dt="2026-03-17T13:26:20.776" v="3845" actId="2890"/>
        <pc:sldMkLst>
          <pc:docMk/>
          <pc:sldMk cId="3635189578" sldId="350"/>
        </pc:sldMkLst>
      </pc:sldChg>
      <pc:sldChg chg="addSp delSp modSp add mod modClrScheme chgLayout">
        <pc:chgData name="Mohammad Shahidullah Chowdhury" userId="faf84d911d157f64" providerId="LiveId" clId="{8D76A4EA-5E1E-47FD-A00E-CA75266C40CF}" dt="2026-03-17T13:30:38.414" v="3872" actId="14100"/>
        <pc:sldMkLst>
          <pc:docMk/>
          <pc:sldMk cId="1698107608" sldId="351"/>
        </pc:sldMkLst>
        <pc:spChg chg="mod">
          <ac:chgData name="Mohammad Shahidullah Chowdhury" userId="faf84d911d157f64" providerId="LiveId" clId="{8D76A4EA-5E1E-47FD-A00E-CA75266C40CF}" dt="2026-03-17T13:29:52.544" v="3869" actId="26606"/>
          <ac:spMkLst>
            <pc:docMk/>
            <pc:sldMk cId="1698107608" sldId="351"/>
            <ac:spMk id="4" creationId="{C2C5A6D1-E7B0-6649-0B90-ED3B5C5B906A}"/>
          </ac:spMkLst>
        </pc:spChg>
        <pc:spChg chg="mod ord">
          <ac:chgData name="Mohammad Shahidullah Chowdhury" userId="faf84d911d157f64" providerId="LiveId" clId="{8D76A4EA-5E1E-47FD-A00E-CA75266C40CF}" dt="2026-03-17T13:29:52.544" v="3869" actId="26606"/>
          <ac:spMkLst>
            <pc:docMk/>
            <pc:sldMk cId="1698107608" sldId="351"/>
            <ac:spMk id="5" creationId="{E52A257D-CF5C-3A00-7CD9-432FBABA3917}"/>
          </ac:spMkLst>
        </pc:spChg>
        <pc:spChg chg="add del mod">
          <ac:chgData name="Mohammad Shahidullah Chowdhury" userId="faf84d911d157f64" providerId="LiveId" clId="{8D76A4EA-5E1E-47FD-A00E-CA75266C40CF}" dt="2026-03-17T13:29:42.309" v="3866" actId="26606"/>
          <ac:spMkLst>
            <pc:docMk/>
            <pc:sldMk cId="1698107608" sldId="351"/>
            <ac:spMk id="7" creationId="{37E05B8F-3A4D-60A1-8BED-2B8E3BEE029E}"/>
          </ac:spMkLst>
        </pc:spChg>
        <pc:spChg chg="add del mod">
          <ac:chgData name="Mohammad Shahidullah Chowdhury" userId="faf84d911d157f64" providerId="LiveId" clId="{8D76A4EA-5E1E-47FD-A00E-CA75266C40CF}" dt="2026-03-17T13:29:42.309" v="3866" actId="26606"/>
          <ac:spMkLst>
            <pc:docMk/>
            <pc:sldMk cId="1698107608" sldId="351"/>
            <ac:spMk id="8" creationId="{B49A85AB-E8B5-0B68-476E-BBA4CBAE82C4}"/>
          </ac:spMkLst>
        </pc:spChg>
        <pc:spChg chg="add del mod">
          <ac:chgData name="Mohammad Shahidullah Chowdhury" userId="faf84d911d157f64" providerId="LiveId" clId="{8D76A4EA-5E1E-47FD-A00E-CA75266C40CF}" dt="2026-03-17T13:29:25.117" v="3862" actId="26606"/>
          <ac:spMkLst>
            <pc:docMk/>
            <pc:sldMk cId="1698107608" sldId="351"/>
            <ac:spMk id="10" creationId="{37E05B8F-3A4D-60A1-8BED-2B8E3BEE029E}"/>
          </ac:spMkLst>
        </pc:spChg>
        <pc:spChg chg="add del mod">
          <ac:chgData name="Mohammad Shahidullah Chowdhury" userId="faf84d911d157f64" providerId="LiveId" clId="{8D76A4EA-5E1E-47FD-A00E-CA75266C40CF}" dt="2026-03-17T13:29:25.117" v="3862" actId="26606"/>
          <ac:spMkLst>
            <pc:docMk/>
            <pc:sldMk cId="1698107608" sldId="351"/>
            <ac:spMk id="12" creationId="{B49A85AB-E8B5-0B68-476E-BBA4CBAE82C4}"/>
          </ac:spMkLst>
        </pc:spChg>
        <pc:picChg chg="add mod">
          <ac:chgData name="Mohammad Shahidullah Chowdhury" userId="faf84d911d157f64" providerId="LiveId" clId="{8D76A4EA-5E1E-47FD-A00E-CA75266C40CF}" dt="2026-03-17T13:30:38.414" v="3872" actId="14100"/>
          <ac:picMkLst>
            <pc:docMk/>
            <pc:sldMk cId="1698107608" sldId="351"/>
            <ac:picMk id="3" creationId="{8C1A32D7-1D4E-3481-CBF0-9B21634CD050}"/>
          </ac:picMkLst>
        </pc:picChg>
      </pc:sldChg>
      <pc:sldMasterChg chg="addSp modSp mod">
        <pc:chgData name="Mohammad Shahidullah Chowdhury" userId="faf84d911d157f64" providerId="LiveId" clId="{8D76A4EA-5E1E-47FD-A00E-CA75266C40CF}" dt="2026-03-17T14:03:26" v="3976" actId="1076"/>
        <pc:sldMasterMkLst>
          <pc:docMk/>
          <pc:sldMasterMk cId="3909920325" sldId="2147483720"/>
        </pc:sldMasterMkLst>
        <pc:spChg chg="add mod">
          <ac:chgData name="Mohammad Shahidullah Chowdhury" userId="faf84d911d157f64" providerId="LiveId" clId="{8D76A4EA-5E1E-47FD-A00E-CA75266C40CF}" dt="2026-03-17T14:03:26" v="3976" actId="1076"/>
          <ac:spMkLst>
            <pc:docMk/>
            <pc:sldMasterMk cId="3909920325" sldId="2147483720"/>
            <ac:spMk id="4" creationId="{829F1497-A711-F89D-CB11-070E678365B8}"/>
          </ac:spMkLst>
        </pc:sp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E3B460-1E47-422F-A5F5-4C60FB7CFBA7}"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8C551E42-9AD6-4432-ACCF-4CD82D69830D}">
      <dgm:prSet/>
      <dgm:spPr/>
      <dgm:t>
        <a:bodyPr/>
        <a:lstStyle/>
        <a:p>
          <a:r>
            <a:rPr lang="en-US" b="1" i="0"/>
            <a:t>Role‑Based Access Control (RBAC)</a:t>
          </a:r>
          <a:endParaRPr lang="en-US"/>
        </a:p>
      </dgm:t>
    </dgm:pt>
    <dgm:pt modelId="{5AD65FE7-B44E-4D99-AEBF-544DC2DAE358}" type="parTrans" cxnId="{E6DE3305-01EC-48DF-9DBF-985726599873}">
      <dgm:prSet/>
      <dgm:spPr/>
      <dgm:t>
        <a:bodyPr/>
        <a:lstStyle/>
        <a:p>
          <a:endParaRPr lang="en-US"/>
        </a:p>
      </dgm:t>
    </dgm:pt>
    <dgm:pt modelId="{C8B0B230-1586-4C24-8BC8-D1B53C0EA6B9}" type="sibTrans" cxnId="{E6DE3305-01EC-48DF-9DBF-985726599873}">
      <dgm:prSet/>
      <dgm:spPr/>
      <dgm:t>
        <a:bodyPr/>
        <a:lstStyle/>
        <a:p>
          <a:endParaRPr lang="en-US"/>
        </a:p>
      </dgm:t>
    </dgm:pt>
    <dgm:pt modelId="{2AC11295-950F-49B3-8F27-538706F126D9}">
      <dgm:prSet/>
      <dgm:spPr/>
      <dgm:t>
        <a:bodyPr/>
        <a:lstStyle/>
        <a:p>
          <a:r>
            <a:rPr lang="en-US" b="1" i="0"/>
            <a:t>Why RBAC Matters</a:t>
          </a:r>
          <a:endParaRPr lang="en-US"/>
        </a:p>
      </dgm:t>
    </dgm:pt>
    <dgm:pt modelId="{4E017106-40E4-42F1-8AFE-A460928D1D0F}" type="parTrans" cxnId="{B3CBBEB8-B934-4EF4-8E39-555782E90837}">
      <dgm:prSet/>
      <dgm:spPr/>
      <dgm:t>
        <a:bodyPr/>
        <a:lstStyle/>
        <a:p>
          <a:endParaRPr lang="en-US"/>
        </a:p>
      </dgm:t>
    </dgm:pt>
    <dgm:pt modelId="{1FCA08CD-C0E8-46AE-82B5-581F9EB8978E}" type="sibTrans" cxnId="{B3CBBEB8-B934-4EF4-8E39-555782E90837}">
      <dgm:prSet/>
      <dgm:spPr/>
      <dgm:t>
        <a:bodyPr/>
        <a:lstStyle/>
        <a:p>
          <a:endParaRPr lang="en-US"/>
        </a:p>
      </dgm:t>
    </dgm:pt>
    <dgm:pt modelId="{8274B77B-CD77-431F-BF95-20E016C12FD4}">
      <dgm:prSet/>
      <dgm:spPr/>
      <dgm:t>
        <a:bodyPr/>
        <a:lstStyle/>
        <a:p>
          <a:r>
            <a:rPr lang="en-US" b="0" i="0"/>
            <a:t>Protects sensitive data</a:t>
          </a:r>
          <a:endParaRPr lang="en-US"/>
        </a:p>
      </dgm:t>
    </dgm:pt>
    <dgm:pt modelId="{227C9360-9186-4F22-9635-383046042E28}" type="parTrans" cxnId="{7D23790D-993F-4BAF-90A8-314FFFC069E2}">
      <dgm:prSet/>
      <dgm:spPr/>
      <dgm:t>
        <a:bodyPr/>
        <a:lstStyle/>
        <a:p>
          <a:endParaRPr lang="en-US"/>
        </a:p>
      </dgm:t>
    </dgm:pt>
    <dgm:pt modelId="{D9EC2945-2D75-42B7-B885-8BCC777A7709}" type="sibTrans" cxnId="{7D23790D-993F-4BAF-90A8-314FFFC069E2}">
      <dgm:prSet/>
      <dgm:spPr/>
      <dgm:t>
        <a:bodyPr/>
        <a:lstStyle/>
        <a:p>
          <a:endParaRPr lang="en-US"/>
        </a:p>
      </dgm:t>
    </dgm:pt>
    <dgm:pt modelId="{9B9C9CD6-52AC-48C5-967A-15B8E56F3081}">
      <dgm:prSet/>
      <dgm:spPr/>
      <dgm:t>
        <a:bodyPr/>
        <a:lstStyle/>
        <a:p>
          <a:r>
            <a:rPr lang="en-US" b="0" i="0"/>
            <a:t>Prevents unauthorized changes</a:t>
          </a:r>
          <a:endParaRPr lang="en-US"/>
        </a:p>
      </dgm:t>
    </dgm:pt>
    <dgm:pt modelId="{2DAFE2AB-8991-4735-8A52-1E8D0AC79AC6}" type="parTrans" cxnId="{28DF71E8-1C0E-4772-8A1A-6F55A69BF103}">
      <dgm:prSet/>
      <dgm:spPr/>
      <dgm:t>
        <a:bodyPr/>
        <a:lstStyle/>
        <a:p>
          <a:endParaRPr lang="en-US"/>
        </a:p>
      </dgm:t>
    </dgm:pt>
    <dgm:pt modelId="{7309A942-9EFD-4DBC-B0D4-C8CB2734340E}" type="sibTrans" cxnId="{28DF71E8-1C0E-4772-8A1A-6F55A69BF103}">
      <dgm:prSet/>
      <dgm:spPr/>
      <dgm:t>
        <a:bodyPr/>
        <a:lstStyle/>
        <a:p>
          <a:endParaRPr lang="en-US"/>
        </a:p>
      </dgm:t>
    </dgm:pt>
    <dgm:pt modelId="{C9D2FB0F-BD36-4B56-A6CD-681C2C1D817C}">
      <dgm:prSet/>
      <dgm:spPr/>
      <dgm:t>
        <a:bodyPr/>
        <a:lstStyle/>
        <a:p>
          <a:r>
            <a:rPr lang="en-US" b="0" i="0"/>
            <a:t>Ensures auditability</a:t>
          </a:r>
          <a:endParaRPr lang="en-US"/>
        </a:p>
      </dgm:t>
    </dgm:pt>
    <dgm:pt modelId="{D57CFCDF-0B4A-4701-86F8-82D64E4A19EA}" type="parTrans" cxnId="{0DC72F6B-50F7-4921-9723-2E4D5D02B10B}">
      <dgm:prSet/>
      <dgm:spPr/>
      <dgm:t>
        <a:bodyPr/>
        <a:lstStyle/>
        <a:p>
          <a:endParaRPr lang="en-US"/>
        </a:p>
      </dgm:t>
    </dgm:pt>
    <dgm:pt modelId="{0D88AB80-1714-402E-9523-8F1C53E8225C}" type="sibTrans" cxnId="{0DC72F6B-50F7-4921-9723-2E4D5D02B10B}">
      <dgm:prSet/>
      <dgm:spPr/>
      <dgm:t>
        <a:bodyPr/>
        <a:lstStyle/>
        <a:p>
          <a:endParaRPr lang="en-US"/>
        </a:p>
      </dgm:t>
    </dgm:pt>
    <dgm:pt modelId="{8F328F81-2181-4F1A-B9AB-416DF8C6C7AE}" type="pres">
      <dgm:prSet presAssocID="{3CE3B460-1E47-422F-A5F5-4C60FB7CFBA7}" presName="Name0" presStyleCnt="0">
        <dgm:presLayoutVars>
          <dgm:dir/>
          <dgm:animLvl val="lvl"/>
          <dgm:resizeHandles val="exact"/>
        </dgm:presLayoutVars>
      </dgm:prSet>
      <dgm:spPr/>
    </dgm:pt>
    <dgm:pt modelId="{D4EFA3E5-01D3-46D1-9CEF-CA064F7D80E1}" type="pres">
      <dgm:prSet presAssocID="{8C551E42-9AD6-4432-ACCF-4CD82D69830D}" presName="linNode" presStyleCnt="0"/>
      <dgm:spPr/>
    </dgm:pt>
    <dgm:pt modelId="{BA1C5CBC-22DC-4192-9306-41A9D24A73B3}" type="pres">
      <dgm:prSet presAssocID="{8C551E42-9AD6-4432-ACCF-4CD82D69830D}" presName="parentText" presStyleLbl="node1" presStyleIdx="0" presStyleCnt="2">
        <dgm:presLayoutVars>
          <dgm:chMax val="1"/>
          <dgm:bulletEnabled val="1"/>
        </dgm:presLayoutVars>
      </dgm:prSet>
      <dgm:spPr/>
    </dgm:pt>
    <dgm:pt modelId="{31C063F0-6309-40F3-922B-2C9FD3199DBB}" type="pres">
      <dgm:prSet presAssocID="{C8B0B230-1586-4C24-8BC8-D1B53C0EA6B9}" presName="sp" presStyleCnt="0"/>
      <dgm:spPr/>
    </dgm:pt>
    <dgm:pt modelId="{390F1055-F023-46A4-AB1B-BAF6240579BC}" type="pres">
      <dgm:prSet presAssocID="{2AC11295-950F-49B3-8F27-538706F126D9}" presName="linNode" presStyleCnt="0"/>
      <dgm:spPr/>
    </dgm:pt>
    <dgm:pt modelId="{F64680CA-D144-404E-BF9B-7C2BD6225C76}" type="pres">
      <dgm:prSet presAssocID="{2AC11295-950F-49B3-8F27-538706F126D9}" presName="parentText" presStyleLbl="node1" presStyleIdx="1" presStyleCnt="2">
        <dgm:presLayoutVars>
          <dgm:chMax val="1"/>
          <dgm:bulletEnabled val="1"/>
        </dgm:presLayoutVars>
      </dgm:prSet>
      <dgm:spPr/>
    </dgm:pt>
    <dgm:pt modelId="{23906FF8-83DB-4EAC-B1B8-9F787DD44B37}" type="pres">
      <dgm:prSet presAssocID="{2AC11295-950F-49B3-8F27-538706F126D9}" presName="descendantText" presStyleLbl="alignAccFollowNode1" presStyleIdx="0" presStyleCnt="1">
        <dgm:presLayoutVars>
          <dgm:bulletEnabled val="1"/>
        </dgm:presLayoutVars>
      </dgm:prSet>
      <dgm:spPr/>
    </dgm:pt>
  </dgm:ptLst>
  <dgm:cxnLst>
    <dgm:cxn modelId="{E6DE3305-01EC-48DF-9DBF-985726599873}" srcId="{3CE3B460-1E47-422F-A5F5-4C60FB7CFBA7}" destId="{8C551E42-9AD6-4432-ACCF-4CD82D69830D}" srcOrd="0" destOrd="0" parTransId="{5AD65FE7-B44E-4D99-AEBF-544DC2DAE358}" sibTransId="{C8B0B230-1586-4C24-8BC8-D1B53C0EA6B9}"/>
    <dgm:cxn modelId="{0F5B6D05-E4CC-42AE-9CFD-3870F150673A}" type="presOf" srcId="{3CE3B460-1E47-422F-A5F5-4C60FB7CFBA7}" destId="{8F328F81-2181-4F1A-B9AB-416DF8C6C7AE}" srcOrd="0" destOrd="0" presId="urn:microsoft.com/office/officeart/2005/8/layout/vList5"/>
    <dgm:cxn modelId="{7D23790D-993F-4BAF-90A8-314FFFC069E2}" srcId="{2AC11295-950F-49B3-8F27-538706F126D9}" destId="{8274B77B-CD77-431F-BF95-20E016C12FD4}" srcOrd="0" destOrd="0" parTransId="{227C9360-9186-4F22-9635-383046042E28}" sibTransId="{D9EC2945-2D75-42B7-B885-8BCC777A7709}"/>
    <dgm:cxn modelId="{EBD7823E-93BD-4E95-AA0B-B5432D85DD5C}" type="presOf" srcId="{9B9C9CD6-52AC-48C5-967A-15B8E56F3081}" destId="{23906FF8-83DB-4EAC-B1B8-9F787DD44B37}" srcOrd="0" destOrd="1" presId="urn:microsoft.com/office/officeart/2005/8/layout/vList5"/>
    <dgm:cxn modelId="{D7E0634A-0058-4F68-A828-C109292D3301}" type="presOf" srcId="{C9D2FB0F-BD36-4B56-A6CD-681C2C1D817C}" destId="{23906FF8-83DB-4EAC-B1B8-9F787DD44B37}" srcOrd="0" destOrd="2" presId="urn:microsoft.com/office/officeart/2005/8/layout/vList5"/>
    <dgm:cxn modelId="{0DC72F6B-50F7-4921-9723-2E4D5D02B10B}" srcId="{2AC11295-950F-49B3-8F27-538706F126D9}" destId="{C9D2FB0F-BD36-4B56-A6CD-681C2C1D817C}" srcOrd="2" destOrd="0" parTransId="{D57CFCDF-0B4A-4701-86F8-82D64E4A19EA}" sibTransId="{0D88AB80-1714-402E-9523-8F1C53E8225C}"/>
    <dgm:cxn modelId="{A92239A9-4023-4813-84C0-082E141A7B1D}" type="presOf" srcId="{8C551E42-9AD6-4432-ACCF-4CD82D69830D}" destId="{BA1C5CBC-22DC-4192-9306-41A9D24A73B3}" srcOrd="0" destOrd="0" presId="urn:microsoft.com/office/officeart/2005/8/layout/vList5"/>
    <dgm:cxn modelId="{B3CBBEB8-B934-4EF4-8E39-555782E90837}" srcId="{3CE3B460-1E47-422F-A5F5-4C60FB7CFBA7}" destId="{2AC11295-950F-49B3-8F27-538706F126D9}" srcOrd="1" destOrd="0" parTransId="{4E017106-40E4-42F1-8AFE-A460928D1D0F}" sibTransId="{1FCA08CD-C0E8-46AE-82B5-581F9EB8978E}"/>
    <dgm:cxn modelId="{B4BD68D2-E62F-418B-B383-E7C85BE50D69}" type="presOf" srcId="{8274B77B-CD77-431F-BF95-20E016C12FD4}" destId="{23906FF8-83DB-4EAC-B1B8-9F787DD44B37}" srcOrd="0" destOrd="0" presId="urn:microsoft.com/office/officeart/2005/8/layout/vList5"/>
    <dgm:cxn modelId="{F2B937D9-0AAB-4B90-91F7-7CDCF67A6C16}" type="presOf" srcId="{2AC11295-950F-49B3-8F27-538706F126D9}" destId="{F64680CA-D144-404E-BF9B-7C2BD6225C76}" srcOrd="0" destOrd="0" presId="urn:microsoft.com/office/officeart/2005/8/layout/vList5"/>
    <dgm:cxn modelId="{28DF71E8-1C0E-4772-8A1A-6F55A69BF103}" srcId="{2AC11295-950F-49B3-8F27-538706F126D9}" destId="{9B9C9CD6-52AC-48C5-967A-15B8E56F3081}" srcOrd="1" destOrd="0" parTransId="{2DAFE2AB-8991-4735-8A52-1E8D0AC79AC6}" sibTransId="{7309A942-9EFD-4DBC-B0D4-C8CB2734340E}"/>
    <dgm:cxn modelId="{C441329E-6366-4B17-8031-8BE2C64F1BCB}" type="presParOf" srcId="{8F328F81-2181-4F1A-B9AB-416DF8C6C7AE}" destId="{D4EFA3E5-01D3-46D1-9CEF-CA064F7D80E1}" srcOrd="0" destOrd="0" presId="urn:microsoft.com/office/officeart/2005/8/layout/vList5"/>
    <dgm:cxn modelId="{9E0674E5-8609-4500-B61E-F82D8D521809}" type="presParOf" srcId="{D4EFA3E5-01D3-46D1-9CEF-CA064F7D80E1}" destId="{BA1C5CBC-22DC-4192-9306-41A9D24A73B3}" srcOrd="0" destOrd="0" presId="urn:microsoft.com/office/officeart/2005/8/layout/vList5"/>
    <dgm:cxn modelId="{26C451E9-A81F-4551-8A43-2F6ACF5C6CEE}" type="presParOf" srcId="{8F328F81-2181-4F1A-B9AB-416DF8C6C7AE}" destId="{31C063F0-6309-40F3-922B-2C9FD3199DBB}" srcOrd="1" destOrd="0" presId="urn:microsoft.com/office/officeart/2005/8/layout/vList5"/>
    <dgm:cxn modelId="{4E71503D-F22E-408C-BA19-8C24F93340A2}" type="presParOf" srcId="{8F328F81-2181-4F1A-B9AB-416DF8C6C7AE}" destId="{390F1055-F023-46A4-AB1B-BAF6240579BC}" srcOrd="2" destOrd="0" presId="urn:microsoft.com/office/officeart/2005/8/layout/vList5"/>
    <dgm:cxn modelId="{3A792E6D-598D-4C19-9AE3-27F8C16DE26A}" type="presParOf" srcId="{390F1055-F023-46A4-AB1B-BAF6240579BC}" destId="{F64680CA-D144-404E-BF9B-7C2BD6225C76}" srcOrd="0" destOrd="0" presId="urn:microsoft.com/office/officeart/2005/8/layout/vList5"/>
    <dgm:cxn modelId="{EF3A2ADC-2A54-4F3D-AB59-85653B8E5BCB}" type="presParOf" srcId="{390F1055-F023-46A4-AB1B-BAF6240579BC}" destId="{23906FF8-83DB-4EAC-B1B8-9F787DD44B3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1C5CBC-22DC-4192-9306-41A9D24A73B3}">
      <dsp:nvSpPr>
        <dsp:cNvPr id="0" name=""/>
        <dsp:cNvSpPr/>
      </dsp:nvSpPr>
      <dsp:spPr>
        <a:xfrm>
          <a:off x="0" y="58"/>
          <a:ext cx="3785616" cy="235683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b="1" i="0" kern="1200"/>
            <a:t>Role‑Based Access Control (RBAC)</a:t>
          </a:r>
          <a:endParaRPr lang="en-US" sz="3700" kern="1200"/>
        </a:p>
      </dsp:txBody>
      <dsp:txXfrm>
        <a:off x="115051" y="115109"/>
        <a:ext cx="3555514" cy="2126737"/>
      </dsp:txXfrm>
    </dsp:sp>
    <dsp:sp modelId="{23906FF8-83DB-4EAC-B1B8-9F787DD44B37}">
      <dsp:nvSpPr>
        <dsp:cNvPr id="0" name=""/>
        <dsp:cNvSpPr/>
      </dsp:nvSpPr>
      <dsp:spPr>
        <a:xfrm rot="5400000">
          <a:off x="6207872" y="288168"/>
          <a:ext cx="1885471"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lang="en-US" sz="3300" b="0" i="0" kern="1200"/>
            <a:t>Protects sensitive data</a:t>
          </a:r>
          <a:endParaRPr lang="en-US" sz="3300" kern="1200"/>
        </a:p>
        <a:p>
          <a:pPr marL="285750" lvl="1" indent="-285750" algn="l" defTabSz="1466850">
            <a:lnSpc>
              <a:spcPct val="90000"/>
            </a:lnSpc>
            <a:spcBef>
              <a:spcPct val="0"/>
            </a:spcBef>
            <a:spcAft>
              <a:spcPct val="15000"/>
            </a:spcAft>
            <a:buChar char="•"/>
          </a:pPr>
          <a:r>
            <a:rPr lang="en-US" sz="3300" b="0" i="0" kern="1200"/>
            <a:t>Prevents unauthorized changes</a:t>
          </a:r>
          <a:endParaRPr lang="en-US" sz="3300" kern="1200"/>
        </a:p>
        <a:p>
          <a:pPr marL="285750" lvl="1" indent="-285750" algn="l" defTabSz="1466850">
            <a:lnSpc>
              <a:spcPct val="90000"/>
            </a:lnSpc>
            <a:spcBef>
              <a:spcPct val="0"/>
            </a:spcBef>
            <a:spcAft>
              <a:spcPct val="15000"/>
            </a:spcAft>
            <a:buChar char="•"/>
          </a:pPr>
          <a:r>
            <a:rPr lang="en-US" sz="3300" b="0" i="0" kern="1200"/>
            <a:t>Ensures auditability</a:t>
          </a:r>
          <a:endParaRPr lang="en-US" sz="3300" kern="1200"/>
        </a:p>
      </dsp:txBody>
      <dsp:txXfrm rot="-5400000">
        <a:off x="3785616" y="2802466"/>
        <a:ext cx="6637943" cy="1701389"/>
      </dsp:txXfrm>
    </dsp:sp>
    <dsp:sp modelId="{F64680CA-D144-404E-BF9B-7C2BD6225C76}">
      <dsp:nvSpPr>
        <dsp:cNvPr id="0" name=""/>
        <dsp:cNvSpPr/>
      </dsp:nvSpPr>
      <dsp:spPr>
        <a:xfrm>
          <a:off x="0" y="2474740"/>
          <a:ext cx="3785616" cy="235683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b="1" i="0" kern="1200"/>
            <a:t>Why RBAC Matters</a:t>
          </a:r>
          <a:endParaRPr lang="en-US" sz="3700" kern="1200"/>
        </a:p>
      </dsp:txBody>
      <dsp:txXfrm>
        <a:off x="115051" y="2589791"/>
        <a:ext cx="3555514" cy="212673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9357D-E08C-B341-9B84-C7C6ED51F467}"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C7F85-B619-534F-A66A-9B8DC36C34F8}" type="slidenum">
              <a:rPr lang="en-US" smtClean="0"/>
              <a:t>‹#›</a:t>
            </a:fld>
            <a:endParaRPr lang="en-US"/>
          </a:p>
        </p:txBody>
      </p:sp>
    </p:spTree>
    <p:extLst>
      <p:ext uri="{BB962C8B-B14F-4D97-AF65-F5344CB8AC3E}">
        <p14:creationId xmlns:p14="http://schemas.microsoft.com/office/powerpoint/2010/main" val="2616605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8</a:t>
            </a:fld>
            <a:endParaRPr lang="en-US"/>
          </a:p>
        </p:txBody>
      </p:sp>
    </p:spTree>
    <p:extLst>
      <p:ext uri="{BB962C8B-B14F-4D97-AF65-F5344CB8AC3E}">
        <p14:creationId xmlns:p14="http://schemas.microsoft.com/office/powerpoint/2010/main" val="734254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Flagged extreme transaction amounts using IQR method in outlier treatment.</a:t>
            </a:r>
          </a:p>
          <a:p>
            <a:r>
              <a:rPr lang="en-US" dirty="0"/>
              <a:t>This ensures analytical accuracy, consistency, and reliability across all downstream processes.</a:t>
            </a:r>
          </a:p>
        </p:txBody>
      </p:sp>
      <p:sp>
        <p:nvSpPr>
          <p:cNvPr id="4" name="Slide Number Placeholder 3"/>
          <p:cNvSpPr>
            <a:spLocks noGrp="1"/>
          </p:cNvSpPr>
          <p:nvPr>
            <p:ph type="sldNum" sz="quarter" idx="5"/>
          </p:nvPr>
        </p:nvSpPr>
        <p:spPr/>
        <p:txBody>
          <a:bodyPr/>
          <a:lstStyle/>
          <a:p>
            <a:fld id="{CEDC7F85-B619-534F-A66A-9B8DC36C34F8}" type="slidenum">
              <a:rPr lang="en-US" smtClean="0"/>
              <a:t>9</a:t>
            </a:fld>
            <a:endParaRPr lang="en-US"/>
          </a:p>
        </p:txBody>
      </p:sp>
    </p:spTree>
    <p:extLst>
      <p:ext uri="{BB962C8B-B14F-4D97-AF65-F5344CB8AC3E}">
        <p14:creationId xmlns:p14="http://schemas.microsoft.com/office/powerpoint/2010/main" val="2235533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aligns with best practices in Data Engineering and Data Governance.</a:t>
            </a:r>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11</a:t>
            </a:fld>
            <a:endParaRPr lang="en-US"/>
          </a:p>
        </p:txBody>
      </p:sp>
    </p:spTree>
    <p:extLst>
      <p:ext uri="{BB962C8B-B14F-4D97-AF65-F5344CB8AC3E}">
        <p14:creationId xmlns:p14="http://schemas.microsoft.com/office/powerpoint/2010/main" val="3222743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a:t>
            </a:r>
            <a:r>
              <a:rPr lang="en-US" sz="1200" b="0" i="0" u="none" strike="noStrike" kern="1200" dirty="0" err="1">
                <a:solidFill>
                  <a:schemeClr val="tx1"/>
                </a:solidFill>
                <a:effectLst/>
                <a:latin typeface="+mn-lt"/>
                <a:ea typeface="+mn-ea"/>
                <a:cs typeface="+mn-cs"/>
              </a:rPr>
              <a:t>FinPro</a:t>
            </a:r>
            <a:r>
              <a:rPr lang="en-US" sz="1200" b="0" i="0" u="none" strike="noStrike" kern="1200" dirty="0">
                <a:solidFill>
                  <a:schemeClr val="tx1"/>
                </a:solidFill>
                <a:effectLst/>
                <a:latin typeface="+mn-lt"/>
                <a:ea typeface="+mn-ea"/>
                <a:cs typeface="+mn-cs"/>
              </a:rPr>
              <a:t> Bank data model follows a structured analytical design consisting of:</a:t>
            </a:r>
            <a:endParaRPr lang="en-US" b="0" dirty="0">
              <a:effectLst/>
            </a:endParaRPr>
          </a:p>
          <a:p>
            <a:pPr rtl="0" fontAlgn="base"/>
            <a:r>
              <a:rPr lang="en-US" sz="1200" b="1" i="0" u="none" strike="noStrike" kern="1200" dirty="0">
                <a:solidFill>
                  <a:schemeClr val="tx1"/>
                </a:solidFill>
                <a:effectLst/>
                <a:latin typeface="+mn-lt"/>
                <a:ea typeface="+mn-ea"/>
                <a:cs typeface="+mn-cs"/>
              </a:rPr>
              <a:t>Dimension tables</a:t>
            </a:r>
            <a:r>
              <a:rPr lang="en-US" sz="1200" b="0" i="0" u="none" strike="noStrike" kern="1200" dirty="0">
                <a:solidFill>
                  <a:schemeClr val="tx1"/>
                </a:solidFill>
                <a:effectLst/>
                <a:latin typeface="+mn-lt"/>
                <a:ea typeface="+mn-ea"/>
                <a:cs typeface="+mn-cs"/>
              </a:rPr>
              <a:t> for descriptive attributes</a:t>
            </a:r>
          </a:p>
          <a:p>
            <a:pPr rtl="0" fontAlgn="base"/>
            <a:r>
              <a:rPr lang="en-US" sz="1200" b="1" i="0" u="none" strike="noStrike" kern="1200" dirty="0">
                <a:solidFill>
                  <a:schemeClr val="tx1"/>
                </a:solidFill>
                <a:effectLst/>
                <a:latin typeface="+mn-lt"/>
                <a:ea typeface="+mn-ea"/>
                <a:cs typeface="+mn-cs"/>
              </a:rPr>
              <a:t>A central fact table</a:t>
            </a:r>
            <a:r>
              <a:rPr lang="en-US" sz="1200" b="0" i="0" u="none" strike="noStrike" kern="1200" dirty="0">
                <a:solidFill>
                  <a:schemeClr val="tx1"/>
                </a:solidFill>
                <a:effectLst/>
                <a:latin typeface="+mn-lt"/>
                <a:ea typeface="+mn-ea"/>
                <a:cs typeface="+mn-cs"/>
              </a:rPr>
              <a:t> for transactional data</a:t>
            </a:r>
          </a:p>
          <a:p>
            <a:r>
              <a:rPr lang="en-US" sz="1200" b="1" i="0" u="none" strike="noStrike" kern="1200" dirty="0">
                <a:solidFill>
                  <a:schemeClr val="tx1"/>
                </a:solidFill>
                <a:effectLst/>
                <a:latin typeface="+mn-lt"/>
                <a:ea typeface="+mn-ea"/>
                <a:cs typeface="+mn-cs"/>
              </a:rPr>
              <a:t>A date dimension</a:t>
            </a:r>
            <a:r>
              <a:rPr lang="en-US" sz="1200" b="0" i="0" u="none" strike="noStrike" kern="1200" dirty="0">
                <a:solidFill>
                  <a:schemeClr val="tx1"/>
                </a:solidFill>
                <a:effectLst/>
                <a:latin typeface="+mn-lt"/>
                <a:ea typeface="+mn-ea"/>
                <a:cs typeface="+mn-cs"/>
              </a:rPr>
              <a:t> for time‑based reporting </a:t>
            </a:r>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13</a:t>
            </a:fld>
            <a:endParaRPr lang="en-US"/>
          </a:p>
        </p:txBody>
      </p:sp>
    </p:spTree>
    <p:extLst>
      <p:ext uri="{BB962C8B-B14F-4D97-AF65-F5344CB8AC3E}">
        <p14:creationId xmlns:p14="http://schemas.microsoft.com/office/powerpoint/2010/main" val="689313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structure is ideal for banking analytics where geographic and customer hierarchies matter.</a:t>
            </a:r>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17</a:t>
            </a:fld>
            <a:endParaRPr lang="en-US"/>
          </a:p>
        </p:txBody>
      </p:sp>
    </p:spTree>
    <p:extLst>
      <p:ext uri="{BB962C8B-B14F-4D97-AF65-F5344CB8AC3E}">
        <p14:creationId xmlns:p14="http://schemas.microsoft.com/office/powerpoint/2010/main" val="3316115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In reporting these tables also enable:</a:t>
            </a:r>
          </a:p>
          <a:p>
            <a:pPr rtl="0" fontAlgn="base"/>
            <a:r>
              <a:rPr lang="en-US" sz="1200" b="0" i="0" u="none" strike="noStrike" kern="1200" dirty="0">
                <a:solidFill>
                  <a:schemeClr val="tx1"/>
                </a:solidFill>
                <a:effectLst/>
                <a:latin typeface="+mn-lt"/>
                <a:ea typeface="+mn-ea"/>
                <a:cs typeface="+mn-cs"/>
              </a:rPr>
              <a:t>Time‑based trend analysis</a:t>
            </a:r>
          </a:p>
          <a:p>
            <a:pPr rtl="0" fontAlgn="base"/>
            <a:r>
              <a:rPr lang="en-US" sz="1200" b="0" i="0" u="none" strike="noStrike" kern="1200" dirty="0">
                <a:solidFill>
                  <a:schemeClr val="tx1"/>
                </a:solidFill>
                <a:effectLst/>
                <a:latin typeface="+mn-lt"/>
                <a:ea typeface="+mn-ea"/>
                <a:cs typeface="+mn-cs"/>
              </a:rPr>
              <a:t>Multi‑dimensional slicing and dicing</a:t>
            </a:r>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18</a:t>
            </a:fld>
            <a:endParaRPr lang="en-US"/>
          </a:p>
        </p:txBody>
      </p:sp>
    </p:spTree>
    <p:extLst>
      <p:ext uri="{BB962C8B-B14F-4D97-AF65-F5344CB8AC3E}">
        <p14:creationId xmlns:p14="http://schemas.microsoft.com/office/powerpoint/2010/main" val="421221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OLAP </a:t>
            </a:r>
            <a:r>
              <a:rPr lang="fr-FR" dirty="0" err="1"/>
              <a:t>Queries</a:t>
            </a:r>
            <a:r>
              <a:rPr lang="fr-FR" dirty="0"/>
              <a:t> (</a:t>
            </a:r>
            <a:r>
              <a:rPr lang="fr-FR" dirty="0" err="1"/>
              <a:t>Aggregations</a:t>
            </a:r>
            <a:r>
              <a:rPr lang="fr-FR" dirty="0"/>
              <a:t>, Joins, </a:t>
            </a:r>
            <a:r>
              <a:rPr lang="fr-FR" dirty="0" err="1"/>
              <a:t>Rollup</a:t>
            </a:r>
            <a:r>
              <a:rPr lang="fr-FR" dirty="0"/>
              <a:t>, Cube)</a:t>
            </a:r>
            <a:endParaRPr lang="en-US" dirty="0"/>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24</a:t>
            </a:fld>
            <a:endParaRPr lang="en-US"/>
          </a:p>
        </p:txBody>
      </p:sp>
    </p:spTree>
    <p:extLst>
      <p:ext uri="{BB962C8B-B14F-4D97-AF65-F5344CB8AC3E}">
        <p14:creationId xmlns:p14="http://schemas.microsoft.com/office/powerpoint/2010/main" val="745864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OLAP </a:t>
            </a:r>
            <a:r>
              <a:rPr lang="fr-FR" dirty="0" err="1"/>
              <a:t>Queries</a:t>
            </a:r>
            <a:r>
              <a:rPr lang="fr-FR" dirty="0"/>
              <a:t> (</a:t>
            </a:r>
            <a:r>
              <a:rPr lang="fr-FR" dirty="0" err="1"/>
              <a:t>Aggregations</a:t>
            </a:r>
            <a:r>
              <a:rPr lang="fr-FR" dirty="0"/>
              <a:t>, Joins, </a:t>
            </a:r>
            <a:r>
              <a:rPr lang="fr-FR" dirty="0" err="1"/>
              <a:t>Rollup</a:t>
            </a:r>
            <a:r>
              <a:rPr lang="fr-FR" dirty="0"/>
              <a:t>, Cube)</a:t>
            </a:r>
            <a:endParaRPr lang="en-US" dirty="0"/>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25</a:t>
            </a:fld>
            <a:endParaRPr lang="en-US"/>
          </a:p>
        </p:txBody>
      </p:sp>
    </p:spTree>
    <p:extLst>
      <p:ext uri="{BB962C8B-B14F-4D97-AF65-F5344CB8AC3E}">
        <p14:creationId xmlns:p14="http://schemas.microsoft.com/office/powerpoint/2010/main" val="646733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OLAP </a:t>
            </a:r>
            <a:r>
              <a:rPr lang="fr-FR" dirty="0" err="1"/>
              <a:t>Queries</a:t>
            </a:r>
            <a:r>
              <a:rPr lang="fr-FR" dirty="0"/>
              <a:t> (</a:t>
            </a:r>
            <a:r>
              <a:rPr lang="fr-FR" dirty="0" err="1"/>
              <a:t>Aggregations</a:t>
            </a:r>
            <a:r>
              <a:rPr lang="fr-FR" dirty="0"/>
              <a:t>, Joins, </a:t>
            </a:r>
            <a:r>
              <a:rPr lang="fr-FR" dirty="0" err="1"/>
              <a:t>Rollup</a:t>
            </a:r>
            <a:r>
              <a:rPr lang="fr-FR" dirty="0"/>
              <a:t>, Cube)</a:t>
            </a:r>
            <a:endParaRPr lang="en-US" dirty="0"/>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26</a:t>
            </a:fld>
            <a:endParaRPr lang="en-US"/>
          </a:p>
        </p:txBody>
      </p:sp>
    </p:spTree>
    <p:extLst>
      <p:ext uri="{BB962C8B-B14F-4D97-AF65-F5344CB8AC3E}">
        <p14:creationId xmlns:p14="http://schemas.microsoft.com/office/powerpoint/2010/main" val="958687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rPr>
              <a:t>Controls what the </a:t>
            </a:r>
            <a:r>
              <a:rPr lang="en-US" sz="1200" b="1" i="0" u="none" strike="noStrike" dirty="0" err="1">
                <a:solidFill>
                  <a:srgbClr val="000000"/>
                </a:solidFill>
                <a:effectLst/>
                <a:latin typeface="Arial" panose="020B0604020202020204" pitchFamily="34" charset="0"/>
              </a:rPr>
              <a:t>fin_manager</a:t>
            </a:r>
            <a:r>
              <a:rPr lang="en-US" sz="1200" b="0" i="0" u="none" strike="noStrike" dirty="0">
                <a:solidFill>
                  <a:srgbClr val="000000"/>
                </a:solidFill>
                <a:effectLst/>
                <a:latin typeface="Arial" panose="020B0604020202020204" pitchFamily="34" charset="0"/>
              </a:rPr>
              <a:t> can view, insert, update, or delete.</a:t>
            </a:r>
            <a:endParaRPr lang="en-US" b="0" dirty="0">
              <a:effectLst/>
            </a:endParaRPr>
          </a:p>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36</a:t>
            </a:fld>
            <a:endParaRPr lang="en-US"/>
          </a:p>
        </p:txBody>
      </p:sp>
    </p:spTree>
    <p:extLst>
      <p:ext uri="{BB962C8B-B14F-4D97-AF65-F5344CB8AC3E}">
        <p14:creationId xmlns:p14="http://schemas.microsoft.com/office/powerpoint/2010/main" val="2633026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DC7F85-B619-534F-A66A-9B8DC36C34F8}" type="slidenum">
              <a:rPr lang="en-US" smtClean="0"/>
              <a:t>63</a:t>
            </a:fld>
            <a:endParaRPr lang="en-US"/>
          </a:p>
        </p:txBody>
      </p:sp>
    </p:spTree>
    <p:extLst>
      <p:ext uri="{BB962C8B-B14F-4D97-AF65-F5344CB8AC3E}">
        <p14:creationId xmlns:p14="http://schemas.microsoft.com/office/powerpoint/2010/main" val="3488619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9D7C9-8F96-29F5-1205-BAE74ECFB6C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2476479-834E-716E-F738-42913F20FC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C33591F-359F-14CB-E47E-7E0A48675C21}"/>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E2B0DDA5-1212-4EE1-8E98-BD5556D6192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FAF1A59-0F6E-C066-93B8-C418D626419E}"/>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9083491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BB2AA-06AD-F2FC-5383-B4B7B95FA0D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FFB339-D764-126A-043A-AA902A2D94B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2CEC418-3953-DA2D-A0FB-CABD98BBE893}"/>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C38B8AE1-51E6-F6DC-0366-71136A416F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E9BB31A-1A8F-2867-8E45-A1156E678421}"/>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7" name="Straight Connector 6">
            <a:extLst>
              <a:ext uri="{FF2B5EF4-FFF2-40B4-BE49-F238E27FC236}">
                <a16:creationId xmlns:a16="http://schemas.microsoft.com/office/drawing/2014/main" id="{CF6DD119-3AB1-5E89-283B-CFC7450F3221}"/>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889639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FB27-6D56-F7B9-3168-F3BA5618EA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E265677-679A-B0F9-A8ED-CB7AE1B44E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D96AB45-AD7F-AAB6-E9E5-BC9FFE73E6C3}"/>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E6500007-5F71-101E-BD73-80F5B482450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321822D-21A5-46A1-7A0D-74890F813E5D}"/>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2121772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19D8-2061-DE2F-C7F4-7B55AE952A8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EC7E3F7-CAC0-234E-2E22-54F716B31277}"/>
              </a:ext>
            </a:extLst>
          </p:cNvPr>
          <p:cNvSpPr>
            <a:spLocks noGrp="1"/>
          </p:cNvSpPr>
          <p:nvPr>
            <p:ph sz="half" idx="1"/>
          </p:nvPr>
        </p:nvSpPr>
        <p:spPr>
          <a:xfrm>
            <a:off x="838200" y="1163789"/>
            <a:ext cx="5181600" cy="50131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55703E5-BCA0-9F5D-3D33-E6367347C39A}"/>
              </a:ext>
            </a:extLst>
          </p:cNvPr>
          <p:cNvSpPr>
            <a:spLocks noGrp="1"/>
          </p:cNvSpPr>
          <p:nvPr>
            <p:ph sz="half" idx="2"/>
          </p:nvPr>
        </p:nvSpPr>
        <p:spPr>
          <a:xfrm>
            <a:off x="6172200" y="1163789"/>
            <a:ext cx="5181600" cy="501317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0078F20-3ECF-6BE9-68F4-016C200C5F85}"/>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6" name="Footer Placeholder 5">
            <a:extLst>
              <a:ext uri="{FF2B5EF4-FFF2-40B4-BE49-F238E27FC236}">
                <a16:creationId xmlns:a16="http://schemas.microsoft.com/office/drawing/2014/main" id="{AD0347F2-ADE9-32FD-FCEF-C45F3A7076C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2ABACDE-6DBE-549B-7465-4DA10C5C3E2B}"/>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8" name="Straight Connector 7">
            <a:extLst>
              <a:ext uri="{FF2B5EF4-FFF2-40B4-BE49-F238E27FC236}">
                <a16:creationId xmlns:a16="http://schemas.microsoft.com/office/drawing/2014/main" id="{A23452B6-CDA2-B35E-0715-B9D79EFD3246}"/>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87046135"/>
      </p:ext>
    </p:extLst>
  </p:cSld>
  <p:clrMapOvr>
    <a:masterClrMapping/>
  </p:clrMapOvr>
  <p:extLst>
    <p:ext uri="{DCECCB84-F9BA-43D5-87BE-67443E8EF086}">
      <p15:sldGuideLst xmlns:p15="http://schemas.microsoft.com/office/powerpoint/2012/main">
        <p15:guide id="1" orient="horz" pos="2387" userDrawn="1">
          <p15:clr>
            <a:srgbClr val="FBAE40"/>
          </p15:clr>
        </p15:guide>
        <p15:guide id="2" pos="3840" userDrawn="1">
          <p15:clr>
            <a:srgbClr val="FBAE40"/>
          </p15:clr>
        </p15:guide>
        <p15:guide id="3" orient="horz" pos="68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CE741-45A8-1862-BA73-F388A4A00DE0}"/>
              </a:ext>
            </a:extLst>
          </p:cNvPr>
          <p:cNvSpPr>
            <a:spLocks noGrp="1"/>
          </p:cNvSpPr>
          <p:nvPr>
            <p:ph type="title"/>
          </p:nvPr>
        </p:nvSpPr>
        <p:spPr>
          <a:xfrm>
            <a:off x="839788" y="365126"/>
            <a:ext cx="10515600" cy="723900"/>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8CFFEB5-6F77-A32D-584E-9A3707A33A88}"/>
              </a:ext>
            </a:extLst>
          </p:cNvPr>
          <p:cNvSpPr>
            <a:spLocks noGrp="1"/>
          </p:cNvSpPr>
          <p:nvPr>
            <p:ph type="body" idx="1"/>
          </p:nvPr>
        </p:nvSpPr>
        <p:spPr>
          <a:xfrm>
            <a:off x="839788" y="118586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D0BD877-1138-6469-13F1-6F0E1BC73D58}"/>
              </a:ext>
            </a:extLst>
          </p:cNvPr>
          <p:cNvSpPr>
            <a:spLocks noGrp="1"/>
          </p:cNvSpPr>
          <p:nvPr>
            <p:ph sz="half" idx="2"/>
          </p:nvPr>
        </p:nvSpPr>
        <p:spPr>
          <a:xfrm>
            <a:off x="839788" y="2106614"/>
            <a:ext cx="5157787" cy="40830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A7290B9-71DF-9759-96EE-064D62481AA3}"/>
              </a:ext>
            </a:extLst>
          </p:cNvPr>
          <p:cNvSpPr>
            <a:spLocks noGrp="1"/>
          </p:cNvSpPr>
          <p:nvPr>
            <p:ph type="body" sz="quarter" idx="3"/>
          </p:nvPr>
        </p:nvSpPr>
        <p:spPr>
          <a:xfrm>
            <a:off x="6172200" y="118586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8C9F887-8C64-4DCB-B28E-6E1DF757778F}"/>
              </a:ext>
            </a:extLst>
          </p:cNvPr>
          <p:cNvSpPr>
            <a:spLocks noGrp="1"/>
          </p:cNvSpPr>
          <p:nvPr>
            <p:ph sz="quarter" idx="4"/>
          </p:nvPr>
        </p:nvSpPr>
        <p:spPr>
          <a:xfrm>
            <a:off x="6172200" y="2106614"/>
            <a:ext cx="5183188" cy="40830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A80574B-0CB4-87BA-DB22-D700C1C3F77C}"/>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8" name="Footer Placeholder 7">
            <a:extLst>
              <a:ext uri="{FF2B5EF4-FFF2-40B4-BE49-F238E27FC236}">
                <a16:creationId xmlns:a16="http://schemas.microsoft.com/office/drawing/2014/main" id="{AE25FBD3-1201-6FF1-7DB2-0C1BCF545B8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88CB2EC7-5FD9-2FA0-683A-AD8C72519718}"/>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10" name="Straight Connector 9">
            <a:extLst>
              <a:ext uri="{FF2B5EF4-FFF2-40B4-BE49-F238E27FC236}">
                <a16:creationId xmlns:a16="http://schemas.microsoft.com/office/drawing/2014/main" id="{A473E797-D026-4CB2-8534-3B0913C54F89}"/>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19131516"/>
      </p:ext>
    </p:extLst>
  </p:cSld>
  <p:clrMapOvr>
    <a:masterClrMapping/>
  </p:clrMapOvr>
  <p:extLst>
    <p:ext uri="{DCECCB84-F9BA-43D5-87BE-67443E8EF086}">
      <p15:sldGuideLst xmlns:p15="http://schemas.microsoft.com/office/powerpoint/2012/main">
        <p15:guide id="1" orient="horz" pos="686"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99D4-8848-F972-1C0E-F10BA66AA61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F5EBD19-62F1-F1BF-AC51-601E53D1E274}"/>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4" name="Footer Placeholder 3">
            <a:extLst>
              <a:ext uri="{FF2B5EF4-FFF2-40B4-BE49-F238E27FC236}">
                <a16:creationId xmlns:a16="http://schemas.microsoft.com/office/drawing/2014/main" id="{35ED8C3C-D39A-BE1E-07F0-EF54F36A07A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7AD6F8-8AC6-6CD2-5354-1A46A6BA7BE5}"/>
              </a:ext>
            </a:extLst>
          </p:cNvPr>
          <p:cNvSpPr>
            <a:spLocks noGrp="1"/>
          </p:cNvSpPr>
          <p:nvPr>
            <p:ph type="sldNum" sz="quarter" idx="12"/>
          </p:nvPr>
        </p:nvSpPr>
        <p:spPr/>
        <p:txBody>
          <a:bodyPr/>
          <a:lstStyle/>
          <a:p>
            <a:fld id="{4A0E460F-6C90-364E-AA71-6C064F716047}" type="slidenum">
              <a:rPr lang="en-US" smtClean="0"/>
              <a:t>‹#›</a:t>
            </a:fld>
            <a:endParaRPr lang="en-US"/>
          </a:p>
        </p:txBody>
      </p:sp>
      <p:cxnSp>
        <p:nvCxnSpPr>
          <p:cNvPr id="6" name="Straight Connector 5">
            <a:extLst>
              <a:ext uri="{FF2B5EF4-FFF2-40B4-BE49-F238E27FC236}">
                <a16:creationId xmlns:a16="http://schemas.microsoft.com/office/drawing/2014/main" id="{359314A4-A951-54B1-6DC0-9279155E69F0}"/>
              </a:ext>
            </a:extLst>
          </p:cNvPr>
          <p:cNvCxnSpPr>
            <a:cxnSpLocks/>
          </p:cNvCxnSpPr>
          <p:nvPr userDrawn="1"/>
        </p:nvCxnSpPr>
        <p:spPr>
          <a:xfrm>
            <a:off x="838200" y="1051034"/>
            <a:ext cx="10515599" cy="0"/>
          </a:xfrm>
          <a:prstGeom prst="line">
            <a:avLst/>
          </a:prstGeom>
          <a:ln w="38100">
            <a:solidFill>
              <a:schemeClr val="tx2">
                <a:lumMod val="75000"/>
                <a:lumOff val="25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64472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C5340-B077-DB0D-007E-CD0A5C7535FB}"/>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3" name="Footer Placeholder 2">
            <a:extLst>
              <a:ext uri="{FF2B5EF4-FFF2-40B4-BE49-F238E27FC236}">
                <a16:creationId xmlns:a16="http://schemas.microsoft.com/office/drawing/2014/main" id="{30D155D4-9857-63AA-87E8-3CC8844F1E2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0F9E8CB-2417-E015-2FB0-C9195BA5AE7C}"/>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3007067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8499D-6259-0551-D7B7-4D086896510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A6BDB78-B8EB-1F34-CF06-72591BB639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954BAB9-265E-F658-A63A-6151364E89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90EDDCE-78E2-6748-CD30-181DB0BA8541}"/>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6" name="Footer Placeholder 5">
            <a:extLst>
              <a:ext uri="{FF2B5EF4-FFF2-40B4-BE49-F238E27FC236}">
                <a16:creationId xmlns:a16="http://schemas.microsoft.com/office/drawing/2014/main" id="{07B05094-5855-8E10-F87C-52C19E0913F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8419BE2-4579-CC5F-4847-6D7CC426B3FF}"/>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2552513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C0F20-0E83-10F5-6F59-CEB51D783D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0187EEE-B13A-FDB1-8A19-EE0D39E5D8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DE8C68-CB9B-1E1F-90E8-054F22E5F3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AF4CB60-6ABD-6C79-E4E1-707E2D1AC394}"/>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6" name="Footer Placeholder 5">
            <a:extLst>
              <a:ext uri="{FF2B5EF4-FFF2-40B4-BE49-F238E27FC236}">
                <a16:creationId xmlns:a16="http://schemas.microsoft.com/office/drawing/2014/main" id="{2ADE3309-AB33-CAB4-5AFA-DD95FBD8367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57686881-518F-E663-13FB-EAEA14A63AE7}"/>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3391772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0D06B-6099-7E14-DAC0-373B0E64354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20A64E-F565-5F45-4D8A-0F66C5C6F6F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6C64CE-CC06-33A3-A7B5-39280C0EE39A}"/>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08B13EAA-0C96-C90A-5023-5A6AE908444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73A4E51-A389-BAC7-6104-10F8BBF5E218}"/>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830170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167FAE-47FC-773A-D2CB-02DF3A13179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97915DE-C722-EBEB-B967-F3C2A848DF6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FF320F-F8B7-E5F3-A82C-29E730823A25}"/>
              </a:ext>
            </a:extLst>
          </p:cNvPr>
          <p:cNvSpPr>
            <a:spLocks noGrp="1"/>
          </p:cNvSpPr>
          <p:nvPr>
            <p:ph type="dt" sz="half" idx="10"/>
          </p:nvPr>
        </p:nvSpPr>
        <p:spPr>
          <a:xfrm>
            <a:off x="838200" y="6356350"/>
            <a:ext cx="2743200" cy="365125"/>
          </a:xfrm>
          <a:prstGeom prst="rect">
            <a:avLst/>
          </a:prstGeom>
        </p:spPr>
        <p:txBody>
          <a:bodyPr/>
          <a:lstStyle/>
          <a:p>
            <a:fld id="{CB937118-AA9C-D947-A395-0A8492468232}" type="datetimeFigureOut">
              <a:rPr lang="en-US" smtClean="0"/>
              <a:t>3/17/2026</a:t>
            </a:fld>
            <a:endParaRPr lang="en-US"/>
          </a:p>
        </p:txBody>
      </p:sp>
      <p:sp>
        <p:nvSpPr>
          <p:cNvPr id="5" name="Footer Placeholder 4">
            <a:extLst>
              <a:ext uri="{FF2B5EF4-FFF2-40B4-BE49-F238E27FC236}">
                <a16:creationId xmlns:a16="http://schemas.microsoft.com/office/drawing/2014/main" id="{EB893657-C9AF-31E5-1EAB-5E1D1A10749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4E3EB91-DA44-D3FB-B424-EC3DFBCAAAE2}"/>
              </a:ext>
            </a:extLst>
          </p:cNvPr>
          <p:cNvSpPr>
            <a:spLocks noGrp="1"/>
          </p:cNvSpPr>
          <p:nvPr>
            <p:ph type="sldNum" sz="quarter" idx="12"/>
          </p:nvPr>
        </p:nvSpPr>
        <p:spPr/>
        <p:txBody>
          <a:bodyPr/>
          <a:lstStyle/>
          <a:p>
            <a:fld id="{4A0E460F-6C90-364E-AA71-6C064F716047}" type="slidenum">
              <a:rPr lang="en-US" smtClean="0"/>
              <a:t>‹#›</a:t>
            </a:fld>
            <a:endParaRPr lang="en-US"/>
          </a:p>
        </p:txBody>
      </p:sp>
    </p:spTree>
    <p:extLst>
      <p:ext uri="{BB962C8B-B14F-4D97-AF65-F5344CB8AC3E}">
        <p14:creationId xmlns:p14="http://schemas.microsoft.com/office/powerpoint/2010/main" val="1085581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9612CC-667E-9C11-4B19-C671DA530CCC}"/>
              </a:ext>
            </a:extLst>
          </p:cNvPr>
          <p:cNvSpPr/>
          <p:nvPr userDrawn="1"/>
        </p:nvSpPr>
        <p:spPr>
          <a:xfrm>
            <a:off x="0" y="6172091"/>
            <a:ext cx="12192000" cy="685909"/>
          </a:xfrm>
          <a:prstGeom prst="rect">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4713DE2D-0400-0813-5E72-54083F428E1B}"/>
              </a:ext>
            </a:extLst>
          </p:cNvPr>
          <p:cNvSpPr>
            <a:spLocks noGrp="1"/>
          </p:cNvSpPr>
          <p:nvPr>
            <p:ph type="title"/>
          </p:nvPr>
        </p:nvSpPr>
        <p:spPr>
          <a:xfrm>
            <a:off x="838200" y="365125"/>
            <a:ext cx="10515600" cy="685909"/>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99997D46-78C0-A493-A22C-C3C12EF5890E}"/>
              </a:ext>
            </a:extLst>
          </p:cNvPr>
          <p:cNvSpPr>
            <a:spLocks noGrp="1"/>
          </p:cNvSpPr>
          <p:nvPr>
            <p:ph type="body" idx="1"/>
          </p:nvPr>
        </p:nvSpPr>
        <p:spPr>
          <a:xfrm>
            <a:off x="838200" y="1345324"/>
            <a:ext cx="10515600" cy="4831639"/>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BBF7E139-4F5B-88A1-2239-3EF25CB2C017}"/>
              </a:ext>
            </a:extLst>
          </p:cNvPr>
          <p:cNvSpPr>
            <a:spLocks noGrp="1"/>
          </p:cNvSpPr>
          <p:nvPr>
            <p:ph type="sldNum" sz="quarter" idx="4"/>
          </p:nvPr>
        </p:nvSpPr>
        <p:spPr>
          <a:xfrm>
            <a:off x="10699530" y="6356350"/>
            <a:ext cx="654269" cy="365125"/>
          </a:xfrm>
          <a:prstGeom prst="rect">
            <a:avLst/>
          </a:prstGeom>
        </p:spPr>
        <p:txBody>
          <a:bodyPr vert="horz" lIns="91440" tIns="45720" rIns="91440" bIns="45720" rtlCol="0" anchor="ctr"/>
          <a:lstStyle>
            <a:lvl1pPr algn="r">
              <a:defRPr sz="1200">
                <a:solidFill>
                  <a:schemeClr val="bg1"/>
                </a:solidFill>
              </a:defRPr>
            </a:lvl1pPr>
          </a:lstStyle>
          <a:p>
            <a:fld id="{4A0E460F-6C90-364E-AA71-6C064F716047}" type="slidenum">
              <a:rPr lang="en-US" smtClean="0"/>
              <a:pPr/>
              <a:t>‹#›</a:t>
            </a:fld>
            <a:endParaRPr lang="en-US" dirty="0"/>
          </a:p>
        </p:txBody>
      </p:sp>
      <p:sp>
        <p:nvSpPr>
          <p:cNvPr id="4" name="TextBox 3">
            <a:extLst>
              <a:ext uri="{FF2B5EF4-FFF2-40B4-BE49-F238E27FC236}">
                <a16:creationId xmlns:a16="http://schemas.microsoft.com/office/drawing/2014/main" id="{829F1497-A711-F89D-CB11-070E678365B8}"/>
              </a:ext>
            </a:extLst>
          </p:cNvPr>
          <p:cNvSpPr txBox="1"/>
          <p:nvPr userDrawn="1"/>
        </p:nvSpPr>
        <p:spPr>
          <a:xfrm rot="19689133">
            <a:off x="9081800" y="5185134"/>
            <a:ext cx="2804784" cy="369332"/>
          </a:xfrm>
          <a:prstGeom prst="rect">
            <a:avLst/>
          </a:prstGeom>
          <a:noFill/>
        </p:spPr>
        <p:txBody>
          <a:bodyPr wrap="square" rtlCol="0">
            <a:spAutoFit/>
          </a:bodyPr>
          <a:lstStyle/>
          <a:p>
            <a:r>
              <a:rPr lang="en-US" b="1" dirty="0">
                <a:solidFill>
                  <a:schemeClr val="bg2">
                    <a:lumMod val="75000"/>
                  </a:schemeClr>
                </a:solidFill>
              </a:rPr>
              <a:t>Mohammad Shahidullah</a:t>
            </a:r>
          </a:p>
        </p:txBody>
      </p:sp>
    </p:spTree>
    <p:extLst>
      <p:ext uri="{BB962C8B-B14F-4D97-AF65-F5344CB8AC3E}">
        <p14:creationId xmlns:p14="http://schemas.microsoft.com/office/powerpoint/2010/main" val="390992032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3200" b="1" kern="1200">
          <a:solidFill>
            <a:schemeClr val="tx2">
              <a:lumMod val="75000"/>
              <a:lumOff val="25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public.tableau.com/views/shahidullah_finpro_workbook/CountryWiseTransactionCount?:language=en-US&amp;:sid=&amp;:redirect=auth&amp;:display_count=n&amp;:origin=viz_share_link" TargetMode="External"/><Relationship Id="rId2" Type="http://schemas.openxmlformats.org/officeDocument/2006/relationships/hyperlink" Target="https://public.tableau.com/views/shahidullah_finpro_workbook/PerformanceAnalysis?:language=en-US&amp;:sid=&amp;:redirect=auth&amp;:display_count=n&amp;:origin=viz_share_link" TargetMode="External"/><Relationship Id="rId1" Type="http://schemas.openxmlformats.org/officeDocument/2006/relationships/slideLayout" Target="../slideLayouts/slideLayout2.xml"/><Relationship Id="rId4" Type="http://schemas.openxmlformats.org/officeDocument/2006/relationships/hyperlink" Target="https://public.tableau.com/views/shahidullah_finpro_workbook/Story3?:language=en-US&amp;:sid=&amp;:redirect=auth&amp;:display_count=n&amp;:origin=viz_share_lin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8A2CB-4C34-B1C3-BCA2-B7D7966EB811}"/>
              </a:ext>
            </a:extLst>
          </p:cNvPr>
          <p:cNvSpPr>
            <a:spLocks noGrp="1"/>
          </p:cNvSpPr>
          <p:nvPr>
            <p:ph type="ctrTitle"/>
          </p:nvPr>
        </p:nvSpPr>
        <p:spPr>
          <a:xfrm>
            <a:off x="6976534" y="1091319"/>
            <a:ext cx="4165600" cy="2387600"/>
          </a:xfrm>
        </p:spPr>
        <p:txBody>
          <a:bodyPr/>
          <a:lstStyle/>
          <a:p>
            <a:r>
              <a:rPr lang="en-US" dirty="0"/>
              <a:t>Finpro Bank</a:t>
            </a:r>
          </a:p>
        </p:txBody>
      </p:sp>
      <p:sp>
        <p:nvSpPr>
          <p:cNvPr id="3" name="Subtitle 2">
            <a:extLst>
              <a:ext uri="{FF2B5EF4-FFF2-40B4-BE49-F238E27FC236}">
                <a16:creationId xmlns:a16="http://schemas.microsoft.com/office/drawing/2014/main" id="{195C9D9B-29FB-BA59-D1D5-D7213551ADCF}"/>
              </a:ext>
            </a:extLst>
          </p:cNvPr>
          <p:cNvSpPr>
            <a:spLocks noGrp="1"/>
          </p:cNvSpPr>
          <p:nvPr>
            <p:ph type="subTitle" idx="1"/>
          </p:nvPr>
        </p:nvSpPr>
        <p:spPr>
          <a:xfrm>
            <a:off x="6328882" y="3635905"/>
            <a:ext cx="4813254" cy="1234046"/>
          </a:xfrm>
        </p:spPr>
        <p:txBody>
          <a:bodyPr>
            <a:normAutofit/>
          </a:bodyPr>
          <a:lstStyle/>
          <a:p>
            <a:r>
              <a:rPr lang="en-US" dirty="0"/>
              <a:t>Data Architecture, Implementation and Recommendations</a:t>
            </a:r>
            <a:br>
              <a:rPr lang="en-US" dirty="0"/>
            </a:br>
            <a:endParaRPr lang="en-US" dirty="0"/>
          </a:p>
        </p:txBody>
      </p:sp>
      <p:pic>
        <p:nvPicPr>
          <p:cNvPr id="1028" name="Picture 4" descr="Digital diagrams and graphs">
            <a:extLst>
              <a:ext uri="{FF2B5EF4-FFF2-40B4-BE49-F238E27FC236}">
                <a16:creationId xmlns:a16="http://schemas.microsoft.com/office/drawing/2014/main" id="{773423C6-7FDD-BCD0-407C-1EF070DF0F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661" b="19126"/>
          <a:stretch/>
        </p:blipFill>
        <p:spPr bwMode="auto">
          <a:xfrm>
            <a:off x="0" y="0"/>
            <a:ext cx="5527964" cy="6151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1476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E8F3C-0F2A-B403-B721-A29F768DE681}"/>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DD10FF7D-B4F0-95E2-FF88-09B02FCD8F72}"/>
              </a:ext>
            </a:extLst>
          </p:cNvPr>
          <p:cNvSpPr>
            <a:spLocks noGrp="1"/>
          </p:cNvSpPr>
          <p:nvPr>
            <p:ph idx="1"/>
          </p:nvPr>
        </p:nvSpPr>
        <p:spPr/>
        <p:txBody>
          <a:bodyPr/>
          <a:lstStyle/>
          <a:p>
            <a:r>
              <a:rPr lang="en-US" dirty="0"/>
              <a:t>Introduction</a:t>
            </a:r>
          </a:p>
          <a:p>
            <a:r>
              <a:rPr lang="en-IN" dirty="0"/>
              <a:t>Data acquisition and cleaning</a:t>
            </a:r>
          </a:p>
          <a:p>
            <a:r>
              <a:rPr lang="en-IN" dirty="0"/>
              <a:t>Database design and setup</a:t>
            </a:r>
          </a:p>
          <a:p>
            <a:r>
              <a:rPr lang="en-IN" dirty="0"/>
              <a:t>Evaluation and interpretation</a:t>
            </a:r>
          </a:p>
          <a:p>
            <a:r>
              <a:rPr lang="en-US" dirty="0"/>
              <a:t>Data integration and security </a:t>
            </a:r>
          </a:p>
          <a:p>
            <a:r>
              <a:rPr lang="en-IN" dirty="0"/>
              <a:t>Data reporting</a:t>
            </a:r>
          </a:p>
          <a:p>
            <a:r>
              <a:rPr lang="en-IN" dirty="0"/>
              <a:t>General handover documentation</a:t>
            </a:r>
          </a:p>
          <a:p>
            <a:r>
              <a:rPr lang="en-US" dirty="0"/>
              <a:t>Insights and recommendations</a:t>
            </a:r>
          </a:p>
          <a:p>
            <a:r>
              <a:rPr lang="en-US" dirty="0"/>
              <a:t>Summary</a:t>
            </a:r>
          </a:p>
          <a:p>
            <a:r>
              <a:rPr lang="en-US" dirty="0"/>
              <a:t>Appendix</a:t>
            </a:r>
          </a:p>
          <a:p>
            <a:endParaRPr lang="en-IN" dirty="0"/>
          </a:p>
        </p:txBody>
      </p:sp>
    </p:spTree>
    <p:extLst>
      <p:ext uri="{BB962C8B-B14F-4D97-AF65-F5344CB8AC3E}">
        <p14:creationId xmlns:p14="http://schemas.microsoft.com/office/powerpoint/2010/main" val="3613344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576945"/>
            <a:ext cx="10515599" cy="1014128"/>
          </a:xfrm>
        </p:spPr>
        <p:txBody>
          <a:bodyPr/>
          <a:lstStyle/>
          <a:p>
            <a:pPr algn="ctr"/>
            <a:r>
              <a:rPr lang="en-US" dirty="0"/>
              <a:t>Introduction</a:t>
            </a:r>
          </a:p>
        </p:txBody>
      </p:sp>
    </p:spTree>
    <p:extLst>
      <p:ext uri="{BB962C8B-B14F-4D97-AF65-F5344CB8AC3E}">
        <p14:creationId xmlns:p14="http://schemas.microsoft.com/office/powerpoint/2010/main" val="1627446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38C0-18E6-6141-073C-13025C4C8D1E}"/>
              </a:ext>
            </a:extLst>
          </p:cNvPr>
          <p:cNvSpPr>
            <a:spLocks noGrp="1"/>
          </p:cNvSpPr>
          <p:nvPr>
            <p:ph type="title"/>
          </p:nvPr>
        </p:nvSpPr>
        <p:spPr/>
        <p:txBody>
          <a:bodyPr/>
          <a:lstStyle/>
          <a:p>
            <a:r>
              <a:rPr lang="en-IN" dirty="0"/>
              <a:t>Purpose of the presentation</a:t>
            </a:r>
          </a:p>
        </p:txBody>
      </p:sp>
      <p:sp>
        <p:nvSpPr>
          <p:cNvPr id="3" name="Content Placeholder 2">
            <a:extLst>
              <a:ext uri="{FF2B5EF4-FFF2-40B4-BE49-F238E27FC236}">
                <a16:creationId xmlns:a16="http://schemas.microsoft.com/office/drawing/2014/main" id="{A2D7AA8D-39C3-B36F-483E-A19161CFADF4}"/>
              </a:ext>
            </a:extLst>
          </p:cNvPr>
          <p:cNvSpPr>
            <a:spLocks noGrp="1"/>
          </p:cNvSpPr>
          <p:nvPr>
            <p:ph idx="1"/>
          </p:nvPr>
        </p:nvSpPr>
        <p:spPr/>
        <p:txBody>
          <a:bodyPr/>
          <a:lstStyle/>
          <a:p>
            <a:r>
              <a:rPr lang="en-US" sz="2200" dirty="0"/>
              <a:t>Present a complete, structured handover of the </a:t>
            </a:r>
            <a:r>
              <a:rPr lang="en-US" sz="2200" dirty="0" err="1"/>
              <a:t>FinPro</a:t>
            </a:r>
            <a:r>
              <a:rPr lang="en-US" sz="2200" dirty="0"/>
              <a:t> Bank data management system I designed and implemented.</a:t>
            </a:r>
          </a:p>
          <a:p>
            <a:r>
              <a:rPr lang="en-US" sz="2200" dirty="0"/>
              <a:t>Document the full lifecycle of activities—from data acquisition and cleaning to reporting and dashboard development.</a:t>
            </a:r>
          </a:p>
          <a:p>
            <a:r>
              <a:rPr lang="en-US" sz="2200" dirty="0"/>
              <a:t>Ensure the incoming Data Manager can seamlessly maintain, troubleshoot, and enhance the existing data architecture.</a:t>
            </a:r>
          </a:p>
          <a:p>
            <a:r>
              <a:rPr lang="en-US" sz="2200" dirty="0"/>
              <a:t>Provide clear, human‑centered explanations, supported by screenshots, to make the transition smooth and efficient.</a:t>
            </a:r>
          </a:p>
          <a:p>
            <a:pPr marL="0" indent="0">
              <a:buNone/>
            </a:pPr>
            <a:endParaRPr lang="en-IN" dirty="0"/>
          </a:p>
        </p:txBody>
      </p:sp>
    </p:spTree>
    <p:extLst>
      <p:ext uri="{BB962C8B-B14F-4D97-AF65-F5344CB8AC3E}">
        <p14:creationId xmlns:p14="http://schemas.microsoft.com/office/powerpoint/2010/main" val="368428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38C0-18E6-6141-073C-13025C4C8D1E}"/>
              </a:ext>
            </a:extLst>
          </p:cNvPr>
          <p:cNvSpPr>
            <a:spLocks noGrp="1"/>
          </p:cNvSpPr>
          <p:nvPr>
            <p:ph type="title"/>
          </p:nvPr>
        </p:nvSpPr>
        <p:spPr/>
        <p:txBody>
          <a:bodyPr/>
          <a:lstStyle/>
          <a:p>
            <a:r>
              <a:rPr lang="en-IN" dirty="0"/>
              <a:t>Summary of work done on the project</a:t>
            </a:r>
          </a:p>
        </p:txBody>
      </p:sp>
      <p:sp>
        <p:nvSpPr>
          <p:cNvPr id="3" name="Content Placeholder 2">
            <a:extLst>
              <a:ext uri="{FF2B5EF4-FFF2-40B4-BE49-F238E27FC236}">
                <a16:creationId xmlns:a16="http://schemas.microsoft.com/office/drawing/2014/main" id="{A2D7AA8D-39C3-B36F-483E-A19161CFADF4}"/>
              </a:ext>
            </a:extLst>
          </p:cNvPr>
          <p:cNvSpPr>
            <a:spLocks noGrp="1"/>
          </p:cNvSpPr>
          <p:nvPr>
            <p:ph idx="1"/>
          </p:nvPr>
        </p:nvSpPr>
        <p:spPr/>
        <p:txBody>
          <a:bodyPr/>
          <a:lstStyle/>
          <a:p>
            <a:r>
              <a:rPr lang="en-US" sz="2200" dirty="0"/>
              <a:t>Performed end‑to‑end data acquisition, cleaning, validation, and transformation across multiple banking datasets.</a:t>
            </a:r>
          </a:p>
          <a:p>
            <a:r>
              <a:rPr lang="en-US" sz="2200" dirty="0"/>
              <a:t>Designed and implemented a relational database schema, including tables, constraints, indexing, and optimized storage.</a:t>
            </a:r>
          </a:p>
          <a:p>
            <a:r>
              <a:rPr lang="en-US" sz="2200" dirty="0"/>
              <a:t>Built structured ETL workflows to integrate customer, branch, transaction, and geographic data into a unified system.</a:t>
            </a:r>
          </a:p>
          <a:p>
            <a:r>
              <a:rPr lang="en-US" sz="2200" dirty="0"/>
              <a:t>Applied security and access controls, including user roles, privilege segmentation, and encryption of sensitive fields.</a:t>
            </a:r>
          </a:p>
          <a:p>
            <a:r>
              <a:rPr lang="en-US" sz="2200" dirty="0"/>
              <a:t>Developed interactive Tableau worksheets, dashboards, and storylines for branch‑level, country‑level, and overall performance analysis.</a:t>
            </a:r>
          </a:p>
          <a:p>
            <a:r>
              <a:rPr lang="en-US" sz="2200" dirty="0"/>
              <a:t>Prepared comprehensive handover documentation, ensuring clarity, maintainability, and continuity for the next Data Manager.</a:t>
            </a:r>
          </a:p>
        </p:txBody>
      </p:sp>
    </p:spTree>
    <p:extLst>
      <p:ext uri="{BB962C8B-B14F-4D97-AF65-F5344CB8AC3E}">
        <p14:creationId xmlns:p14="http://schemas.microsoft.com/office/powerpoint/2010/main" val="847424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340427" y="2133601"/>
            <a:ext cx="9511145" cy="1665291"/>
          </a:xfrm>
        </p:spPr>
        <p:txBody>
          <a:bodyPr>
            <a:normAutofit fontScale="90000"/>
          </a:bodyPr>
          <a:lstStyle/>
          <a:p>
            <a:pPr algn="ctr"/>
            <a:r>
              <a:rPr lang="en-US" dirty="0"/>
              <a:t>Data acquisition and cleaning </a:t>
            </a:r>
          </a:p>
        </p:txBody>
      </p:sp>
    </p:spTree>
    <p:extLst>
      <p:ext uri="{BB962C8B-B14F-4D97-AF65-F5344CB8AC3E}">
        <p14:creationId xmlns:p14="http://schemas.microsoft.com/office/powerpoint/2010/main" val="3133962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E122D-71BC-E1E9-1A98-FC2FE43BE441}"/>
              </a:ext>
            </a:extLst>
          </p:cNvPr>
          <p:cNvSpPr>
            <a:spLocks noGrp="1"/>
          </p:cNvSpPr>
          <p:nvPr>
            <p:ph type="title"/>
          </p:nvPr>
        </p:nvSpPr>
        <p:spPr/>
        <p:txBody>
          <a:bodyPr vert="horz" lIns="91440" tIns="45720" rIns="91440" bIns="45720" rtlCol="0" anchor="ctr">
            <a:normAutofit/>
          </a:bodyPr>
          <a:lstStyle/>
          <a:p>
            <a:r>
              <a:rPr lang="en-IN" dirty="0"/>
              <a:t>Data cleaning documentation (1 of 3)</a:t>
            </a:r>
          </a:p>
        </p:txBody>
      </p:sp>
      <p:sp>
        <p:nvSpPr>
          <p:cNvPr id="3" name="Content Placeholder 2">
            <a:extLst>
              <a:ext uri="{FF2B5EF4-FFF2-40B4-BE49-F238E27FC236}">
                <a16:creationId xmlns:a16="http://schemas.microsoft.com/office/drawing/2014/main" id="{601C0206-00EE-253C-1A58-2DFA775555CE}"/>
              </a:ext>
            </a:extLst>
          </p:cNvPr>
          <p:cNvSpPr>
            <a:spLocks noGrp="1"/>
          </p:cNvSpPr>
          <p:nvPr>
            <p:ph idx="1"/>
          </p:nvPr>
        </p:nvSpPr>
        <p:spPr/>
        <p:txBody>
          <a:bodyPr>
            <a:normAutofit fontScale="92500" lnSpcReduction="20000"/>
          </a:bodyPr>
          <a:lstStyle/>
          <a:p>
            <a:pPr marL="0" indent="0">
              <a:buNone/>
            </a:pPr>
            <a:r>
              <a:rPr lang="en-US" b="1" dirty="0"/>
              <a:t>Data Sources Used</a:t>
            </a:r>
            <a:endParaRPr lang="en-US" sz="2000" b="1" dirty="0"/>
          </a:p>
          <a:p>
            <a:pPr fontAlgn="base"/>
            <a:r>
              <a:rPr lang="en-US" b="1" dirty="0"/>
              <a:t>Customer_Data.csv</a:t>
            </a:r>
            <a:br>
              <a:rPr lang="en-US" b="1" dirty="0"/>
            </a:br>
            <a:r>
              <a:rPr lang="en-US" dirty="0"/>
              <a:t>Contains customer demographics, age, gender, branch association, and account details.</a:t>
            </a:r>
          </a:p>
          <a:p>
            <a:pPr fontAlgn="base"/>
            <a:r>
              <a:rPr lang="en-US" b="1" dirty="0"/>
              <a:t>Transaction_Data.csv</a:t>
            </a:r>
            <a:br>
              <a:rPr lang="en-US" b="1" dirty="0"/>
            </a:br>
            <a:r>
              <a:rPr lang="en-US" dirty="0"/>
              <a:t>Includes all financial transactions with timestamps, amounts, transaction types, and customer IDs.</a:t>
            </a:r>
          </a:p>
          <a:p>
            <a:pPr fontAlgn="base"/>
            <a:r>
              <a:rPr lang="en-US" b="1" dirty="0"/>
              <a:t>Branch_Data.csv</a:t>
            </a:r>
            <a:br>
              <a:rPr lang="en-US" b="1" dirty="0"/>
            </a:br>
            <a:r>
              <a:rPr lang="en-US" dirty="0"/>
              <a:t>Provides branch codes, branch names, and geographic attributes.</a:t>
            </a:r>
          </a:p>
          <a:p>
            <a:pPr fontAlgn="base"/>
            <a:r>
              <a:rPr lang="en-US" b="1" dirty="0"/>
              <a:t>US_Cities.csv / Country Mapping File</a:t>
            </a:r>
            <a:br>
              <a:rPr lang="en-US" b="1" dirty="0"/>
            </a:br>
            <a:r>
              <a:rPr lang="en-US" dirty="0"/>
              <a:t>Used for geolocation, country‑level mapping, and visualization enrichment.</a:t>
            </a:r>
          </a:p>
          <a:p>
            <a:pPr marL="0" indent="0">
              <a:buNone/>
            </a:pPr>
            <a:endParaRPr lang="en-US" b="1" dirty="0"/>
          </a:p>
          <a:p>
            <a:pPr marL="0" indent="0">
              <a:buNone/>
            </a:pPr>
            <a:r>
              <a:rPr lang="en-US" b="1" dirty="0"/>
              <a:t>Purpose of These Sources</a:t>
            </a:r>
            <a:endParaRPr lang="en-US" sz="2000" b="1" dirty="0"/>
          </a:p>
          <a:p>
            <a:r>
              <a:rPr lang="en-US" dirty="0"/>
              <a:t>Together, these datasets form the foundation for customer analytics, branch performance evaluation, and country‑wise transaction insights.</a:t>
            </a:r>
            <a:br>
              <a:rPr lang="en-US" sz="2000" dirty="0"/>
            </a:br>
            <a:endParaRPr lang="en-IN" dirty="0"/>
          </a:p>
          <a:p>
            <a:endParaRPr lang="en-IN" dirty="0"/>
          </a:p>
        </p:txBody>
      </p:sp>
    </p:spTree>
    <p:extLst>
      <p:ext uri="{BB962C8B-B14F-4D97-AF65-F5344CB8AC3E}">
        <p14:creationId xmlns:p14="http://schemas.microsoft.com/office/powerpoint/2010/main" val="202415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EEF1-78B5-32C7-D397-5CD4CE60A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C0968-B620-5DEB-582C-45526F4818FA}"/>
              </a:ext>
            </a:extLst>
          </p:cNvPr>
          <p:cNvSpPr>
            <a:spLocks noGrp="1"/>
          </p:cNvSpPr>
          <p:nvPr>
            <p:ph type="title"/>
          </p:nvPr>
        </p:nvSpPr>
        <p:spPr/>
        <p:txBody>
          <a:bodyPr vert="horz" lIns="91440" tIns="45720" rIns="91440" bIns="45720" rtlCol="0" anchor="ctr">
            <a:normAutofit/>
          </a:bodyPr>
          <a:lstStyle/>
          <a:p>
            <a:r>
              <a:rPr lang="en-IN" dirty="0"/>
              <a:t>Data cleaning documentation (2 of 3)</a:t>
            </a:r>
          </a:p>
        </p:txBody>
      </p:sp>
      <p:sp>
        <p:nvSpPr>
          <p:cNvPr id="3" name="Content Placeholder 2">
            <a:extLst>
              <a:ext uri="{FF2B5EF4-FFF2-40B4-BE49-F238E27FC236}">
                <a16:creationId xmlns:a16="http://schemas.microsoft.com/office/drawing/2014/main" id="{76B09F0D-5DF7-97C8-5C8F-4EB9BEB1B265}"/>
              </a:ext>
            </a:extLst>
          </p:cNvPr>
          <p:cNvSpPr>
            <a:spLocks noGrp="1"/>
          </p:cNvSpPr>
          <p:nvPr>
            <p:ph idx="1"/>
          </p:nvPr>
        </p:nvSpPr>
        <p:spPr>
          <a:xfrm>
            <a:off x="838200" y="1148080"/>
            <a:ext cx="10515600" cy="5028883"/>
          </a:xfrm>
        </p:spPr>
        <p:txBody>
          <a:bodyPr>
            <a:noAutofit/>
          </a:bodyPr>
          <a:lstStyle/>
          <a:p>
            <a:pPr marL="0" indent="0">
              <a:buNone/>
            </a:pPr>
            <a:r>
              <a:rPr lang="en-US" sz="2200" dirty="0"/>
              <a:t>Data Cleaning Steps Implemented and Data Cleaning Workflow</a:t>
            </a:r>
          </a:p>
          <a:p>
            <a:pPr marL="0" indent="0">
              <a:buNone/>
            </a:pPr>
            <a:endParaRPr lang="en-US" sz="2200" dirty="0"/>
          </a:p>
          <a:p>
            <a:pPr fontAlgn="base"/>
            <a:r>
              <a:rPr lang="en-US" sz="2200" b="1" dirty="0"/>
              <a:t>Handled Missing Values</a:t>
            </a:r>
            <a:endParaRPr lang="en-US" sz="2200" dirty="0"/>
          </a:p>
          <a:p>
            <a:pPr lvl="1" fontAlgn="base"/>
            <a:r>
              <a:rPr lang="en-US" sz="2200" dirty="0"/>
              <a:t>Filled missing branch codes using customer‑branch mapping.</a:t>
            </a:r>
          </a:p>
          <a:p>
            <a:pPr lvl="1" fontAlgn="base"/>
            <a:r>
              <a:rPr lang="en-US" sz="2200" dirty="0"/>
              <a:t>Removed rows with critical missing identifiers (</a:t>
            </a:r>
            <a:r>
              <a:rPr lang="en-US" sz="2200" dirty="0" err="1"/>
              <a:t>CustomerID</a:t>
            </a:r>
            <a:r>
              <a:rPr lang="en-US" sz="2200" dirty="0"/>
              <a:t>, </a:t>
            </a:r>
            <a:r>
              <a:rPr lang="en-US" sz="2200" dirty="0" err="1"/>
              <a:t>TransactionID</a:t>
            </a:r>
            <a:r>
              <a:rPr lang="en-US" sz="2200" dirty="0"/>
              <a:t>).</a:t>
            </a:r>
          </a:p>
          <a:p>
            <a:pPr marL="457200" lvl="1" indent="0" fontAlgn="base">
              <a:buNone/>
            </a:pPr>
            <a:endParaRPr lang="en-US" sz="2200" dirty="0"/>
          </a:p>
          <a:p>
            <a:pPr fontAlgn="base"/>
            <a:r>
              <a:rPr lang="en-US" sz="2200" b="1" dirty="0"/>
              <a:t>Removed Duplicates</a:t>
            </a:r>
            <a:endParaRPr lang="en-US" sz="2200" dirty="0"/>
          </a:p>
          <a:p>
            <a:pPr lvl="1" fontAlgn="base"/>
            <a:r>
              <a:rPr lang="en-US" sz="2200" dirty="0"/>
              <a:t>Identified duplicate customer records using </a:t>
            </a:r>
            <a:r>
              <a:rPr lang="en-US" sz="2200" dirty="0" err="1"/>
              <a:t>CustomerID</a:t>
            </a:r>
            <a:r>
              <a:rPr lang="en-US" sz="2200" dirty="0"/>
              <a:t>.</a:t>
            </a:r>
          </a:p>
          <a:p>
            <a:pPr lvl="1" fontAlgn="base"/>
            <a:r>
              <a:rPr lang="en-US" sz="2200" dirty="0"/>
              <a:t>Removed repeated transaction entries based on </a:t>
            </a:r>
            <a:r>
              <a:rPr lang="en-US" sz="2200" dirty="0" err="1"/>
              <a:t>TransactionID</a:t>
            </a:r>
            <a:r>
              <a:rPr lang="en-US" sz="2200" dirty="0"/>
              <a:t> + Timestamp.</a:t>
            </a:r>
          </a:p>
        </p:txBody>
      </p:sp>
    </p:spTree>
    <p:extLst>
      <p:ext uri="{BB962C8B-B14F-4D97-AF65-F5344CB8AC3E}">
        <p14:creationId xmlns:p14="http://schemas.microsoft.com/office/powerpoint/2010/main" val="86167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2A9D5-2781-771C-FB2A-6D2824A11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C9405-ADD1-67C1-4F59-B131CA550326}"/>
              </a:ext>
            </a:extLst>
          </p:cNvPr>
          <p:cNvSpPr>
            <a:spLocks noGrp="1"/>
          </p:cNvSpPr>
          <p:nvPr>
            <p:ph type="title"/>
          </p:nvPr>
        </p:nvSpPr>
        <p:spPr/>
        <p:txBody>
          <a:bodyPr vert="horz" lIns="91440" tIns="45720" rIns="91440" bIns="45720" rtlCol="0" anchor="ctr">
            <a:normAutofit/>
          </a:bodyPr>
          <a:lstStyle/>
          <a:p>
            <a:r>
              <a:rPr lang="en-IN" dirty="0"/>
              <a:t>Data cleaning documentation (3 of 3)</a:t>
            </a:r>
          </a:p>
        </p:txBody>
      </p:sp>
      <p:sp>
        <p:nvSpPr>
          <p:cNvPr id="3" name="Content Placeholder 2">
            <a:extLst>
              <a:ext uri="{FF2B5EF4-FFF2-40B4-BE49-F238E27FC236}">
                <a16:creationId xmlns:a16="http://schemas.microsoft.com/office/drawing/2014/main" id="{B5AB276F-DBCB-1127-6AAC-70689E910386}"/>
              </a:ext>
            </a:extLst>
          </p:cNvPr>
          <p:cNvSpPr>
            <a:spLocks noGrp="1"/>
          </p:cNvSpPr>
          <p:nvPr>
            <p:ph idx="1"/>
          </p:nvPr>
        </p:nvSpPr>
        <p:spPr/>
        <p:txBody>
          <a:bodyPr/>
          <a:lstStyle/>
          <a:p>
            <a:pPr fontAlgn="base"/>
            <a:r>
              <a:rPr lang="en-US" sz="2200" b="1" dirty="0"/>
              <a:t>Standardized Data Formats</a:t>
            </a:r>
            <a:endParaRPr lang="en-US" sz="2200" dirty="0"/>
          </a:p>
          <a:p>
            <a:pPr lvl="1" fontAlgn="base"/>
            <a:r>
              <a:rPr lang="en-US" sz="2200" dirty="0"/>
              <a:t>Converted dates to ISO format.</a:t>
            </a:r>
          </a:p>
          <a:p>
            <a:pPr lvl="1" fontAlgn="base"/>
            <a:r>
              <a:rPr lang="en-US" sz="2200" dirty="0"/>
              <a:t>Normalized text fields (branch names, country names).</a:t>
            </a:r>
          </a:p>
          <a:p>
            <a:pPr lvl="1" fontAlgn="base"/>
            <a:r>
              <a:rPr lang="en-US" sz="2200" dirty="0"/>
              <a:t>Standardized currency values.</a:t>
            </a:r>
          </a:p>
          <a:p>
            <a:pPr marL="457200" lvl="1" indent="0" fontAlgn="base">
              <a:buNone/>
            </a:pPr>
            <a:endParaRPr lang="en-US" sz="2200" dirty="0"/>
          </a:p>
          <a:p>
            <a:pPr fontAlgn="base"/>
            <a:r>
              <a:rPr lang="en-US" sz="2200" b="1" dirty="0"/>
              <a:t>Outlier Treatment</a:t>
            </a:r>
            <a:endParaRPr lang="en-US" sz="2200" dirty="0"/>
          </a:p>
          <a:p>
            <a:pPr lvl="1" fontAlgn="base"/>
            <a:r>
              <a:rPr lang="en-US" sz="2200" dirty="0"/>
              <a:t>Validated negative balances and corrected data entry errors.</a:t>
            </a:r>
            <a:endParaRPr lang="en-IN" sz="2200" dirty="0"/>
          </a:p>
          <a:p>
            <a:pPr marL="0" indent="0">
              <a:buNone/>
            </a:pPr>
            <a:endParaRPr lang="en-IN" dirty="0"/>
          </a:p>
          <a:p>
            <a:endParaRPr lang="en-IN" dirty="0"/>
          </a:p>
        </p:txBody>
      </p:sp>
    </p:spTree>
    <p:extLst>
      <p:ext uri="{BB962C8B-B14F-4D97-AF65-F5344CB8AC3E}">
        <p14:creationId xmlns:p14="http://schemas.microsoft.com/office/powerpoint/2010/main" val="1612933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2A9D5-2781-771C-FB2A-6D2824A11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C9405-ADD1-67C1-4F59-B131CA550326}"/>
              </a:ext>
            </a:extLst>
          </p:cNvPr>
          <p:cNvSpPr>
            <a:spLocks noGrp="1"/>
          </p:cNvSpPr>
          <p:nvPr>
            <p:ph type="title"/>
          </p:nvPr>
        </p:nvSpPr>
        <p:spPr/>
        <p:txBody>
          <a:bodyPr vert="horz" lIns="91440" tIns="45720" rIns="91440" bIns="45720" rtlCol="0" anchor="ctr">
            <a:normAutofit/>
          </a:bodyPr>
          <a:lstStyle/>
          <a:p>
            <a:r>
              <a:rPr lang="en-IN" dirty="0"/>
              <a:t>Analysis and visualization using MS Excel (1 of 2)</a:t>
            </a:r>
          </a:p>
        </p:txBody>
      </p:sp>
      <p:sp>
        <p:nvSpPr>
          <p:cNvPr id="3" name="Content Placeholder 2">
            <a:extLst>
              <a:ext uri="{FF2B5EF4-FFF2-40B4-BE49-F238E27FC236}">
                <a16:creationId xmlns:a16="http://schemas.microsoft.com/office/drawing/2014/main" id="{B5AB276F-DBCB-1127-6AAC-70689E910386}"/>
              </a:ext>
            </a:extLst>
          </p:cNvPr>
          <p:cNvSpPr>
            <a:spLocks noGrp="1"/>
          </p:cNvSpPr>
          <p:nvPr>
            <p:ph idx="1"/>
          </p:nvPr>
        </p:nvSpPr>
        <p:spPr/>
        <p:txBody>
          <a:bodyPr>
            <a:normAutofit/>
          </a:bodyPr>
          <a:lstStyle/>
          <a:p>
            <a:pPr rtl="0">
              <a:spcBef>
                <a:spcPts val="1400"/>
              </a:spcBef>
              <a:spcAft>
                <a:spcPts val="400"/>
              </a:spcAft>
              <a:buNone/>
            </a:pPr>
            <a:r>
              <a:rPr lang="en-US" sz="2200" b="1" i="0" u="none" strike="noStrike" dirty="0">
                <a:solidFill>
                  <a:srgbClr val="000000"/>
                </a:solidFill>
                <a:effectLst/>
                <a:latin typeface="Arial" panose="020B0604020202020204" pitchFamily="34" charset="0"/>
              </a:rPr>
              <a:t>Excel Formulas Used</a:t>
            </a:r>
            <a:endParaRPr lang="en-US" sz="2200" b="1" dirty="0">
              <a:effectLst/>
            </a:endParaRPr>
          </a:p>
          <a:p>
            <a:pPr rtl="0" fontAlgn="base">
              <a:spcBef>
                <a:spcPts val="1200"/>
              </a:spcBef>
              <a:buFont typeface="Arial" panose="020B0604020202020204" pitchFamily="34" charset="0"/>
              <a:buChar char="•"/>
            </a:pPr>
            <a:r>
              <a:rPr lang="en-US" sz="2200" i="0" u="none" strike="noStrike" dirty="0">
                <a:solidFill>
                  <a:srgbClr val="000000"/>
                </a:solidFill>
                <a:effectLst/>
                <a:latin typeface="Arial" panose="020B0604020202020204" pitchFamily="34" charset="0"/>
              </a:rPr>
              <a:t>Duplicate Detection:</a:t>
            </a:r>
            <a:br>
              <a:rPr lang="en-US" sz="1800" b="1" i="0" u="none" strike="noStrike" dirty="0">
                <a:solidFill>
                  <a:srgbClr val="000000"/>
                </a:solidFill>
                <a:effectLst/>
                <a:latin typeface="Arial" panose="020B0604020202020204" pitchFamily="34" charset="0"/>
              </a:rPr>
            </a:br>
            <a:r>
              <a:rPr lang="en-US" sz="1800" b="0" i="0" u="none" strike="noStrike" dirty="0">
                <a:solidFill>
                  <a:srgbClr val="188038"/>
                </a:solidFill>
                <a:effectLst/>
                <a:latin typeface="Roboto Mono" panose="00000009000000000000" pitchFamily="49" charset="0"/>
              </a:rPr>
              <a:t>=COUNTIF(A:A, A2)</a:t>
            </a:r>
            <a:endParaRPr lang="en-US" sz="1800" b="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2200" i="0" u="none" strike="noStrike" dirty="0">
                <a:solidFill>
                  <a:srgbClr val="000000"/>
                </a:solidFill>
                <a:effectLst/>
                <a:latin typeface="Arial" panose="020B0604020202020204" pitchFamily="34" charset="0"/>
              </a:rPr>
              <a:t>Missing Value Checks:</a:t>
            </a:r>
            <a:br>
              <a:rPr lang="en-US" sz="1800" b="1" i="0" u="none" strike="noStrike" dirty="0">
                <a:solidFill>
                  <a:srgbClr val="000000"/>
                </a:solidFill>
                <a:effectLst/>
                <a:latin typeface="Arial" panose="020B0604020202020204" pitchFamily="34" charset="0"/>
              </a:rPr>
            </a:br>
            <a:r>
              <a:rPr lang="en-US" sz="1800" b="0" i="0" u="none" strike="noStrike" dirty="0">
                <a:solidFill>
                  <a:srgbClr val="188038"/>
                </a:solidFill>
                <a:effectLst/>
                <a:latin typeface="Roboto Mono" panose="00000009000000000000" pitchFamily="49" charset="0"/>
              </a:rPr>
              <a:t>=IF(ISBLANK(A2), "Missing", "OK")</a:t>
            </a:r>
          </a:p>
          <a:p>
            <a:pPr rtl="0" fontAlgn="base">
              <a:buFont typeface="Arial" panose="020B0604020202020204" pitchFamily="34" charset="0"/>
              <a:buChar char="•"/>
            </a:pPr>
            <a:r>
              <a:rPr lang="en-US" sz="2200" i="0" u="none" strike="noStrike" dirty="0">
                <a:solidFill>
                  <a:srgbClr val="000000"/>
                </a:solidFill>
                <a:effectLst/>
                <a:latin typeface="Arial" panose="020B0604020202020204" pitchFamily="34" charset="0"/>
              </a:rPr>
              <a:t>Age Calculation from Date of Birth:</a:t>
            </a:r>
            <a:br>
              <a:rPr lang="en-US" sz="1800" b="1" i="0" u="none" strike="noStrike" dirty="0">
                <a:solidFill>
                  <a:srgbClr val="000000"/>
                </a:solidFill>
                <a:effectLst/>
                <a:latin typeface="Arial" panose="020B0604020202020204" pitchFamily="34" charset="0"/>
              </a:rPr>
            </a:br>
            <a:r>
              <a:rPr lang="en-US" sz="1800" b="0" i="0" u="none" strike="noStrike" dirty="0">
                <a:solidFill>
                  <a:srgbClr val="188038"/>
                </a:solidFill>
                <a:effectLst/>
                <a:latin typeface="Roboto Mono" panose="00000009000000000000" pitchFamily="49" charset="0"/>
              </a:rPr>
              <a:t>=DATEDIF([@DateOfBirth], TODAY(), "Y")</a:t>
            </a:r>
          </a:p>
          <a:p>
            <a:pPr marL="228600" marR="0" lvl="0" indent="-228600" algn="l" defTabSz="914400" rtl="0" eaLnBrk="1" fontAlgn="base" latinLnBrk="0" hangingPunct="1">
              <a:lnSpc>
                <a:spcPct val="90000"/>
              </a:lnSpc>
              <a:spcBef>
                <a:spcPts val="1000"/>
              </a:spcBef>
              <a:spcAft>
                <a:spcPts val="0"/>
              </a:spcAft>
              <a:buClrTx/>
              <a:buSzTx/>
              <a:buFont typeface="Arial" panose="020B0604020202020204" pitchFamily="34" charset="0"/>
              <a:buChar char="•"/>
              <a:tabLst/>
              <a:defRPr/>
            </a:pPr>
            <a:r>
              <a:rPr lang="en-US" sz="2200" dirty="0">
                <a:solidFill>
                  <a:srgbClr val="000000"/>
                </a:solidFill>
              </a:rPr>
              <a:t>For new column </a:t>
            </a:r>
            <a:r>
              <a:rPr lang="en-US" sz="2200" dirty="0" err="1">
                <a:solidFill>
                  <a:srgbClr val="000000"/>
                </a:solidFill>
              </a:rPr>
              <a:t>TransactionMonth</a:t>
            </a:r>
            <a:r>
              <a:rPr lang="en-US" sz="2200" dirty="0">
                <a:solidFill>
                  <a:srgbClr val="000000"/>
                </a:solidFill>
              </a:rPr>
              <a:t>:</a:t>
            </a:r>
            <a:br>
              <a:rPr lang="en-US" b="1" dirty="0">
                <a:solidFill>
                  <a:srgbClr val="000000"/>
                </a:solidFill>
              </a:rPr>
            </a:br>
            <a:r>
              <a:rPr kumimoji="0" lang="en-US" sz="1800" b="0" i="0" u="none" strike="noStrike" kern="1200" cap="none" spc="0" normalizeH="0" baseline="0" noProof="0" dirty="0">
                <a:ln>
                  <a:noFill/>
                </a:ln>
                <a:solidFill>
                  <a:srgbClr val="188038"/>
                </a:solidFill>
                <a:effectLst/>
                <a:uLnTx/>
                <a:uFillTx/>
                <a:latin typeface="Roboto Mono" panose="00000009000000000000" pitchFamily="49" charset="0"/>
                <a:ea typeface="+mn-ea"/>
                <a:cs typeface="Arial" panose="020B0604020202020204" pitchFamily="34" charset="0"/>
              </a:rPr>
              <a:t>=TEXT([@TransactionDate], "MMMM")</a:t>
            </a:r>
            <a:endParaRPr lang="en-US" sz="1800" b="1" i="0" u="none" strike="noStrike" dirty="0">
              <a:solidFill>
                <a:srgbClr val="000000"/>
              </a:solidFill>
              <a:effectLst/>
              <a:latin typeface="Arial" panose="020B0604020202020204" pitchFamily="34" charset="0"/>
            </a:endParaRPr>
          </a:p>
          <a:p>
            <a:pPr marL="0" indent="0" fontAlgn="base">
              <a:buNone/>
            </a:pPr>
            <a:r>
              <a:rPr lang="en-US" b="1" dirty="0"/>
              <a:t>VBA macro to</a:t>
            </a:r>
          </a:p>
          <a:p>
            <a:pPr lvl="1" fontAlgn="base"/>
            <a:r>
              <a:rPr lang="en-US" dirty="0"/>
              <a:t>Remove duplicates</a:t>
            </a:r>
          </a:p>
          <a:p>
            <a:pPr lvl="1" fontAlgn="base"/>
            <a:r>
              <a:rPr lang="en-US" dirty="0"/>
              <a:t>Standardize date formats</a:t>
            </a:r>
          </a:p>
          <a:p>
            <a:pPr lvl="1" fontAlgn="base"/>
            <a:r>
              <a:rPr lang="en-US" dirty="0"/>
              <a:t>Apply conditional formatting for anomalies</a:t>
            </a:r>
          </a:p>
          <a:p>
            <a:pPr marL="0" indent="0">
              <a:buNone/>
            </a:pPr>
            <a:endParaRPr lang="en-IN" dirty="0"/>
          </a:p>
        </p:txBody>
      </p:sp>
    </p:spTree>
    <p:extLst>
      <p:ext uri="{BB962C8B-B14F-4D97-AF65-F5344CB8AC3E}">
        <p14:creationId xmlns:p14="http://schemas.microsoft.com/office/powerpoint/2010/main" val="2900995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2A9D5-2781-771C-FB2A-6D2824A11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C9405-ADD1-67C1-4F59-B131CA550326}"/>
              </a:ext>
            </a:extLst>
          </p:cNvPr>
          <p:cNvSpPr>
            <a:spLocks noGrp="1"/>
          </p:cNvSpPr>
          <p:nvPr>
            <p:ph type="title"/>
          </p:nvPr>
        </p:nvSpPr>
        <p:spPr/>
        <p:txBody>
          <a:bodyPr vert="horz" lIns="91440" tIns="45720" rIns="91440" bIns="45720" rtlCol="0" anchor="ctr">
            <a:normAutofit/>
          </a:bodyPr>
          <a:lstStyle/>
          <a:p>
            <a:r>
              <a:rPr lang="en-IN" dirty="0"/>
              <a:t>Analysis and visualization using MS Excel (2 of 2)</a:t>
            </a:r>
          </a:p>
        </p:txBody>
      </p:sp>
      <p:sp>
        <p:nvSpPr>
          <p:cNvPr id="3" name="Content Placeholder 2">
            <a:extLst>
              <a:ext uri="{FF2B5EF4-FFF2-40B4-BE49-F238E27FC236}">
                <a16:creationId xmlns:a16="http://schemas.microsoft.com/office/drawing/2014/main" id="{B5AB276F-DBCB-1127-6AAC-70689E910386}"/>
              </a:ext>
            </a:extLst>
          </p:cNvPr>
          <p:cNvSpPr>
            <a:spLocks noGrp="1"/>
          </p:cNvSpPr>
          <p:nvPr>
            <p:ph idx="1"/>
          </p:nvPr>
        </p:nvSpPr>
        <p:spPr/>
        <p:txBody>
          <a:bodyPr/>
          <a:lstStyle/>
          <a:p>
            <a:pPr marL="0" indent="0">
              <a:buNone/>
            </a:pPr>
            <a:r>
              <a:rPr lang="en-US" b="1" dirty="0"/>
              <a:t>Data Cleaning Principles Applied</a:t>
            </a:r>
          </a:p>
          <a:p>
            <a:pPr marL="0" indent="0">
              <a:buNone/>
            </a:pPr>
            <a:endParaRPr lang="en-US" sz="2000" b="1" dirty="0"/>
          </a:p>
          <a:p>
            <a:pPr lvl="1" fontAlgn="base"/>
            <a:r>
              <a:rPr lang="en-US" sz="2200" dirty="0"/>
              <a:t>Accuracy</a:t>
            </a:r>
          </a:p>
          <a:p>
            <a:pPr lvl="1" fontAlgn="base"/>
            <a:r>
              <a:rPr lang="en-US" sz="2200" dirty="0"/>
              <a:t>Consistency</a:t>
            </a:r>
          </a:p>
          <a:p>
            <a:pPr lvl="1" fontAlgn="base"/>
            <a:r>
              <a:rPr lang="en-US" sz="2200" dirty="0"/>
              <a:t>Completeness</a:t>
            </a:r>
          </a:p>
          <a:p>
            <a:pPr lvl="1" fontAlgn="base"/>
            <a:r>
              <a:rPr lang="en-US" sz="2200" dirty="0"/>
              <a:t>Integrity</a:t>
            </a:r>
          </a:p>
          <a:p>
            <a:pPr lvl="1" fontAlgn="base"/>
            <a:r>
              <a:rPr lang="en-US" sz="2200" dirty="0"/>
              <a:t>Auditability</a:t>
            </a:r>
          </a:p>
          <a:p>
            <a:pPr marL="0" indent="0">
              <a:buNone/>
            </a:pPr>
            <a:endParaRPr lang="en-IN" dirty="0"/>
          </a:p>
        </p:txBody>
      </p:sp>
    </p:spTree>
    <p:extLst>
      <p:ext uri="{BB962C8B-B14F-4D97-AF65-F5344CB8AC3E}">
        <p14:creationId xmlns:p14="http://schemas.microsoft.com/office/powerpoint/2010/main" val="3552821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a:bodyPr>
          <a:lstStyle/>
          <a:p>
            <a:pPr algn="ctr"/>
            <a:r>
              <a:rPr lang="en-US" dirty="0"/>
              <a:t>Database design and setup</a:t>
            </a:r>
          </a:p>
        </p:txBody>
      </p:sp>
    </p:spTree>
    <p:extLst>
      <p:ext uri="{BB962C8B-B14F-4D97-AF65-F5344CB8AC3E}">
        <p14:creationId xmlns:p14="http://schemas.microsoft.com/office/powerpoint/2010/main" val="423782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6658-5A96-7E73-3829-67CACACA5E0D}"/>
              </a:ext>
            </a:extLst>
          </p:cNvPr>
          <p:cNvSpPr>
            <a:spLocks noGrp="1"/>
          </p:cNvSpPr>
          <p:nvPr>
            <p:ph type="title"/>
          </p:nvPr>
        </p:nvSpPr>
        <p:spPr/>
        <p:txBody>
          <a:bodyPr/>
          <a:lstStyle/>
          <a:p>
            <a:r>
              <a:rPr lang="en-IN" dirty="0"/>
              <a:t>Entity relationship diagram (ERD) (1 of 3)</a:t>
            </a:r>
          </a:p>
        </p:txBody>
      </p:sp>
      <p:sp>
        <p:nvSpPr>
          <p:cNvPr id="3" name="Content Placeholder 2">
            <a:extLst>
              <a:ext uri="{FF2B5EF4-FFF2-40B4-BE49-F238E27FC236}">
                <a16:creationId xmlns:a16="http://schemas.microsoft.com/office/drawing/2014/main" id="{ECB42A31-692D-9D42-0E64-7824DBE6044A}"/>
              </a:ext>
            </a:extLst>
          </p:cNvPr>
          <p:cNvSpPr>
            <a:spLocks noGrp="1"/>
          </p:cNvSpPr>
          <p:nvPr>
            <p:ph idx="1"/>
          </p:nvPr>
        </p:nvSpPr>
        <p:spPr/>
        <p:txBody>
          <a:bodyPr/>
          <a:lstStyle/>
          <a:p>
            <a:pPr marL="0" indent="0">
              <a:buNone/>
            </a:pPr>
            <a:endParaRPr lang="en-IN" dirty="0"/>
          </a:p>
          <a:p>
            <a:endParaRPr lang="en-IN" dirty="0"/>
          </a:p>
        </p:txBody>
      </p:sp>
      <p:pic>
        <p:nvPicPr>
          <p:cNvPr id="5" name="Picture 4">
            <a:extLst>
              <a:ext uri="{FF2B5EF4-FFF2-40B4-BE49-F238E27FC236}">
                <a16:creationId xmlns:a16="http://schemas.microsoft.com/office/drawing/2014/main" id="{E73820E4-D0F5-DC3A-565C-6CEE5F0843B1}"/>
              </a:ext>
            </a:extLst>
          </p:cNvPr>
          <p:cNvPicPr>
            <a:picLocks noChangeAspect="1"/>
          </p:cNvPicPr>
          <p:nvPr/>
        </p:nvPicPr>
        <p:blipFill>
          <a:blip r:embed="rId3"/>
          <a:stretch>
            <a:fillRect/>
          </a:stretch>
        </p:blipFill>
        <p:spPr>
          <a:xfrm>
            <a:off x="889000" y="1345324"/>
            <a:ext cx="4302760" cy="4108398"/>
          </a:xfrm>
          <a:prstGeom prst="rect">
            <a:avLst/>
          </a:prstGeom>
        </p:spPr>
      </p:pic>
      <p:pic>
        <p:nvPicPr>
          <p:cNvPr id="7" name="Picture 6">
            <a:extLst>
              <a:ext uri="{FF2B5EF4-FFF2-40B4-BE49-F238E27FC236}">
                <a16:creationId xmlns:a16="http://schemas.microsoft.com/office/drawing/2014/main" id="{84F89752-7D36-D362-3782-63E9E5E7B7F9}"/>
              </a:ext>
            </a:extLst>
          </p:cNvPr>
          <p:cNvPicPr>
            <a:picLocks noChangeAspect="1"/>
          </p:cNvPicPr>
          <p:nvPr/>
        </p:nvPicPr>
        <p:blipFill>
          <a:blip r:embed="rId4"/>
          <a:stretch>
            <a:fillRect/>
          </a:stretch>
        </p:blipFill>
        <p:spPr>
          <a:xfrm>
            <a:off x="5511800" y="1345324"/>
            <a:ext cx="2695951" cy="3683876"/>
          </a:xfrm>
          <a:prstGeom prst="rect">
            <a:avLst/>
          </a:prstGeom>
        </p:spPr>
      </p:pic>
      <p:pic>
        <p:nvPicPr>
          <p:cNvPr id="9" name="Picture 8">
            <a:extLst>
              <a:ext uri="{FF2B5EF4-FFF2-40B4-BE49-F238E27FC236}">
                <a16:creationId xmlns:a16="http://schemas.microsoft.com/office/drawing/2014/main" id="{27CC32E4-D981-8AEF-A4EE-24603E7603E6}"/>
              </a:ext>
            </a:extLst>
          </p:cNvPr>
          <p:cNvPicPr>
            <a:picLocks noChangeAspect="1"/>
          </p:cNvPicPr>
          <p:nvPr/>
        </p:nvPicPr>
        <p:blipFill>
          <a:blip r:embed="rId5"/>
          <a:stretch>
            <a:fillRect/>
          </a:stretch>
        </p:blipFill>
        <p:spPr>
          <a:xfrm>
            <a:off x="9111991" y="1410601"/>
            <a:ext cx="2048161" cy="3553321"/>
          </a:xfrm>
          <a:prstGeom prst="rect">
            <a:avLst/>
          </a:prstGeom>
        </p:spPr>
      </p:pic>
      <p:sp>
        <p:nvSpPr>
          <p:cNvPr id="10" name="TextBox 9">
            <a:extLst>
              <a:ext uri="{FF2B5EF4-FFF2-40B4-BE49-F238E27FC236}">
                <a16:creationId xmlns:a16="http://schemas.microsoft.com/office/drawing/2014/main" id="{BFF3B9C6-31CF-7811-37DE-3658CCA22AEF}"/>
              </a:ext>
            </a:extLst>
          </p:cNvPr>
          <p:cNvSpPr txBox="1"/>
          <p:nvPr/>
        </p:nvSpPr>
        <p:spPr>
          <a:xfrm>
            <a:off x="1544320" y="5565132"/>
            <a:ext cx="2348335" cy="430887"/>
          </a:xfrm>
          <a:prstGeom prst="rect">
            <a:avLst/>
          </a:prstGeom>
          <a:noFill/>
        </p:spPr>
        <p:txBody>
          <a:bodyPr wrap="none" rtlCol="0">
            <a:spAutoFit/>
          </a:bodyPr>
          <a:lstStyle/>
          <a:p>
            <a:r>
              <a:rPr lang="en-US" sz="2200" dirty="0"/>
              <a:t>Dimension Tables</a:t>
            </a:r>
          </a:p>
        </p:txBody>
      </p:sp>
      <p:sp>
        <p:nvSpPr>
          <p:cNvPr id="11" name="TextBox 10">
            <a:extLst>
              <a:ext uri="{FF2B5EF4-FFF2-40B4-BE49-F238E27FC236}">
                <a16:creationId xmlns:a16="http://schemas.microsoft.com/office/drawing/2014/main" id="{C8FE80C1-537B-FD43-44D6-9378D13A01D3}"/>
              </a:ext>
            </a:extLst>
          </p:cNvPr>
          <p:cNvSpPr txBox="1"/>
          <p:nvPr/>
        </p:nvSpPr>
        <p:spPr>
          <a:xfrm>
            <a:off x="5405120" y="5563196"/>
            <a:ext cx="2849178" cy="430887"/>
          </a:xfrm>
          <a:prstGeom prst="rect">
            <a:avLst/>
          </a:prstGeom>
          <a:noFill/>
        </p:spPr>
        <p:txBody>
          <a:bodyPr wrap="none" rtlCol="0">
            <a:spAutoFit/>
          </a:bodyPr>
          <a:lstStyle/>
          <a:p>
            <a:r>
              <a:rPr lang="en-US" sz="2200" dirty="0"/>
              <a:t>Dimension Date Table</a:t>
            </a:r>
          </a:p>
        </p:txBody>
      </p:sp>
      <p:sp>
        <p:nvSpPr>
          <p:cNvPr id="12" name="TextBox 11">
            <a:extLst>
              <a:ext uri="{FF2B5EF4-FFF2-40B4-BE49-F238E27FC236}">
                <a16:creationId xmlns:a16="http://schemas.microsoft.com/office/drawing/2014/main" id="{382E68E6-E418-7965-7BD7-BEDD6919F5FF}"/>
              </a:ext>
            </a:extLst>
          </p:cNvPr>
          <p:cNvSpPr txBox="1"/>
          <p:nvPr/>
        </p:nvSpPr>
        <p:spPr>
          <a:xfrm>
            <a:off x="8872777" y="5563196"/>
            <a:ext cx="2381358" cy="430887"/>
          </a:xfrm>
          <a:prstGeom prst="rect">
            <a:avLst/>
          </a:prstGeom>
          <a:noFill/>
        </p:spPr>
        <p:txBody>
          <a:bodyPr wrap="none" rtlCol="0">
            <a:spAutoFit/>
          </a:bodyPr>
          <a:lstStyle/>
          <a:p>
            <a:r>
              <a:rPr lang="en-US" sz="2200" dirty="0"/>
              <a:t>Central Fact Table</a:t>
            </a:r>
          </a:p>
        </p:txBody>
      </p:sp>
    </p:spTree>
    <p:extLst>
      <p:ext uri="{BB962C8B-B14F-4D97-AF65-F5344CB8AC3E}">
        <p14:creationId xmlns:p14="http://schemas.microsoft.com/office/powerpoint/2010/main" val="1566631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6658-5A96-7E73-3829-67CACACA5E0D}"/>
              </a:ext>
            </a:extLst>
          </p:cNvPr>
          <p:cNvSpPr>
            <a:spLocks noGrp="1"/>
          </p:cNvSpPr>
          <p:nvPr>
            <p:ph type="title"/>
          </p:nvPr>
        </p:nvSpPr>
        <p:spPr/>
        <p:txBody>
          <a:bodyPr/>
          <a:lstStyle/>
          <a:p>
            <a:r>
              <a:rPr lang="en-IN" dirty="0"/>
              <a:t>Entity relationship diagram (ERD) (2 of 3)</a:t>
            </a:r>
          </a:p>
        </p:txBody>
      </p:sp>
      <p:sp>
        <p:nvSpPr>
          <p:cNvPr id="3" name="Content Placeholder 2">
            <a:extLst>
              <a:ext uri="{FF2B5EF4-FFF2-40B4-BE49-F238E27FC236}">
                <a16:creationId xmlns:a16="http://schemas.microsoft.com/office/drawing/2014/main" id="{ECB42A31-692D-9D42-0E64-7824DBE6044A}"/>
              </a:ext>
            </a:extLst>
          </p:cNvPr>
          <p:cNvSpPr>
            <a:spLocks noGrp="1"/>
          </p:cNvSpPr>
          <p:nvPr>
            <p:ph idx="1"/>
          </p:nvPr>
        </p:nvSpPr>
        <p:spPr/>
        <p:txBody>
          <a:bodyPr>
            <a:normAutofit fontScale="92500" lnSpcReduction="20000"/>
          </a:bodyPr>
          <a:lstStyle/>
          <a:p>
            <a:pPr marL="0" indent="0">
              <a:buNone/>
            </a:pPr>
            <a:r>
              <a:rPr lang="en-US" b="1" dirty="0"/>
              <a:t>Dimension Tables</a:t>
            </a:r>
            <a:endParaRPr lang="en-US" sz="2000" b="1" dirty="0"/>
          </a:p>
          <a:p>
            <a:pPr lvl="1" fontAlgn="base"/>
            <a:r>
              <a:rPr lang="en-US" sz="2200" dirty="0" err="1"/>
              <a:t>finproDimCustomers</a:t>
            </a:r>
            <a:br>
              <a:rPr lang="en-US" sz="2200" b="1" dirty="0"/>
            </a:br>
            <a:r>
              <a:rPr lang="en-US" sz="2200" dirty="0"/>
              <a:t>Stores customer demographics, DOB, account type, and branch association.</a:t>
            </a:r>
          </a:p>
          <a:p>
            <a:pPr lvl="1" fontAlgn="base"/>
            <a:r>
              <a:rPr lang="en-US" sz="2200" dirty="0" err="1"/>
              <a:t>finproDimBranches</a:t>
            </a:r>
            <a:br>
              <a:rPr lang="en-US" sz="2200" b="1" dirty="0"/>
            </a:br>
            <a:r>
              <a:rPr lang="en-US" sz="2200" dirty="0"/>
              <a:t>Contains branch codes, names, and geographic identifiers.</a:t>
            </a:r>
          </a:p>
          <a:p>
            <a:pPr lvl="1" fontAlgn="base"/>
            <a:r>
              <a:rPr lang="en-US" sz="2200" dirty="0" err="1"/>
              <a:t>finproDimCities</a:t>
            </a:r>
            <a:br>
              <a:rPr lang="en-US" sz="2200" b="1" dirty="0"/>
            </a:br>
            <a:r>
              <a:rPr lang="en-US" sz="2200" dirty="0"/>
              <a:t>Provides city‑level attributes including state and country mapping.</a:t>
            </a:r>
          </a:p>
          <a:p>
            <a:pPr lvl="1" fontAlgn="base"/>
            <a:r>
              <a:rPr lang="en-US" sz="2200" dirty="0" err="1"/>
              <a:t>finproDimCountries</a:t>
            </a:r>
            <a:br>
              <a:rPr lang="en-US" sz="2200" b="1" dirty="0"/>
            </a:br>
            <a:r>
              <a:rPr lang="en-US" sz="2200" dirty="0"/>
              <a:t>Stores country names, codes, and continent information.</a:t>
            </a:r>
          </a:p>
          <a:p>
            <a:pPr lvl="1" fontAlgn="base"/>
            <a:r>
              <a:rPr lang="en-US" sz="2200" dirty="0" err="1"/>
              <a:t>finproDimAccountTypes</a:t>
            </a:r>
            <a:br>
              <a:rPr lang="en-US" sz="2200" b="1" dirty="0"/>
            </a:br>
            <a:r>
              <a:rPr lang="en-US" sz="2200" dirty="0"/>
              <a:t>Defines account categories such as Savings, Checking, etc.</a:t>
            </a:r>
          </a:p>
          <a:p>
            <a:pPr lvl="1" fontAlgn="base"/>
            <a:r>
              <a:rPr lang="en-US" sz="2200" dirty="0" err="1"/>
              <a:t>finproDimDate</a:t>
            </a:r>
            <a:br>
              <a:rPr lang="en-US" sz="2200" b="1" dirty="0"/>
            </a:br>
            <a:r>
              <a:rPr lang="en-US" sz="2200" dirty="0"/>
              <a:t>A full date dimension enabling year, quarter, month, week, and day‑level analysis.</a:t>
            </a:r>
          </a:p>
          <a:p>
            <a:pPr marL="0" indent="0">
              <a:buNone/>
            </a:pPr>
            <a:r>
              <a:rPr lang="en-US" b="1" dirty="0"/>
              <a:t>Fact Table</a:t>
            </a:r>
            <a:endParaRPr lang="en-US" sz="2000" b="1" dirty="0"/>
          </a:p>
          <a:p>
            <a:pPr lvl="1"/>
            <a:r>
              <a:rPr lang="en-US" sz="2200" dirty="0" err="1"/>
              <a:t>finproFactTransactions</a:t>
            </a:r>
            <a:br>
              <a:rPr lang="en-US" sz="2200" b="1" dirty="0"/>
            </a:br>
            <a:r>
              <a:rPr lang="en-US" sz="2200" dirty="0"/>
              <a:t>Captures all financial transactions with links to customer, branch, account type, and date.</a:t>
            </a:r>
            <a:endParaRPr lang="en-IN" sz="2200" dirty="0"/>
          </a:p>
        </p:txBody>
      </p:sp>
    </p:spTree>
    <p:extLst>
      <p:ext uri="{BB962C8B-B14F-4D97-AF65-F5344CB8AC3E}">
        <p14:creationId xmlns:p14="http://schemas.microsoft.com/office/powerpoint/2010/main" val="4047446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6658-5A96-7E73-3829-67CACACA5E0D}"/>
              </a:ext>
            </a:extLst>
          </p:cNvPr>
          <p:cNvSpPr>
            <a:spLocks noGrp="1"/>
          </p:cNvSpPr>
          <p:nvPr>
            <p:ph type="title"/>
          </p:nvPr>
        </p:nvSpPr>
        <p:spPr/>
        <p:txBody>
          <a:bodyPr/>
          <a:lstStyle/>
          <a:p>
            <a:r>
              <a:rPr lang="en-IN" dirty="0"/>
              <a:t>Entity relationship diagram (ERD) (3 of 3)</a:t>
            </a:r>
          </a:p>
        </p:txBody>
      </p:sp>
      <p:sp>
        <p:nvSpPr>
          <p:cNvPr id="3" name="Content Placeholder 2">
            <a:extLst>
              <a:ext uri="{FF2B5EF4-FFF2-40B4-BE49-F238E27FC236}">
                <a16:creationId xmlns:a16="http://schemas.microsoft.com/office/drawing/2014/main" id="{ECB42A31-692D-9D42-0E64-7824DBE6044A}"/>
              </a:ext>
            </a:extLst>
          </p:cNvPr>
          <p:cNvSpPr>
            <a:spLocks noGrp="1"/>
          </p:cNvSpPr>
          <p:nvPr>
            <p:ph idx="1"/>
          </p:nvPr>
        </p:nvSpPr>
        <p:spPr/>
        <p:txBody>
          <a:bodyPr>
            <a:normAutofit/>
          </a:bodyPr>
          <a:lstStyle/>
          <a:p>
            <a:pPr marL="0" indent="0">
              <a:buNone/>
            </a:pPr>
            <a:r>
              <a:rPr lang="en-US" b="1" dirty="0"/>
              <a:t>Key Relationships</a:t>
            </a:r>
            <a:endParaRPr lang="en-US" sz="2000" b="1" dirty="0"/>
          </a:p>
          <a:p>
            <a:pPr lvl="1" fontAlgn="base"/>
            <a:r>
              <a:rPr lang="en-US" dirty="0"/>
              <a:t>Customers → Branches (Many‑to‑One)</a:t>
            </a:r>
            <a:br>
              <a:rPr lang="en-US" dirty="0"/>
            </a:br>
            <a:r>
              <a:rPr lang="en-US" dirty="0"/>
              <a:t>Each customer belongs to a single branch.</a:t>
            </a:r>
          </a:p>
          <a:p>
            <a:pPr lvl="1" fontAlgn="base"/>
            <a:r>
              <a:rPr lang="en-US" dirty="0"/>
              <a:t>Branches → Cities → Countries (Hierarchical)</a:t>
            </a:r>
            <a:br>
              <a:rPr lang="en-US" dirty="0"/>
            </a:br>
            <a:r>
              <a:rPr lang="en-US" dirty="0"/>
              <a:t>Enables geographic roll‑ups for reporting.</a:t>
            </a:r>
          </a:p>
          <a:p>
            <a:pPr lvl="1" fontAlgn="base"/>
            <a:r>
              <a:rPr lang="en-US" dirty="0"/>
              <a:t>Transactions → Customers / Branches / Account Types / Date</a:t>
            </a:r>
            <a:br>
              <a:rPr lang="en-US" b="1" dirty="0"/>
            </a:br>
            <a:r>
              <a:rPr lang="en-US" dirty="0"/>
              <a:t>The fact table references all dimensions to support multi‑angle analysis.</a:t>
            </a:r>
          </a:p>
          <a:p>
            <a:pPr marL="0" indent="0">
              <a:buNone/>
            </a:pPr>
            <a:r>
              <a:rPr lang="en-US" b="1" dirty="0"/>
              <a:t>Business Logic Behind the Design</a:t>
            </a:r>
            <a:endParaRPr lang="en-US" sz="2000" b="1" dirty="0"/>
          </a:p>
          <a:p>
            <a:pPr lvl="1" fontAlgn="base"/>
            <a:r>
              <a:rPr lang="en-US" dirty="0"/>
              <a:t>Ensures </a:t>
            </a:r>
            <a:r>
              <a:rPr lang="en-US" b="1" dirty="0"/>
              <a:t>single source of truth</a:t>
            </a:r>
            <a:r>
              <a:rPr lang="en-US" dirty="0"/>
              <a:t> for customer, branch, and geographic attributes.</a:t>
            </a:r>
          </a:p>
          <a:p>
            <a:pPr lvl="1" fontAlgn="base"/>
            <a:r>
              <a:rPr lang="en-US" dirty="0"/>
              <a:t>Supports </a:t>
            </a:r>
            <a:r>
              <a:rPr lang="en-US" b="1" dirty="0"/>
              <a:t>time‑series analysis</a:t>
            </a:r>
            <a:r>
              <a:rPr lang="en-US" dirty="0"/>
              <a:t> through the date dimension.</a:t>
            </a:r>
          </a:p>
          <a:p>
            <a:pPr lvl="1" fontAlgn="base"/>
            <a:r>
              <a:rPr lang="en-US" dirty="0"/>
              <a:t>Enables </a:t>
            </a:r>
            <a:r>
              <a:rPr lang="en-US" b="1" dirty="0"/>
              <a:t>drill‑down reporting</a:t>
            </a:r>
            <a:r>
              <a:rPr lang="en-US" dirty="0"/>
              <a:t> (Country → City → Branch → Customer → Transaction).</a:t>
            </a:r>
          </a:p>
          <a:p>
            <a:pPr lvl="1"/>
            <a:r>
              <a:rPr lang="en-US" dirty="0"/>
              <a:t>Follows best practices in </a:t>
            </a:r>
            <a:r>
              <a:rPr lang="en-US" b="1" dirty="0"/>
              <a:t>data warehousing</a:t>
            </a:r>
            <a:r>
              <a:rPr lang="en-US" dirty="0"/>
              <a:t> for performance, scalability, and clarity.</a:t>
            </a:r>
            <a:endParaRPr lang="en-IN" dirty="0"/>
          </a:p>
        </p:txBody>
      </p:sp>
    </p:spTree>
    <p:extLst>
      <p:ext uri="{BB962C8B-B14F-4D97-AF65-F5344CB8AC3E}">
        <p14:creationId xmlns:p14="http://schemas.microsoft.com/office/powerpoint/2010/main" val="1532298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75706-5C56-6B8A-B565-AAEF56D34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B237D-2C7F-F45B-61C9-8DB9E6E454E4}"/>
              </a:ext>
            </a:extLst>
          </p:cNvPr>
          <p:cNvSpPr>
            <a:spLocks noGrp="1"/>
          </p:cNvSpPr>
          <p:nvPr>
            <p:ph type="title"/>
          </p:nvPr>
        </p:nvSpPr>
        <p:spPr/>
        <p:txBody>
          <a:bodyPr vert="horz" lIns="91440" tIns="45720" rIns="91440" bIns="45720" rtlCol="0" anchor="ctr">
            <a:normAutofit/>
          </a:bodyPr>
          <a:lstStyle/>
          <a:p>
            <a:r>
              <a:rPr lang="en-US" dirty="0"/>
              <a:t>Table structure design</a:t>
            </a:r>
            <a:endParaRPr lang="en-IN" dirty="0"/>
          </a:p>
        </p:txBody>
      </p:sp>
      <p:sp>
        <p:nvSpPr>
          <p:cNvPr id="3" name="Content Placeholder 2">
            <a:extLst>
              <a:ext uri="{FF2B5EF4-FFF2-40B4-BE49-F238E27FC236}">
                <a16:creationId xmlns:a16="http://schemas.microsoft.com/office/drawing/2014/main" id="{20CD5F3F-2CD1-A14F-A9A2-3777A2D8C926}"/>
              </a:ext>
            </a:extLst>
          </p:cNvPr>
          <p:cNvSpPr>
            <a:spLocks noGrp="1"/>
          </p:cNvSpPr>
          <p:nvPr>
            <p:ph idx="1"/>
          </p:nvPr>
        </p:nvSpPr>
        <p:spPr/>
        <p:txBody>
          <a:bodyPr/>
          <a:lstStyle/>
          <a:p>
            <a:pPr marL="0" indent="0">
              <a:buNone/>
            </a:pPr>
            <a:endParaRPr lang="en-IN" dirty="0"/>
          </a:p>
          <a:p>
            <a:endParaRPr lang="en-IN" dirty="0"/>
          </a:p>
        </p:txBody>
      </p:sp>
      <p:graphicFrame>
        <p:nvGraphicFramePr>
          <p:cNvPr id="4" name="Table 3">
            <a:extLst>
              <a:ext uri="{FF2B5EF4-FFF2-40B4-BE49-F238E27FC236}">
                <a16:creationId xmlns:a16="http://schemas.microsoft.com/office/drawing/2014/main" id="{6706AF96-3BE1-7038-6BEB-02BC0B156D37}"/>
              </a:ext>
            </a:extLst>
          </p:cNvPr>
          <p:cNvGraphicFramePr>
            <a:graphicFrameLocks noGrp="1"/>
          </p:cNvGraphicFramePr>
          <p:nvPr>
            <p:extLst>
              <p:ext uri="{D42A27DB-BD31-4B8C-83A1-F6EECF244321}">
                <p14:modId xmlns:p14="http://schemas.microsoft.com/office/powerpoint/2010/main" val="1961878207"/>
              </p:ext>
            </p:extLst>
          </p:nvPr>
        </p:nvGraphicFramePr>
        <p:xfrm>
          <a:off x="838200" y="1277762"/>
          <a:ext cx="10226040" cy="4832350"/>
        </p:xfrm>
        <a:graphic>
          <a:graphicData uri="http://schemas.openxmlformats.org/drawingml/2006/table">
            <a:tbl>
              <a:tblPr/>
              <a:tblGrid>
                <a:gridCol w="2951352">
                  <a:extLst>
                    <a:ext uri="{9D8B030D-6E8A-4147-A177-3AD203B41FA5}">
                      <a16:colId xmlns:a16="http://schemas.microsoft.com/office/drawing/2014/main" val="4017674555"/>
                    </a:ext>
                  </a:extLst>
                </a:gridCol>
                <a:gridCol w="3174701">
                  <a:extLst>
                    <a:ext uri="{9D8B030D-6E8A-4147-A177-3AD203B41FA5}">
                      <a16:colId xmlns:a16="http://schemas.microsoft.com/office/drawing/2014/main" val="3005590541"/>
                    </a:ext>
                  </a:extLst>
                </a:gridCol>
                <a:gridCol w="1292213">
                  <a:extLst>
                    <a:ext uri="{9D8B030D-6E8A-4147-A177-3AD203B41FA5}">
                      <a16:colId xmlns:a16="http://schemas.microsoft.com/office/drawing/2014/main" val="581380975"/>
                    </a:ext>
                  </a:extLst>
                </a:gridCol>
                <a:gridCol w="2807774">
                  <a:extLst>
                    <a:ext uri="{9D8B030D-6E8A-4147-A177-3AD203B41FA5}">
                      <a16:colId xmlns:a16="http://schemas.microsoft.com/office/drawing/2014/main" val="1398367399"/>
                    </a:ext>
                  </a:extLst>
                </a:gridCol>
              </a:tblGrid>
              <a:tr h="435908">
                <a:tc>
                  <a:txBody>
                    <a:bodyPr/>
                    <a:lstStyle/>
                    <a:p>
                      <a:pPr algn="ctr" rtl="0" fontAlgn="t">
                        <a:buNone/>
                      </a:pPr>
                      <a:r>
                        <a:rPr lang="en-US" sz="1000" b="1" i="0" u="none" strike="noStrike">
                          <a:solidFill>
                            <a:srgbClr val="000000"/>
                          </a:solidFill>
                          <a:effectLst/>
                          <a:latin typeface="Arial" panose="020B0604020202020204" pitchFamily="34" charset="0"/>
                        </a:rPr>
                        <a:t>Table</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US" sz="1000" b="1" i="0" u="none" strike="noStrike">
                          <a:solidFill>
                            <a:srgbClr val="000000"/>
                          </a:solidFill>
                          <a:effectLst/>
                          <a:latin typeface="Arial" panose="020B0604020202020204" pitchFamily="34" charset="0"/>
                        </a:rPr>
                        <a:t>Key Columns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US" sz="1000" b="1" i="0" u="none" strike="noStrike">
                          <a:solidFill>
                            <a:srgbClr val="000000"/>
                          </a:solidFill>
                          <a:effectLst/>
                          <a:latin typeface="Arial" panose="020B0604020202020204" pitchFamily="34" charset="0"/>
                        </a:rPr>
                        <a:t>Data Types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US" sz="1000" b="1" i="0" u="none" strike="noStrike" dirty="0">
                          <a:solidFill>
                            <a:srgbClr val="000000"/>
                          </a:solidFill>
                          <a:effectLst/>
                          <a:latin typeface="Arial" panose="020B0604020202020204" pitchFamily="34" charset="0"/>
                        </a:rPr>
                        <a:t>Constraints</a:t>
                      </a:r>
                      <a:endParaRPr lang="en-US" sz="1600" dirty="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6307402"/>
                  </a:ext>
                </a:extLst>
              </a:tr>
              <a:tr h="741609">
                <a:tc>
                  <a:txBody>
                    <a:bodyPr/>
                    <a:lstStyle/>
                    <a:p>
                      <a:pPr rtl="0" fontAlgn="t">
                        <a:buNone/>
                      </a:pPr>
                      <a:r>
                        <a:rPr lang="en-US" sz="1000" b="1" i="0" u="none" strike="noStrike">
                          <a:solidFill>
                            <a:srgbClr val="000000"/>
                          </a:solidFill>
                          <a:effectLst/>
                          <a:latin typeface="Arial" panose="020B0604020202020204" pitchFamily="34" charset="0"/>
                        </a:rPr>
                        <a:t>finproDimCustomers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customerid (PK), customername, email, dateofbirth, accounttypeid, branchid, 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dirty="0">
                          <a:solidFill>
                            <a:srgbClr val="000000"/>
                          </a:solidFill>
                          <a:effectLst/>
                          <a:latin typeface="Arial" panose="020B0604020202020204" pitchFamily="34" charset="0"/>
                        </a:rPr>
                        <a:t>int, varchar, date</a:t>
                      </a:r>
                      <a:endParaRPr lang="en-US" sz="1600" dirty="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dirty="0">
                          <a:solidFill>
                            <a:srgbClr val="000000"/>
                          </a:solidFill>
                          <a:effectLst/>
                          <a:latin typeface="Arial" panose="020B0604020202020204" pitchFamily="34" charset="0"/>
                        </a:rPr>
                        <a:t>PK(</a:t>
                      </a:r>
                      <a:r>
                        <a:rPr lang="en-US" sz="1000" b="0" i="0" u="none" strike="noStrike" dirty="0" err="1">
                          <a:solidFill>
                            <a:srgbClr val="000000"/>
                          </a:solidFill>
                          <a:effectLst/>
                          <a:latin typeface="Arial" panose="020B0604020202020204" pitchFamily="34" charset="0"/>
                        </a:rPr>
                        <a:t>customerid</a:t>
                      </a:r>
                      <a:r>
                        <a:rPr lang="en-US" sz="1000" b="0" i="0" u="none" strike="noStrike" dirty="0">
                          <a:solidFill>
                            <a:srgbClr val="000000"/>
                          </a:solidFill>
                          <a:effectLst/>
                          <a:latin typeface="Arial" panose="020B0604020202020204" pitchFamily="34" charset="0"/>
                        </a:rPr>
                        <a:t>), FK(</a:t>
                      </a:r>
                      <a:r>
                        <a:rPr lang="en-US" sz="1000" b="0" i="0" u="none" strike="noStrike" dirty="0" err="1">
                          <a:solidFill>
                            <a:srgbClr val="000000"/>
                          </a:solidFill>
                          <a:effectLst/>
                          <a:latin typeface="Arial" panose="020B0604020202020204" pitchFamily="34" charset="0"/>
                        </a:rPr>
                        <a:t>accounttypeid</a:t>
                      </a:r>
                      <a:r>
                        <a:rPr lang="en-US" sz="1000" b="0" i="0" u="none" strike="noStrike" dirty="0">
                          <a:solidFill>
                            <a:srgbClr val="000000"/>
                          </a:solidFill>
                          <a:effectLst/>
                          <a:latin typeface="Arial" panose="020B0604020202020204" pitchFamily="34" charset="0"/>
                        </a:rPr>
                        <a:t>), FK(</a:t>
                      </a:r>
                      <a:r>
                        <a:rPr lang="en-US" sz="1000" b="0" i="0" u="none" strike="noStrike" dirty="0" err="1">
                          <a:solidFill>
                            <a:srgbClr val="000000"/>
                          </a:solidFill>
                          <a:effectLst/>
                          <a:latin typeface="Arial" panose="020B0604020202020204" pitchFamily="34" charset="0"/>
                        </a:rPr>
                        <a:t>branchid</a:t>
                      </a:r>
                      <a:r>
                        <a:rPr lang="en-US" sz="1000" b="0" i="0" u="none" strike="noStrike" dirty="0">
                          <a:solidFill>
                            <a:srgbClr val="000000"/>
                          </a:solidFill>
                          <a:effectLst/>
                          <a:latin typeface="Arial" panose="020B0604020202020204" pitchFamily="34" charset="0"/>
                        </a:rPr>
                        <a:t>), FK(</a:t>
                      </a:r>
                      <a:r>
                        <a:rPr lang="en-US" sz="1000" b="0" i="0" u="none" strike="noStrike" dirty="0" err="1">
                          <a:solidFill>
                            <a:srgbClr val="000000"/>
                          </a:solidFill>
                          <a:effectLst/>
                          <a:latin typeface="Arial" panose="020B0604020202020204" pitchFamily="34" charset="0"/>
                        </a:rPr>
                        <a:t>countryid</a:t>
                      </a:r>
                      <a:r>
                        <a:rPr lang="en-US" sz="1000" b="0" i="0" u="none" strike="noStrike" dirty="0">
                          <a:solidFill>
                            <a:srgbClr val="000000"/>
                          </a:solidFill>
                          <a:effectLst/>
                          <a:latin typeface="Arial" panose="020B0604020202020204" pitchFamily="34" charset="0"/>
                        </a:rPr>
                        <a:t>)</a:t>
                      </a:r>
                      <a:endParaRPr lang="en-US" sz="1600" dirty="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664637"/>
                  </a:ext>
                </a:extLst>
              </a:tr>
              <a:tr h="588759">
                <a:tc>
                  <a:txBody>
                    <a:bodyPr/>
                    <a:lstStyle/>
                    <a:p>
                      <a:pPr rtl="0" fontAlgn="t">
                        <a:buNone/>
                      </a:pPr>
                      <a:r>
                        <a:rPr lang="en-US" sz="1000" b="1" i="0" u="none" strike="noStrike">
                          <a:solidFill>
                            <a:srgbClr val="000000"/>
                          </a:solidFill>
                          <a:effectLst/>
                          <a:latin typeface="Arial" panose="020B0604020202020204" pitchFamily="34" charset="0"/>
                        </a:rPr>
                        <a:t>finproDimBranches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branchid (PK), branchcode, branchname, cityid, 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PK(branchid), FK(cityid), FK(countryid)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8653703"/>
                  </a:ext>
                </a:extLst>
              </a:tr>
              <a:tr h="435908">
                <a:tc>
                  <a:txBody>
                    <a:bodyPr/>
                    <a:lstStyle/>
                    <a:p>
                      <a:pPr rtl="0" fontAlgn="t">
                        <a:buNone/>
                      </a:pPr>
                      <a:r>
                        <a:rPr lang="en-US" sz="1000" b="1" i="0" u="none" strike="noStrike">
                          <a:solidFill>
                            <a:srgbClr val="000000"/>
                          </a:solidFill>
                          <a:effectLst/>
                          <a:latin typeface="Arial" panose="020B0604020202020204" pitchFamily="34" charset="0"/>
                        </a:rPr>
                        <a:t>finproDimCities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cityid (PK), cityname, state, 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PK(cityid), FK(countryid)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329108"/>
                  </a:ext>
                </a:extLst>
              </a:tr>
              <a:tr h="588759">
                <a:tc>
                  <a:txBody>
                    <a:bodyPr/>
                    <a:lstStyle/>
                    <a:p>
                      <a:pPr rtl="0" fontAlgn="t">
                        <a:buNone/>
                      </a:pPr>
                      <a:r>
                        <a:rPr lang="en-US" sz="1000" b="1" i="0" u="none" strike="noStrike">
                          <a:solidFill>
                            <a:srgbClr val="000000"/>
                          </a:solidFill>
                          <a:effectLst/>
                          <a:latin typeface="Arial" panose="020B0604020202020204" pitchFamily="34" charset="0"/>
                        </a:rPr>
                        <a:t>finproDimCountries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countryid (PK), countryname, countrycode, continent</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PK(countryid)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7926739"/>
                  </a:ext>
                </a:extLst>
              </a:tr>
              <a:tr h="435908">
                <a:tc>
                  <a:txBody>
                    <a:bodyPr/>
                    <a:lstStyle/>
                    <a:p>
                      <a:pPr rtl="0" fontAlgn="t">
                        <a:buNone/>
                      </a:pPr>
                      <a:r>
                        <a:rPr lang="en-US" sz="1000" b="1" i="0" u="none" strike="noStrike">
                          <a:solidFill>
                            <a:srgbClr val="000000"/>
                          </a:solidFill>
                          <a:effectLst/>
                          <a:latin typeface="Arial" panose="020B0604020202020204" pitchFamily="34" charset="0"/>
                        </a:rPr>
                        <a:t>finproDimAccountTypes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accounttypeid (PK), accounttype</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PK(accounttypeid)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3145138"/>
                  </a:ext>
                </a:extLst>
              </a:tr>
              <a:tr h="711039">
                <a:tc>
                  <a:txBody>
                    <a:bodyPr/>
                    <a:lstStyle/>
                    <a:p>
                      <a:pPr rtl="0" fontAlgn="t">
                        <a:buNone/>
                      </a:pPr>
                      <a:r>
                        <a:rPr lang="en-US" sz="1000" b="1" i="0" u="none" strike="noStrike">
                          <a:solidFill>
                            <a:srgbClr val="000000"/>
                          </a:solidFill>
                          <a:effectLst/>
                          <a:latin typeface="Arial" panose="020B0604020202020204" pitchFamily="34" charset="0"/>
                        </a:rPr>
                        <a:t>finproDimDate</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dateid (PK), date, day, month, monthname, quarter, year, weekday, weeknumber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date,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PK(dateid)</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3997673"/>
                  </a:ext>
                </a:extLst>
              </a:tr>
              <a:tr h="894460">
                <a:tc>
                  <a:txBody>
                    <a:bodyPr/>
                    <a:lstStyle/>
                    <a:p>
                      <a:pPr rtl="0" fontAlgn="t">
                        <a:buNone/>
                      </a:pPr>
                      <a:r>
                        <a:rPr lang="en-US" sz="1000" b="1" i="0" u="none" strike="noStrike">
                          <a:solidFill>
                            <a:srgbClr val="000000"/>
                          </a:solidFill>
                          <a:effectLst/>
                          <a:latin typeface="Arial" panose="020B0604020202020204" pitchFamily="34" charset="0"/>
                        </a:rPr>
                        <a:t>finproFactTransactions</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transactionid (PK), dateid, customerid, branchid, accounttypeid, transactionamount, transactiontype</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panose="020B0604020202020204" pitchFamily="34" charset="0"/>
                        </a:rPr>
                        <a:t>int, numeric, varchar</a:t>
                      </a:r>
                      <a:endParaRPr lang="en-US" sz="160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US" sz="1000" b="0" i="0" u="none" strike="noStrike" dirty="0">
                          <a:solidFill>
                            <a:srgbClr val="000000"/>
                          </a:solidFill>
                          <a:effectLst/>
                          <a:latin typeface="Arial" panose="020B0604020202020204" pitchFamily="34" charset="0"/>
                        </a:rPr>
                        <a:t>PK(</a:t>
                      </a:r>
                      <a:r>
                        <a:rPr lang="en-US" sz="1000" b="0" i="0" u="none" strike="noStrike" dirty="0" err="1">
                          <a:solidFill>
                            <a:srgbClr val="000000"/>
                          </a:solidFill>
                          <a:effectLst/>
                          <a:latin typeface="Arial" panose="020B0604020202020204" pitchFamily="34" charset="0"/>
                        </a:rPr>
                        <a:t>transactionid</a:t>
                      </a:r>
                      <a:r>
                        <a:rPr lang="en-US" sz="1000" b="0" i="0" u="none" strike="noStrike" dirty="0">
                          <a:solidFill>
                            <a:srgbClr val="000000"/>
                          </a:solidFill>
                          <a:effectLst/>
                          <a:latin typeface="Arial" panose="020B0604020202020204" pitchFamily="34" charset="0"/>
                        </a:rPr>
                        <a:t>), multiple FKs</a:t>
                      </a:r>
                      <a:endParaRPr lang="en-US" sz="1600" dirty="0">
                        <a:effectLst/>
                      </a:endParaRPr>
                    </a:p>
                  </a:txBody>
                  <a:tcPr marL="56611" marR="56611" marT="56611" marB="5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6036461"/>
                  </a:ext>
                </a:extLst>
              </a:tr>
            </a:tbl>
          </a:graphicData>
        </a:graphic>
      </p:graphicFrame>
      <p:sp>
        <p:nvSpPr>
          <p:cNvPr id="5" name="Rectangle 1">
            <a:extLst>
              <a:ext uri="{FF2B5EF4-FFF2-40B4-BE49-F238E27FC236}">
                <a16:creationId xmlns:a16="http://schemas.microsoft.com/office/drawing/2014/main" id="{AF2FDB60-0A69-E8DF-C6E8-BD028D42D51F}"/>
              </a:ext>
            </a:extLst>
          </p:cNvPr>
          <p:cNvSpPr>
            <a:spLocks noChangeArrowheads="1"/>
          </p:cNvSpPr>
          <p:nvPr/>
        </p:nvSpPr>
        <p:spPr bwMode="auto">
          <a:xfrm>
            <a:off x="3375025" y="1338263"/>
            <a:ext cx="11369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017965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B35EF-FE4A-2874-D24C-80F86FED4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D9446-A509-3906-33E1-DDD5CE84D291}"/>
              </a:ext>
            </a:extLst>
          </p:cNvPr>
          <p:cNvSpPr>
            <a:spLocks noGrp="1"/>
          </p:cNvSpPr>
          <p:nvPr>
            <p:ph type="title"/>
          </p:nvPr>
        </p:nvSpPr>
        <p:spPr/>
        <p:txBody>
          <a:bodyPr vert="horz" lIns="91440" tIns="45720" rIns="91440" bIns="45720" rtlCol="0" anchor="ctr">
            <a:normAutofit/>
          </a:bodyPr>
          <a:lstStyle/>
          <a:p>
            <a:r>
              <a:rPr lang="en-US" dirty="0"/>
              <a:t>OLAP schema (1 of 3)</a:t>
            </a:r>
            <a:endParaRPr lang="en-IN" dirty="0"/>
          </a:p>
        </p:txBody>
      </p:sp>
      <p:sp>
        <p:nvSpPr>
          <p:cNvPr id="3" name="Content Placeholder 2">
            <a:extLst>
              <a:ext uri="{FF2B5EF4-FFF2-40B4-BE49-F238E27FC236}">
                <a16:creationId xmlns:a16="http://schemas.microsoft.com/office/drawing/2014/main" id="{36FEAA53-7BA6-829E-D2B2-79E813EB43A2}"/>
              </a:ext>
            </a:extLst>
          </p:cNvPr>
          <p:cNvSpPr>
            <a:spLocks noGrp="1"/>
          </p:cNvSpPr>
          <p:nvPr>
            <p:ph idx="1"/>
          </p:nvPr>
        </p:nvSpPr>
        <p:spPr/>
        <p:txBody>
          <a:bodyPr/>
          <a:lstStyle/>
          <a:p>
            <a:pPr marL="0" indent="0">
              <a:buNone/>
            </a:pPr>
            <a:r>
              <a:rPr lang="en-US" sz="2200" dirty="0"/>
              <a:t>Schema Used: Snowflake Schema</a:t>
            </a:r>
          </a:p>
          <a:p>
            <a:pPr marL="0" indent="0">
              <a:buNone/>
            </a:pPr>
            <a:endParaRPr lang="en-US" sz="2200" dirty="0"/>
          </a:p>
          <a:p>
            <a:pPr lvl="1"/>
            <a:r>
              <a:rPr lang="en-US" dirty="0"/>
              <a:t>The </a:t>
            </a:r>
            <a:r>
              <a:rPr lang="en-US" dirty="0" err="1"/>
              <a:t>FinPro</a:t>
            </a:r>
            <a:r>
              <a:rPr lang="en-US" dirty="0"/>
              <a:t> Bank data model follows a snowflake schema, where dimension tables are normalized into multiple related tables (e.g., Branch → City → Country).</a:t>
            </a:r>
          </a:p>
          <a:p>
            <a:pPr marL="0" indent="0">
              <a:buNone/>
            </a:pPr>
            <a:endParaRPr lang="en-US" sz="2200" dirty="0"/>
          </a:p>
          <a:p>
            <a:pPr marL="0" indent="0">
              <a:buNone/>
            </a:pPr>
            <a:r>
              <a:rPr lang="en-US" sz="2200" dirty="0"/>
              <a:t>Why Snowflake?</a:t>
            </a:r>
          </a:p>
          <a:p>
            <a:pPr marL="0" indent="0">
              <a:buNone/>
            </a:pPr>
            <a:endParaRPr lang="en-US" sz="2200" dirty="0"/>
          </a:p>
          <a:p>
            <a:pPr lvl="1"/>
            <a:r>
              <a:rPr lang="en-US" dirty="0"/>
              <a:t>Reduces redundancy</a:t>
            </a:r>
          </a:p>
          <a:p>
            <a:pPr lvl="1"/>
            <a:r>
              <a:rPr lang="en-US" dirty="0"/>
              <a:t>Improves data integrity</a:t>
            </a:r>
          </a:p>
          <a:p>
            <a:pPr lvl="1"/>
            <a:r>
              <a:rPr lang="en-US" dirty="0"/>
              <a:t>Supports hierarchical reporting (Country → City → Branch)</a:t>
            </a:r>
          </a:p>
          <a:p>
            <a:pPr lvl="1"/>
            <a:r>
              <a:rPr lang="en-US" dirty="0"/>
              <a:t>Aligns with enterprise‑grade data warehousing standards</a:t>
            </a:r>
          </a:p>
          <a:p>
            <a:pPr marL="0" indent="0">
              <a:buNone/>
            </a:pPr>
            <a:endParaRPr lang="en-IN" dirty="0"/>
          </a:p>
        </p:txBody>
      </p:sp>
    </p:spTree>
    <p:extLst>
      <p:ext uri="{BB962C8B-B14F-4D97-AF65-F5344CB8AC3E}">
        <p14:creationId xmlns:p14="http://schemas.microsoft.com/office/powerpoint/2010/main" val="1530451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B35EF-FE4A-2874-D24C-80F86FED4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D9446-A509-3906-33E1-DDD5CE84D291}"/>
              </a:ext>
            </a:extLst>
          </p:cNvPr>
          <p:cNvSpPr>
            <a:spLocks noGrp="1"/>
          </p:cNvSpPr>
          <p:nvPr>
            <p:ph type="title"/>
          </p:nvPr>
        </p:nvSpPr>
        <p:spPr/>
        <p:txBody>
          <a:bodyPr vert="horz" lIns="91440" tIns="45720" rIns="91440" bIns="45720" rtlCol="0" anchor="ctr">
            <a:normAutofit/>
          </a:bodyPr>
          <a:lstStyle/>
          <a:p>
            <a:r>
              <a:rPr lang="en-US" dirty="0"/>
              <a:t>OLAP schema (2 of 3)</a:t>
            </a:r>
            <a:endParaRPr lang="en-IN" dirty="0"/>
          </a:p>
        </p:txBody>
      </p:sp>
      <p:sp>
        <p:nvSpPr>
          <p:cNvPr id="3" name="Content Placeholder 2">
            <a:extLst>
              <a:ext uri="{FF2B5EF4-FFF2-40B4-BE49-F238E27FC236}">
                <a16:creationId xmlns:a16="http://schemas.microsoft.com/office/drawing/2014/main" id="{36FEAA53-7BA6-829E-D2B2-79E813EB43A2}"/>
              </a:ext>
            </a:extLst>
          </p:cNvPr>
          <p:cNvSpPr>
            <a:spLocks noGrp="1"/>
          </p:cNvSpPr>
          <p:nvPr>
            <p:ph idx="1"/>
          </p:nvPr>
        </p:nvSpPr>
        <p:spPr>
          <a:xfrm>
            <a:off x="838200" y="1209040"/>
            <a:ext cx="10515600" cy="4967923"/>
          </a:xfrm>
        </p:spPr>
        <p:txBody>
          <a:bodyPr>
            <a:normAutofit lnSpcReduction="10000"/>
          </a:bodyPr>
          <a:lstStyle/>
          <a:p>
            <a:pPr rtl="0">
              <a:spcBef>
                <a:spcPts val="1400"/>
              </a:spcBef>
              <a:spcAft>
                <a:spcPts val="400"/>
              </a:spcAft>
              <a:buNone/>
            </a:pPr>
            <a:r>
              <a:rPr lang="en-US" sz="2000" i="0" u="none" strike="noStrike" dirty="0">
                <a:solidFill>
                  <a:srgbClr val="000000"/>
                </a:solidFill>
                <a:effectLst/>
                <a:latin typeface="Arial" panose="020B0604020202020204" pitchFamily="34" charset="0"/>
              </a:rPr>
              <a:t>Fact Table</a:t>
            </a:r>
            <a:endParaRPr lang="en-US" sz="2000" dirty="0">
              <a:effectLst/>
            </a:endParaRPr>
          </a:p>
          <a:p>
            <a:pPr lvl="1" fontAlgn="base">
              <a:spcBef>
                <a:spcPts val="1200"/>
              </a:spcBef>
              <a:spcAft>
                <a:spcPts val="1200"/>
              </a:spcAft>
            </a:pPr>
            <a:r>
              <a:rPr lang="en-US" sz="1800" b="1" i="0" u="none" strike="noStrike" dirty="0" err="1">
                <a:solidFill>
                  <a:srgbClr val="000000"/>
                </a:solidFill>
                <a:effectLst/>
                <a:latin typeface="Arial" panose="020B0604020202020204" pitchFamily="34" charset="0"/>
              </a:rPr>
              <a:t>finproFactTransactions</a:t>
            </a:r>
            <a:br>
              <a:rPr lang="en-US" sz="1800" b="1"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Stores all measurable events (transactions).</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Supports KPIs such as total deposits, withdrawals, balances, and transaction counts.</a:t>
            </a:r>
          </a:p>
          <a:p>
            <a:pPr rtl="0">
              <a:spcBef>
                <a:spcPts val="1400"/>
              </a:spcBef>
              <a:spcAft>
                <a:spcPts val="400"/>
              </a:spcAft>
              <a:buNone/>
            </a:pPr>
            <a:r>
              <a:rPr lang="en-US" sz="2000" i="0" u="none" strike="noStrike" dirty="0">
                <a:solidFill>
                  <a:srgbClr val="000000"/>
                </a:solidFill>
                <a:effectLst/>
                <a:latin typeface="Arial" panose="020B0604020202020204" pitchFamily="34" charset="0"/>
              </a:rPr>
              <a:t>Dimension Tables</a:t>
            </a:r>
            <a:endParaRPr lang="en-US" sz="2000" dirty="0">
              <a:effectLst/>
            </a:endParaRPr>
          </a:p>
          <a:p>
            <a:pPr lvl="1" fontAlgn="base">
              <a:spcBef>
                <a:spcPts val="1200"/>
              </a:spcBef>
            </a:pPr>
            <a:r>
              <a:rPr lang="en-US" sz="1800" b="1" i="0" u="none" strike="noStrike" dirty="0">
                <a:solidFill>
                  <a:srgbClr val="000000"/>
                </a:solidFill>
                <a:effectLst/>
                <a:latin typeface="Arial" panose="020B0604020202020204" pitchFamily="34" charset="0"/>
              </a:rPr>
              <a:t>Customer Dimension</a:t>
            </a:r>
            <a:r>
              <a:rPr lang="en-US" sz="1800" b="0" i="0" u="none" strike="noStrike" dirty="0">
                <a:solidFill>
                  <a:srgbClr val="000000"/>
                </a:solidFill>
                <a:effectLst/>
                <a:latin typeface="Arial" panose="020B0604020202020204" pitchFamily="34" charset="0"/>
              </a:rPr>
              <a:t> → demographic analysis</a:t>
            </a:r>
          </a:p>
          <a:p>
            <a:pPr lvl="1" fontAlgn="base"/>
            <a:r>
              <a:rPr lang="en-US" sz="1800" b="1" i="0" u="none" strike="noStrike" dirty="0">
                <a:solidFill>
                  <a:srgbClr val="000000"/>
                </a:solidFill>
                <a:effectLst/>
                <a:latin typeface="Arial" panose="020B0604020202020204" pitchFamily="34" charset="0"/>
              </a:rPr>
              <a:t>Branch Dimension</a:t>
            </a:r>
            <a:r>
              <a:rPr lang="en-US" sz="1800" b="0" i="0" u="none" strike="noStrike" dirty="0">
                <a:solidFill>
                  <a:srgbClr val="000000"/>
                </a:solidFill>
                <a:effectLst/>
                <a:latin typeface="Arial" panose="020B0604020202020204" pitchFamily="34" charset="0"/>
              </a:rPr>
              <a:t> → branch performance</a:t>
            </a:r>
          </a:p>
          <a:p>
            <a:pPr lvl="1" fontAlgn="base"/>
            <a:r>
              <a:rPr lang="en-US" sz="1800" b="1" i="0" u="none" strike="noStrike" dirty="0">
                <a:solidFill>
                  <a:srgbClr val="000000"/>
                </a:solidFill>
                <a:effectLst/>
                <a:latin typeface="Arial" panose="020B0604020202020204" pitchFamily="34" charset="0"/>
              </a:rPr>
              <a:t>City &amp; Country Dimensions</a:t>
            </a:r>
            <a:r>
              <a:rPr lang="en-US" sz="1800" b="0" i="0" u="none" strike="noStrike" dirty="0">
                <a:solidFill>
                  <a:srgbClr val="000000"/>
                </a:solidFill>
                <a:effectLst/>
                <a:latin typeface="Arial" panose="020B0604020202020204" pitchFamily="34" charset="0"/>
              </a:rPr>
              <a:t> → geographic insights</a:t>
            </a:r>
          </a:p>
          <a:p>
            <a:pPr lvl="1" fontAlgn="base"/>
            <a:r>
              <a:rPr lang="en-US" sz="1800" b="1" dirty="0">
                <a:solidFill>
                  <a:srgbClr val="000000"/>
                </a:solidFill>
              </a:rPr>
              <a:t>Account Type Dimension</a:t>
            </a:r>
            <a:r>
              <a:rPr lang="en-US" sz="1800" dirty="0">
                <a:solidFill>
                  <a:srgbClr val="000000"/>
                </a:solidFill>
              </a:rPr>
              <a:t> → product segmentation</a:t>
            </a:r>
            <a:endParaRPr lang="en-US" sz="1800" b="0" i="0" u="none" strike="noStrike" dirty="0">
              <a:solidFill>
                <a:srgbClr val="000000"/>
              </a:solidFill>
              <a:effectLst/>
              <a:latin typeface="Arial" panose="020B0604020202020204" pitchFamily="34" charset="0"/>
            </a:endParaRPr>
          </a:p>
          <a:p>
            <a:pPr lvl="1" fontAlgn="base">
              <a:spcAft>
                <a:spcPts val="1200"/>
              </a:spcAft>
            </a:pPr>
            <a:r>
              <a:rPr lang="en-US" sz="1800" b="1" dirty="0">
                <a:solidFill>
                  <a:srgbClr val="000000"/>
                </a:solidFill>
              </a:rPr>
              <a:t>Date Dimension</a:t>
            </a:r>
            <a:r>
              <a:rPr lang="en-US" sz="1800" dirty="0">
                <a:solidFill>
                  <a:srgbClr val="000000"/>
                </a:solidFill>
              </a:rPr>
              <a:t> → time‑series reporting</a:t>
            </a:r>
            <a:endParaRPr lang="en-IN" sz="1800" dirty="0"/>
          </a:p>
          <a:p>
            <a:pPr marL="0">
              <a:spcBef>
                <a:spcPts val="1400"/>
              </a:spcBef>
              <a:spcAft>
                <a:spcPts val="800"/>
              </a:spcAft>
              <a:buNone/>
            </a:pPr>
            <a:r>
              <a:rPr lang="en-IN" sz="2000" dirty="0"/>
              <a:t>Role in reporting</a:t>
            </a:r>
          </a:p>
          <a:p>
            <a:pPr lvl="1">
              <a:spcBef>
                <a:spcPts val="800"/>
              </a:spcBef>
            </a:pPr>
            <a:r>
              <a:rPr lang="en-US" sz="1800" dirty="0"/>
              <a:t>Branch‑wise performance dashboards</a:t>
            </a:r>
          </a:p>
          <a:p>
            <a:pPr lvl="1"/>
            <a:r>
              <a:rPr lang="en-US" sz="1800" dirty="0"/>
              <a:t>Country‑wise transaction analysis</a:t>
            </a:r>
          </a:p>
          <a:p>
            <a:pPr lvl="1"/>
            <a:r>
              <a:rPr lang="en-US" sz="1800" dirty="0"/>
              <a:t>Customer segmentation</a:t>
            </a:r>
          </a:p>
          <a:p>
            <a:pPr marL="0" indent="0">
              <a:buNone/>
            </a:pPr>
            <a:endParaRPr lang="en-IN" sz="2000" dirty="0"/>
          </a:p>
        </p:txBody>
      </p:sp>
      <p:sp>
        <p:nvSpPr>
          <p:cNvPr id="4" name="TextBox 3">
            <a:extLst>
              <a:ext uri="{FF2B5EF4-FFF2-40B4-BE49-F238E27FC236}">
                <a16:creationId xmlns:a16="http://schemas.microsoft.com/office/drawing/2014/main" id="{BCD0FE2B-CD4A-9159-9957-B724063F3A49}"/>
              </a:ext>
            </a:extLst>
          </p:cNvPr>
          <p:cNvSpPr txBox="1"/>
          <p:nvPr/>
        </p:nvSpPr>
        <p:spPr>
          <a:xfrm>
            <a:off x="4184073" y="734291"/>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585772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B35EF-FE4A-2874-D24C-80F86FED4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D9446-A509-3906-33E1-DDD5CE84D291}"/>
              </a:ext>
            </a:extLst>
          </p:cNvPr>
          <p:cNvSpPr>
            <a:spLocks noGrp="1"/>
          </p:cNvSpPr>
          <p:nvPr>
            <p:ph type="title"/>
          </p:nvPr>
        </p:nvSpPr>
        <p:spPr>
          <a:xfrm>
            <a:off x="838200" y="365125"/>
            <a:ext cx="10515600" cy="685909"/>
          </a:xfrm>
        </p:spPr>
        <p:txBody>
          <a:bodyPr vert="horz" lIns="91440" tIns="45720" rIns="91440" bIns="45720" rtlCol="0" anchor="ctr">
            <a:normAutofit/>
          </a:bodyPr>
          <a:lstStyle/>
          <a:p>
            <a:r>
              <a:rPr lang="en-US" dirty="0"/>
              <a:t>OLAP schema (3 of 3)</a:t>
            </a:r>
            <a:endParaRPr lang="en-IN" dirty="0"/>
          </a:p>
        </p:txBody>
      </p:sp>
      <p:sp>
        <p:nvSpPr>
          <p:cNvPr id="3" name="Content Placeholder 2">
            <a:extLst>
              <a:ext uri="{FF2B5EF4-FFF2-40B4-BE49-F238E27FC236}">
                <a16:creationId xmlns:a16="http://schemas.microsoft.com/office/drawing/2014/main" id="{36FEAA53-7BA6-829E-D2B2-79E813EB43A2}"/>
              </a:ext>
            </a:extLst>
          </p:cNvPr>
          <p:cNvSpPr>
            <a:spLocks noGrp="1"/>
          </p:cNvSpPr>
          <p:nvPr>
            <p:ph sz="half" idx="1"/>
          </p:nvPr>
        </p:nvSpPr>
        <p:spPr>
          <a:xfrm>
            <a:off x="838200" y="1163789"/>
            <a:ext cx="5181600" cy="5013174"/>
          </a:xfrm>
        </p:spPr>
        <p:txBody>
          <a:bodyPr>
            <a:normAutofit/>
          </a:bodyPr>
          <a:lstStyle/>
          <a:p>
            <a:pPr marL="457200" lvl="1" indent="0">
              <a:buNone/>
            </a:pPr>
            <a:endParaRPr lang="en-US" sz="2400" dirty="0"/>
          </a:p>
          <a:p>
            <a:pPr lvl="1"/>
            <a:r>
              <a:rPr lang="en-US" sz="2200" dirty="0"/>
              <a:t>The fact table sits at the center, connected to all dimensions.</a:t>
            </a:r>
          </a:p>
          <a:p>
            <a:pPr lvl="1"/>
            <a:r>
              <a:rPr lang="en-US" sz="2200" dirty="0"/>
              <a:t>Each dimension provides a different analytical lens.</a:t>
            </a:r>
          </a:p>
          <a:p>
            <a:pPr lvl="1"/>
            <a:r>
              <a:rPr lang="en-US" sz="2200" dirty="0"/>
              <a:t>The snowflake structure supports both granular and aggregated reporting.</a:t>
            </a:r>
          </a:p>
          <a:p>
            <a:pPr lvl="1"/>
            <a:r>
              <a:rPr lang="en-US" sz="2200" dirty="0"/>
              <a:t>This design ensures fast, accurate, and scalable BI operations.</a:t>
            </a:r>
            <a:endParaRPr lang="en-IN" sz="2200" dirty="0"/>
          </a:p>
          <a:p>
            <a:endParaRPr lang="en-IN" dirty="0"/>
          </a:p>
        </p:txBody>
      </p:sp>
      <p:pic>
        <p:nvPicPr>
          <p:cNvPr id="10" name="Picture 9">
            <a:extLst>
              <a:ext uri="{FF2B5EF4-FFF2-40B4-BE49-F238E27FC236}">
                <a16:creationId xmlns:a16="http://schemas.microsoft.com/office/drawing/2014/main" id="{5489BE82-705A-BD9A-2F06-67C9B61A8843}"/>
              </a:ext>
            </a:extLst>
          </p:cNvPr>
          <p:cNvPicPr>
            <a:picLocks noChangeAspect="1"/>
          </p:cNvPicPr>
          <p:nvPr/>
        </p:nvPicPr>
        <p:blipFill>
          <a:blip r:embed="rId2"/>
          <a:stretch>
            <a:fillRect/>
          </a:stretch>
        </p:blipFill>
        <p:spPr>
          <a:xfrm>
            <a:off x="6172200" y="1704109"/>
            <a:ext cx="5181600" cy="3572563"/>
          </a:xfrm>
          <a:prstGeom prst="rect">
            <a:avLst/>
          </a:prstGeom>
          <a:noFill/>
        </p:spPr>
      </p:pic>
      <p:sp>
        <p:nvSpPr>
          <p:cNvPr id="4" name="TextBox 3">
            <a:extLst>
              <a:ext uri="{FF2B5EF4-FFF2-40B4-BE49-F238E27FC236}">
                <a16:creationId xmlns:a16="http://schemas.microsoft.com/office/drawing/2014/main" id="{BCD0FE2B-CD4A-9159-9957-B724063F3A49}"/>
              </a:ext>
            </a:extLst>
          </p:cNvPr>
          <p:cNvSpPr txBox="1"/>
          <p:nvPr/>
        </p:nvSpPr>
        <p:spPr>
          <a:xfrm>
            <a:off x="4184073" y="734291"/>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3093832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fontScale="90000"/>
          </a:bodyPr>
          <a:lstStyle/>
          <a:p>
            <a:pPr algn="ctr"/>
            <a:r>
              <a:rPr lang="en-US" dirty="0"/>
              <a:t>Evaluation and interpretation</a:t>
            </a:r>
          </a:p>
        </p:txBody>
      </p:sp>
    </p:spTree>
    <p:extLst>
      <p:ext uri="{BB962C8B-B14F-4D97-AF65-F5344CB8AC3E}">
        <p14:creationId xmlns:p14="http://schemas.microsoft.com/office/powerpoint/2010/main" val="1804699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7D30-FC14-D885-592D-C7FF4FAAEDF6}"/>
              </a:ext>
            </a:extLst>
          </p:cNvPr>
          <p:cNvSpPr>
            <a:spLocks noGrp="1"/>
          </p:cNvSpPr>
          <p:nvPr>
            <p:ph type="title"/>
          </p:nvPr>
        </p:nvSpPr>
        <p:spPr/>
        <p:txBody>
          <a:bodyPr/>
          <a:lstStyle/>
          <a:p>
            <a:r>
              <a:rPr lang="en-IN" dirty="0"/>
              <a:t>Documenting SQL queries and scripts (1 of 7)</a:t>
            </a:r>
          </a:p>
        </p:txBody>
      </p:sp>
      <p:sp>
        <p:nvSpPr>
          <p:cNvPr id="3" name="Content Placeholder 2">
            <a:extLst>
              <a:ext uri="{FF2B5EF4-FFF2-40B4-BE49-F238E27FC236}">
                <a16:creationId xmlns:a16="http://schemas.microsoft.com/office/drawing/2014/main" id="{7BF1B0C9-1E90-D0DF-7662-85F3F7F2D1A3}"/>
              </a:ext>
            </a:extLst>
          </p:cNvPr>
          <p:cNvSpPr>
            <a:spLocks noGrp="1"/>
          </p:cNvSpPr>
          <p:nvPr>
            <p:ph idx="1"/>
          </p:nvPr>
        </p:nvSpPr>
        <p:spPr/>
        <p:txBody>
          <a:bodyPr>
            <a:normAutofit fontScale="92500" lnSpcReduction="20000"/>
          </a:bodyPr>
          <a:lstStyle/>
          <a:p>
            <a:pPr marL="228600" indent="-228600" rtl="0">
              <a:spcBef>
                <a:spcPts val="1400"/>
              </a:spcBef>
              <a:spcAft>
                <a:spcPts val="400"/>
              </a:spcAft>
              <a:buNone/>
            </a:pPr>
            <a:r>
              <a:rPr lang="en-US" sz="1800" b="1" i="0" u="none" strike="noStrike" dirty="0">
                <a:solidFill>
                  <a:srgbClr val="000000"/>
                </a:solidFill>
                <a:effectLst/>
                <a:latin typeface="Arial" panose="020B0604020202020204" pitchFamily="34" charset="0"/>
              </a:rPr>
              <a:t>OLTP Scripts (Operational Transactions)</a:t>
            </a:r>
            <a:endParaRPr lang="en-US" sz="1800" b="1" dirty="0">
              <a:effectLst/>
            </a:endParaRPr>
          </a:p>
          <a:p>
            <a:pPr rtl="0">
              <a:spcBef>
                <a:spcPts val="1200"/>
              </a:spcBef>
              <a:spcAft>
                <a:spcPts val="1200"/>
              </a:spcAft>
              <a:buNone/>
            </a:pPr>
            <a:r>
              <a:rPr lang="en-US" sz="1600" i="0" u="none" strike="noStrike" dirty="0">
                <a:solidFill>
                  <a:srgbClr val="000000"/>
                </a:solidFill>
                <a:effectLst/>
                <a:latin typeface="Arial" panose="020B0604020202020204" pitchFamily="34" charset="0"/>
              </a:rPr>
              <a:t>These scripts support day‑to‑day banking operations.</a:t>
            </a:r>
            <a:endParaRPr lang="en-US" sz="1600" dirty="0">
              <a:effectLst/>
            </a:endParaRPr>
          </a:p>
          <a:p>
            <a:pPr rtl="0" fontAlgn="base">
              <a:spcBef>
                <a:spcPts val="400"/>
              </a:spcBef>
              <a:buFont typeface="Arial" panose="020B0604020202020204" pitchFamily="34" charset="0"/>
              <a:buChar char="•"/>
            </a:pPr>
            <a:r>
              <a:rPr lang="en-US" sz="1600" b="1" i="0" u="none" strike="noStrike" dirty="0">
                <a:solidFill>
                  <a:srgbClr val="000000"/>
                </a:solidFill>
                <a:effectLst/>
                <a:latin typeface="Arial" panose="020B0604020202020204" pitchFamily="34" charset="0"/>
              </a:rPr>
              <a:t>Create Tables (OLTP Layer)</a:t>
            </a:r>
          </a:p>
          <a:p>
            <a:pPr marL="0" indent="0" rtl="0" fontAlgn="base">
              <a:spcBef>
                <a:spcPts val="400"/>
              </a:spcBef>
              <a:buNone/>
            </a:pPr>
            <a:endParaRPr lang="en-US" sz="1600" b="1" i="0" u="none" strike="noStrike" dirty="0">
              <a:solidFill>
                <a:srgbClr val="000000"/>
              </a:solidFill>
              <a:effectLst/>
              <a:latin typeface="Arial" panose="020B0604020202020204" pitchFamily="34" charset="0"/>
            </a:endParaRPr>
          </a:p>
          <a:p>
            <a:pPr marL="742950" lvl="1" indent="-285750" rtl="0" fontAlgn="base">
              <a:spcBef>
                <a:spcPts val="0"/>
              </a:spcBef>
              <a:buFont typeface="Arial" panose="020B0604020202020204" pitchFamily="34" charset="0"/>
              <a:buChar char="•"/>
            </a:pPr>
            <a:r>
              <a:rPr lang="en-US" sz="1600" b="1" i="0" u="none" strike="noStrike" dirty="0">
                <a:solidFill>
                  <a:srgbClr val="188038"/>
                </a:solidFill>
                <a:effectLst/>
                <a:latin typeface="Roboto Mono" panose="00000009000000000000" pitchFamily="49" charset="0"/>
              </a:rPr>
              <a:t>CREATE TABLE </a:t>
            </a:r>
            <a:r>
              <a:rPr lang="en-US" sz="1600" b="1" i="0" u="none" strike="noStrike" dirty="0" err="1">
                <a:solidFill>
                  <a:srgbClr val="188038"/>
                </a:solidFill>
                <a:effectLst/>
                <a:latin typeface="Roboto Mono" panose="00000009000000000000" pitchFamily="49" charset="0"/>
              </a:rPr>
              <a:t>finproDimCustomers</a:t>
            </a:r>
            <a:r>
              <a:rPr lang="en-US" sz="1600" b="1" i="0" u="none" strike="noStrike" dirty="0">
                <a:solidFill>
                  <a:srgbClr val="188038"/>
                </a:solidFill>
                <a:effectLst/>
                <a:latin typeface="Roboto Mono" panose="00000009000000000000" pitchFamily="49" charset="0"/>
              </a:rPr>
              <a:t> (...)</a:t>
            </a:r>
            <a:endParaRPr lang="en-US" sz="1600" b="1" i="0" u="none" strike="noStrike" dirty="0">
              <a:solidFill>
                <a:srgbClr val="000000"/>
              </a:solidFill>
              <a:effectLst/>
              <a:latin typeface="Arial" panose="020B0604020202020204" pitchFamily="34" charset="0"/>
            </a:endParaRPr>
          </a:p>
          <a:p>
            <a:pPr marL="742950" lvl="1" indent="-285750" rtl="0" fontAlgn="base">
              <a:buFont typeface="Arial" panose="020B0604020202020204" pitchFamily="34" charset="0"/>
              <a:buChar char="•"/>
            </a:pPr>
            <a:r>
              <a:rPr lang="en-US" sz="1600" b="1" i="0" u="none" strike="noStrike" dirty="0">
                <a:solidFill>
                  <a:srgbClr val="188038"/>
                </a:solidFill>
                <a:effectLst/>
                <a:latin typeface="Roboto Mono" panose="00000009000000000000" pitchFamily="49" charset="0"/>
              </a:rPr>
              <a:t>CREATE TABLE </a:t>
            </a:r>
            <a:r>
              <a:rPr lang="en-US" sz="1600" b="1" i="0" u="none" strike="noStrike" dirty="0" err="1">
                <a:solidFill>
                  <a:srgbClr val="188038"/>
                </a:solidFill>
                <a:effectLst/>
                <a:latin typeface="Roboto Mono" panose="00000009000000000000" pitchFamily="49" charset="0"/>
              </a:rPr>
              <a:t>finproFactTransactions</a:t>
            </a:r>
            <a:r>
              <a:rPr lang="en-US" sz="1600" b="1" i="0" u="none" strike="noStrike" dirty="0">
                <a:solidFill>
                  <a:srgbClr val="188038"/>
                </a:solidFill>
                <a:effectLst/>
                <a:latin typeface="Roboto Mono" panose="00000009000000000000" pitchFamily="49" charset="0"/>
              </a:rPr>
              <a:t> (...)</a:t>
            </a:r>
            <a:br>
              <a:rPr lang="en-US" sz="1600" b="1" i="0" u="none" strike="noStrike" dirty="0">
                <a:solidFill>
                  <a:srgbClr val="188038"/>
                </a:solidFill>
                <a:effectLst/>
                <a:latin typeface="Roboto Mono" panose="00000009000000000000" pitchFamily="49" charset="0"/>
              </a:rPr>
            </a:br>
            <a:r>
              <a:rPr lang="en-US" sz="1600" i="1" u="none" strike="noStrike" dirty="0">
                <a:solidFill>
                  <a:srgbClr val="000000"/>
                </a:solidFill>
                <a:effectLst/>
                <a:latin typeface="Arial" panose="020B0604020202020204" pitchFamily="34" charset="0"/>
              </a:rPr>
              <a:t>(Purpose: Define operational entities and enforce constraints.)</a:t>
            </a:r>
            <a:endParaRPr lang="en-US" sz="160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1600" b="1" i="0" u="none" strike="noStrike" dirty="0">
                <a:solidFill>
                  <a:srgbClr val="000000"/>
                </a:solidFill>
                <a:effectLst/>
                <a:latin typeface="Arial" panose="020B0604020202020204" pitchFamily="34" charset="0"/>
              </a:rPr>
              <a:t>Insert Data (OLTP Layer)</a:t>
            </a:r>
          </a:p>
          <a:p>
            <a:pPr marL="0" indent="0" rtl="0" fontAlgn="base">
              <a:buNone/>
            </a:pPr>
            <a:endParaRPr lang="en-US" sz="1600" b="1" i="0" u="none" strike="noStrike" dirty="0">
              <a:solidFill>
                <a:srgbClr val="000000"/>
              </a:solidFill>
              <a:effectLst/>
              <a:latin typeface="Arial" panose="020B0604020202020204" pitchFamily="34" charset="0"/>
            </a:endParaRPr>
          </a:p>
          <a:p>
            <a:pPr marL="742950" lvl="1" indent="-285750" rtl="0" fontAlgn="base">
              <a:spcBef>
                <a:spcPts val="0"/>
              </a:spcBef>
              <a:buFont typeface="Arial" panose="020B0604020202020204" pitchFamily="34" charset="0"/>
              <a:buChar char="•"/>
            </a:pPr>
            <a:r>
              <a:rPr lang="en-US" sz="1600" b="1" i="0" u="none" strike="noStrike" dirty="0">
                <a:solidFill>
                  <a:srgbClr val="188038"/>
                </a:solidFill>
                <a:effectLst/>
                <a:latin typeface="Roboto Mono" panose="00000009000000000000" pitchFamily="49" charset="0"/>
              </a:rPr>
              <a:t>INSERT INTO </a:t>
            </a:r>
            <a:r>
              <a:rPr lang="en-US" sz="1600" b="1" i="0" u="none" strike="noStrike" dirty="0" err="1">
                <a:solidFill>
                  <a:srgbClr val="188038"/>
                </a:solidFill>
                <a:effectLst/>
                <a:latin typeface="Roboto Mono" panose="00000009000000000000" pitchFamily="49" charset="0"/>
              </a:rPr>
              <a:t>finproDimCustomers</a:t>
            </a:r>
            <a:r>
              <a:rPr lang="en-US" sz="1600" b="1" i="0" u="none" strike="noStrike" dirty="0">
                <a:solidFill>
                  <a:srgbClr val="188038"/>
                </a:solidFill>
                <a:effectLst/>
                <a:latin typeface="Roboto Mono" panose="00000009000000000000" pitchFamily="49" charset="0"/>
              </a:rPr>
              <a:t> (...) VALUES (...);</a:t>
            </a:r>
            <a:endParaRPr lang="en-US" sz="1600" b="1" i="0" u="none" strike="noStrike" dirty="0">
              <a:solidFill>
                <a:srgbClr val="000000"/>
              </a:solidFill>
              <a:effectLst/>
              <a:latin typeface="Arial" panose="020B0604020202020204" pitchFamily="34" charset="0"/>
            </a:endParaRPr>
          </a:p>
          <a:p>
            <a:pPr marL="742950" lvl="1" indent="-285750" rtl="0" fontAlgn="base">
              <a:spcAft>
                <a:spcPts val="1200"/>
              </a:spcAft>
              <a:buFont typeface="Arial" panose="020B0604020202020204" pitchFamily="34" charset="0"/>
              <a:buChar char="•"/>
            </a:pPr>
            <a:r>
              <a:rPr lang="en-US" sz="1600" b="1" i="0" u="none" strike="noStrike" dirty="0">
                <a:solidFill>
                  <a:srgbClr val="188038"/>
                </a:solidFill>
                <a:effectLst/>
                <a:latin typeface="Roboto Mono" panose="00000009000000000000" pitchFamily="49" charset="0"/>
              </a:rPr>
              <a:t>INSERT INTO </a:t>
            </a:r>
            <a:r>
              <a:rPr lang="en-US" sz="1600" b="1" i="0" u="none" strike="noStrike" dirty="0" err="1">
                <a:solidFill>
                  <a:srgbClr val="188038"/>
                </a:solidFill>
                <a:effectLst/>
                <a:latin typeface="Roboto Mono" panose="00000009000000000000" pitchFamily="49" charset="0"/>
              </a:rPr>
              <a:t>finproFactTransactions</a:t>
            </a:r>
            <a:r>
              <a:rPr lang="en-US" sz="1600" b="1" i="0" u="none" strike="noStrike" dirty="0">
                <a:solidFill>
                  <a:srgbClr val="188038"/>
                </a:solidFill>
                <a:effectLst/>
                <a:latin typeface="Roboto Mono" panose="00000009000000000000" pitchFamily="49" charset="0"/>
              </a:rPr>
              <a:t> (...) VALUES (...);</a:t>
            </a:r>
            <a:br>
              <a:rPr lang="en-US" sz="1600" b="1" i="0" u="none" strike="noStrike" dirty="0">
                <a:solidFill>
                  <a:srgbClr val="188038"/>
                </a:solidFill>
                <a:effectLst/>
                <a:latin typeface="Roboto Mono" panose="00000009000000000000" pitchFamily="49" charset="0"/>
              </a:rPr>
            </a:br>
            <a:r>
              <a:rPr lang="en-US" sz="1600" i="1" u="none" strike="noStrike" dirty="0">
                <a:solidFill>
                  <a:srgbClr val="000000"/>
                </a:solidFill>
                <a:effectLst/>
                <a:latin typeface="Arial" panose="020B0604020202020204" pitchFamily="34" charset="0"/>
              </a:rPr>
              <a:t>(Purpose: Load customer, branch, and transaction data.)</a:t>
            </a:r>
            <a:endParaRPr lang="en-US" sz="1600" i="0" u="none" strike="noStrike" dirty="0">
              <a:solidFill>
                <a:srgbClr val="000000"/>
              </a:solidFill>
              <a:effectLst/>
              <a:latin typeface="Arial" panose="020B0604020202020204" pitchFamily="34" charset="0"/>
            </a:endParaRPr>
          </a:p>
          <a:p>
            <a:pPr marL="228600" indent="-228600" rtl="0">
              <a:spcBef>
                <a:spcPts val="1400"/>
              </a:spcBef>
              <a:spcAft>
                <a:spcPts val="400"/>
              </a:spcAft>
              <a:buNone/>
            </a:pPr>
            <a:r>
              <a:rPr lang="en-US" sz="1800" b="1" i="0" u="none" strike="noStrike" dirty="0">
                <a:solidFill>
                  <a:srgbClr val="000000"/>
                </a:solidFill>
                <a:effectLst/>
                <a:latin typeface="Arial" panose="020B0604020202020204" pitchFamily="34" charset="0"/>
              </a:rPr>
              <a:t>OLAP Scripts (Analytical Queries)</a:t>
            </a:r>
            <a:endParaRPr lang="en-US" sz="1800" b="1" dirty="0">
              <a:effectLst/>
            </a:endParaRPr>
          </a:p>
          <a:p>
            <a:pPr rtl="0">
              <a:spcBef>
                <a:spcPts val="1200"/>
              </a:spcBef>
              <a:spcAft>
                <a:spcPts val="1200"/>
              </a:spcAft>
              <a:buNone/>
            </a:pPr>
            <a:r>
              <a:rPr lang="en-US" sz="1600" i="0" u="none" strike="noStrike" dirty="0">
                <a:solidFill>
                  <a:srgbClr val="000000"/>
                </a:solidFill>
                <a:effectLst/>
                <a:latin typeface="Arial" panose="020B0604020202020204" pitchFamily="34" charset="0"/>
              </a:rPr>
              <a:t>These scripts support reporting, dashboards, and insights.</a:t>
            </a:r>
            <a:endParaRPr lang="en-US" sz="1600" dirty="0">
              <a:effectLst/>
            </a:endParaRPr>
          </a:p>
          <a:p>
            <a:pPr rtl="0" fontAlgn="base">
              <a:spcBef>
                <a:spcPts val="600"/>
              </a:spcBef>
              <a:spcAft>
                <a:spcPts val="1200"/>
              </a:spcAft>
              <a:buFont typeface="Arial" panose="020B0604020202020204" pitchFamily="34" charset="0"/>
              <a:buChar char="•"/>
            </a:pPr>
            <a:r>
              <a:rPr lang="en-US" sz="1600" i="0" u="none" strike="noStrike" dirty="0">
                <a:solidFill>
                  <a:srgbClr val="000000"/>
                </a:solidFill>
                <a:effectLst/>
                <a:latin typeface="Arial" panose="020B0604020202020204" pitchFamily="34" charset="0"/>
              </a:rPr>
              <a:t>Aggregations, Joins, Grouping Sets, Rollup, Cube</a:t>
            </a:r>
          </a:p>
          <a:p>
            <a:pPr marL="742950" lvl="1" indent="-285750" rtl="0" fontAlgn="base">
              <a:spcBef>
                <a:spcPts val="600"/>
              </a:spcBef>
              <a:spcAft>
                <a:spcPts val="1200"/>
              </a:spcAft>
              <a:buFont typeface="Arial" panose="020B0604020202020204" pitchFamily="34" charset="0"/>
              <a:buChar char="•"/>
            </a:pPr>
            <a:r>
              <a:rPr lang="en-US" sz="1600" i="0" u="none" strike="noStrike" dirty="0">
                <a:solidFill>
                  <a:srgbClr val="000000"/>
                </a:solidFill>
                <a:effectLst/>
                <a:latin typeface="Arial" panose="020B0604020202020204" pitchFamily="34" charset="0"/>
              </a:rPr>
              <a:t>Used for branch‑wise totals, country‑wise counts, and time‑series analysis.</a:t>
            </a:r>
            <a:endParaRPr lang="en-IN" sz="1600" dirty="0"/>
          </a:p>
          <a:p>
            <a:endParaRPr lang="en-IN" dirty="0"/>
          </a:p>
        </p:txBody>
      </p:sp>
    </p:spTree>
    <p:extLst>
      <p:ext uri="{BB962C8B-B14F-4D97-AF65-F5344CB8AC3E}">
        <p14:creationId xmlns:p14="http://schemas.microsoft.com/office/powerpoint/2010/main" val="29645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7D30-FC14-D885-592D-C7FF4FAAEDF6}"/>
              </a:ext>
            </a:extLst>
          </p:cNvPr>
          <p:cNvSpPr>
            <a:spLocks noGrp="1"/>
          </p:cNvSpPr>
          <p:nvPr>
            <p:ph type="title"/>
          </p:nvPr>
        </p:nvSpPr>
        <p:spPr/>
        <p:txBody>
          <a:bodyPr/>
          <a:lstStyle/>
          <a:p>
            <a:r>
              <a:rPr lang="en-IN" dirty="0"/>
              <a:t>Documenting SQL queries and scripts (2 of 7)</a:t>
            </a:r>
          </a:p>
        </p:txBody>
      </p:sp>
      <p:sp>
        <p:nvSpPr>
          <p:cNvPr id="3" name="Content Placeholder 2">
            <a:extLst>
              <a:ext uri="{FF2B5EF4-FFF2-40B4-BE49-F238E27FC236}">
                <a16:creationId xmlns:a16="http://schemas.microsoft.com/office/drawing/2014/main" id="{7BF1B0C9-1E90-D0DF-7662-85F3F7F2D1A3}"/>
              </a:ext>
            </a:extLst>
          </p:cNvPr>
          <p:cNvSpPr>
            <a:spLocks noGrp="1"/>
          </p:cNvSpPr>
          <p:nvPr>
            <p:ph idx="1"/>
          </p:nvPr>
        </p:nvSpPr>
        <p:spPr/>
        <p:txBody>
          <a:bodyPr>
            <a:normAutofit fontScale="77500" lnSpcReduction="20000"/>
          </a:bodyPr>
          <a:lstStyle/>
          <a:p>
            <a:pPr marL="0" indent="0">
              <a:buNone/>
            </a:pPr>
            <a:r>
              <a:rPr lang="en-US" sz="2200" dirty="0"/>
              <a:t>OLTP Queries (Insert, Update, Delete)</a:t>
            </a:r>
          </a:p>
          <a:p>
            <a:pPr marL="0" indent="0">
              <a:buNone/>
            </a:pPr>
            <a:r>
              <a:rPr lang="en-US" sz="2200" dirty="0"/>
              <a:t>1. Insert Operation</a:t>
            </a:r>
          </a:p>
          <a:p>
            <a:pPr marL="0" indent="0">
              <a:buNone/>
            </a:pPr>
            <a:r>
              <a:rPr lang="en-US" b="1" dirty="0">
                <a:solidFill>
                  <a:srgbClr val="00B050"/>
                </a:solidFill>
                <a:latin typeface="Roboto Mono" panose="00000009000000000000" pitchFamily="49" charset="0"/>
                <a:ea typeface="Roboto Mono" panose="00000009000000000000" pitchFamily="49" charset="0"/>
              </a:rPr>
              <a:t>INSERT INTO </a:t>
            </a:r>
            <a:r>
              <a:rPr lang="en-US" b="1" dirty="0" err="1">
                <a:solidFill>
                  <a:srgbClr val="00B050"/>
                </a:solidFill>
                <a:latin typeface="Roboto Mono" panose="00000009000000000000" pitchFamily="49" charset="0"/>
                <a:ea typeface="Roboto Mono" panose="00000009000000000000" pitchFamily="49" charset="0"/>
              </a:rPr>
              <a:t>finproFactTransactions</a:t>
            </a:r>
            <a:endParaRPr lang="en-US" b="1" dirty="0">
              <a:solidFill>
                <a:srgbClr val="00B050"/>
              </a:solidFill>
              <a:latin typeface="Roboto Mono" panose="00000009000000000000" pitchFamily="49" charset="0"/>
              <a:ea typeface="Roboto Mono" panose="00000009000000000000" pitchFamily="49" charset="0"/>
            </a:endParaRPr>
          </a:p>
          <a:p>
            <a:pPr marL="0" indent="0">
              <a:buNone/>
            </a:pPr>
            <a:r>
              <a:rPr lang="en-US" b="1" dirty="0">
                <a:solidFill>
                  <a:srgbClr val="00B050"/>
                </a:solidFill>
                <a:latin typeface="Roboto Mono" panose="00000009000000000000" pitchFamily="49" charset="0"/>
                <a:ea typeface="Roboto Mono" panose="00000009000000000000" pitchFamily="49" charset="0"/>
              </a:rPr>
              <a:t>(</a:t>
            </a:r>
            <a:r>
              <a:rPr lang="en-US" b="1" dirty="0" err="1">
                <a:solidFill>
                  <a:srgbClr val="00B050"/>
                </a:solidFill>
                <a:latin typeface="Roboto Mono" panose="00000009000000000000" pitchFamily="49" charset="0"/>
                <a:ea typeface="Roboto Mono" panose="00000009000000000000" pitchFamily="49" charset="0"/>
              </a:rPr>
              <a:t>transactionid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dateid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customerid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branchid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accounttypeid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transactionamount</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transactiontype</a:t>
            </a:r>
            <a:r>
              <a:rPr lang="en-US" b="1" dirty="0">
                <a:solidFill>
                  <a:srgbClr val="00B050"/>
                </a:solidFill>
                <a:latin typeface="Roboto Mono" panose="00000009000000000000" pitchFamily="49" charset="0"/>
                <a:ea typeface="Roboto Mono" panose="00000009000000000000" pitchFamily="49" charset="0"/>
              </a:rPr>
              <a:t>)</a:t>
            </a:r>
          </a:p>
          <a:p>
            <a:pPr marL="0" indent="0">
              <a:buNone/>
            </a:pPr>
            <a:r>
              <a:rPr lang="en-US" b="1" dirty="0">
                <a:solidFill>
                  <a:srgbClr val="00B050"/>
                </a:solidFill>
                <a:latin typeface="Roboto Mono" panose="00000009000000000000" pitchFamily="49" charset="0"/>
                <a:ea typeface="Roboto Mono" panose="00000009000000000000" pitchFamily="49" charset="0"/>
              </a:rPr>
              <a:t>VALUES (10045, 20240115, 501, 12, 2, 850.00, 'Deposit’);</a:t>
            </a:r>
          </a:p>
          <a:p>
            <a:pPr marL="0" indent="0">
              <a:buNone/>
            </a:pPr>
            <a:r>
              <a:rPr lang="en-US" sz="2200" dirty="0"/>
              <a:t>Purpose: Adds a new transaction to the system.</a:t>
            </a:r>
            <a:endParaRPr lang="en-US" sz="2200" dirty="0">
              <a:solidFill>
                <a:srgbClr val="00B050"/>
              </a:solidFill>
              <a:latin typeface="Roboto Mono" panose="00000009000000000000" pitchFamily="49" charset="0"/>
              <a:ea typeface="Roboto Mono" panose="00000009000000000000" pitchFamily="49" charset="0"/>
            </a:endParaRPr>
          </a:p>
          <a:p>
            <a:pPr marL="0" indent="0">
              <a:buNone/>
            </a:pPr>
            <a:r>
              <a:rPr lang="en-US" sz="2200" dirty="0"/>
              <a:t>2. Update Operation</a:t>
            </a:r>
          </a:p>
          <a:p>
            <a:pPr marL="0" indent="0">
              <a:buNone/>
            </a:pPr>
            <a:r>
              <a:rPr lang="en-US" sz="1900" b="1" dirty="0">
                <a:solidFill>
                  <a:srgbClr val="00B050"/>
                </a:solidFill>
                <a:latin typeface="Roboto Mono" panose="00000009000000000000" pitchFamily="49" charset="0"/>
                <a:ea typeface="Roboto Mono" panose="00000009000000000000" pitchFamily="49" charset="0"/>
              </a:rPr>
              <a:t>UPDATE </a:t>
            </a:r>
            <a:r>
              <a:rPr lang="en-US" sz="1900" b="1" dirty="0" err="1">
                <a:solidFill>
                  <a:srgbClr val="00B050"/>
                </a:solidFill>
                <a:latin typeface="Roboto Mono" panose="00000009000000000000" pitchFamily="49" charset="0"/>
                <a:ea typeface="Roboto Mono" panose="00000009000000000000" pitchFamily="49" charset="0"/>
              </a:rPr>
              <a:t>finproDimCustomers</a:t>
            </a:r>
            <a:endParaRPr lang="en-US" sz="1900" b="1" dirty="0">
              <a:solidFill>
                <a:srgbClr val="00B050"/>
              </a:solidFill>
              <a:latin typeface="Roboto Mono" panose="00000009000000000000" pitchFamily="49" charset="0"/>
              <a:ea typeface="Roboto Mono" panose="00000009000000000000" pitchFamily="49" charset="0"/>
            </a:endParaRPr>
          </a:p>
          <a:p>
            <a:pPr marL="0" indent="0">
              <a:buNone/>
            </a:pPr>
            <a:r>
              <a:rPr lang="en-US" sz="1900" b="1" dirty="0">
                <a:solidFill>
                  <a:srgbClr val="00B050"/>
                </a:solidFill>
                <a:latin typeface="Roboto Mono" panose="00000009000000000000" pitchFamily="49" charset="0"/>
                <a:ea typeface="Roboto Mono" panose="00000009000000000000" pitchFamily="49" charset="0"/>
              </a:rPr>
              <a:t>SET email = 'updated_email@example.com'</a:t>
            </a:r>
          </a:p>
          <a:p>
            <a:pPr marL="0" indent="0">
              <a:buNone/>
            </a:pPr>
            <a:r>
              <a:rPr lang="en-US" sz="1900" b="1" dirty="0">
                <a:solidFill>
                  <a:srgbClr val="00B050"/>
                </a:solidFill>
                <a:latin typeface="Roboto Mono" panose="00000009000000000000" pitchFamily="49" charset="0"/>
                <a:ea typeface="Roboto Mono" panose="00000009000000000000" pitchFamily="49" charset="0"/>
              </a:rPr>
              <a:t>WHERE </a:t>
            </a:r>
            <a:r>
              <a:rPr lang="en-US" sz="1900" b="1" dirty="0" err="1">
                <a:solidFill>
                  <a:srgbClr val="00B050"/>
                </a:solidFill>
                <a:latin typeface="Roboto Mono" panose="00000009000000000000" pitchFamily="49" charset="0"/>
                <a:ea typeface="Roboto Mono" panose="00000009000000000000" pitchFamily="49" charset="0"/>
              </a:rPr>
              <a:t>customerid</a:t>
            </a:r>
            <a:r>
              <a:rPr lang="en-US" sz="1900" b="1" dirty="0">
                <a:solidFill>
                  <a:srgbClr val="00B050"/>
                </a:solidFill>
                <a:latin typeface="Roboto Mono" panose="00000009000000000000" pitchFamily="49" charset="0"/>
                <a:ea typeface="Roboto Mono" panose="00000009000000000000" pitchFamily="49" charset="0"/>
              </a:rPr>
              <a:t> = 501;</a:t>
            </a:r>
          </a:p>
          <a:p>
            <a:pPr marL="0" indent="0">
              <a:buNone/>
            </a:pPr>
            <a:r>
              <a:rPr lang="en-US" sz="2200" dirty="0"/>
              <a:t>Purpose: Corrects customer information.</a:t>
            </a:r>
          </a:p>
          <a:p>
            <a:pPr marL="0" indent="0">
              <a:buNone/>
            </a:pPr>
            <a:r>
              <a:rPr lang="en-US" sz="2200" dirty="0"/>
              <a:t>3. Delete Operation</a:t>
            </a:r>
          </a:p>
          <a:p>
            <a:pPr marL="0" indent="0">
              <a:buNone/>
            </a:pPr>
            <a:r>
              <a:rPr lang="en-US" sz="1900" b="1" dirty="0">
                <a:solidFill>
                  <a:srgbClr val="00B050"/>
                </a:solidFill>
                <a:latin typeface="Roboto Mono" panose="00000009000000000000" pitchFamily="49" charset="0"/>
                <a:ea typeface="Roboto Mono" panose="00000009000000000000" pitchFamily="49" charset="0"/>
              </a:rPr>
              <a:t>DELETE FROM </a:t>
            </a:r>
            <a:r>
              <a:rPr lang="en-US" sz="1900" b="1" dirty="0" err="1">
                <a:solidFill>
                  <a:srgbClr val="00B050"/>
                </a:solidFill>
                <a:latin typeface="Roboto Mono" panose="00000009000000000000" pitchFamily="49" charset="0"/>
                <a:ea typeface="Roboto Mono" panose="00000009000000000000" pitchFamily="49" charset="0"/>
              </a:rPr>
              <a:t>finproFactTransactions</a:t>
            </a:r>
            <a:endParaRPr lang="en-US" sz="1900" b="1" dirty="0">
              <a:solidFill>
                <a:srgbClr val="00B050"/>
              </a:solidFill>
              <a:latin typeface="Roboto Mono" panose="00000009000000000000" pitchFamily="49" charset="0"/>
              <a:ea typeface="Roboto Mono" panose="00000009000000000000" pitchFamily="49" charset="0"/>
            </a:endParaRPr>
          </a:p>
          <a:p>
            <a:pPr marL="0" indent="0">
              <a:buNone/>
            </a:pPr>
            <a:r>
              <a:rPr lang="en-US" sz="1900" b="1" dirty="0">
                <a:solidFill>
                  <a:srgbClr val="00B050"/>
                </a:solidFill>
                <a:latin typeface="Roboto Mono" panose="00000009000000000000" pitchFamily="49" charset="0"/>
                <a:ea typeface="Roboto Mono" panose="00000009000000000000" pitchFamily="49" charset="0"/>
              </a:rPr>
              <a:t>WHERE condition;</a:t>
            </a:r>
          </a:p>
          <a:p>
            <a:pPr marL="0" indent="0">
              <a:buNone/>
            </a:pPr>
            <a:r>
              <a:rPr lang="en-US" sz="2200" dirty="0"/>
              <a:t>Purpose: Removes erroneous or duplicate transactions.</a:t>
            </a:r>
            <a:endParaRPr lang="en-IN" dirty="0"/>
          </a:p>
          <a:p>
            <a:endParaRPr lang="en-IN" dirty="0"/>
          </a:p>
        </p:txBody>
      </p:sp>
    </p:spTree>
    <p:extLst>
      <p:ext uri="{BB962C8B-B14F-4D97-AF65-F5344CB8AC3E}">
        <p14:creationId xmlns:p14="http://schemas.microsoft.com/office/powerpoint/2010/main" val="3393689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7D30-FC14-D885-592D-C7FF4FAAEDF6}"/>
              </a:ext>
            </a:extLst>
          </p:cNvPr>
          <p:cNvSpPr>
            <a:spLocks noGrp="1"/>
          </p:cNvSpPr>
          <p:nvPr>
            <p:ph type="title"/>
          </p:nvPr>
        </p:nvSpPr>
        <p:spPr/>
        <p:txBody>
          <a:bodyPr/>
          <a:lstStyle/>
          <a:p>
            <a:r>
              <a:rPr lang="en-IN" dirty="0"/>
              <a:t>Documenting SQL queries and scripts (3 of 7)</a:t>
            </a:r>
          </a:p>
        </p:txBody>
      </p:sp>
      <p:sp>
        <p:nvSpPr>
          <p:cNvPr id="3" name="Content Placeholder 2">
            <a:extLst>
              <a:ext uri="{FF2B5EF4-FFF2-40B4-BE49-F238E27FC236}">
                <a16:creationId xmlns:a16="http://schemas.microsoft.com/office/drawing/2014/main" id="{7BF1B0C9-1E90-D0DF-7662-85F3F7F2D1A3}"/>
              </a:ext>
            </a:extLst>
          </p:cNvPr>
          <p:cNvSpPr>
            <a:spLocks noGrp="1"/>
          </p:cNvSpPr>
          <p:nvPr>
            <p:ph idx="1"/>
          </p:nvPr>
        </p:nvSpPr>
        <p:spPr/>
        <p:txBody>
          <a:bodyPr>
            <a:normAutofit/>
          </a:bodyPr>
          <a:lstStyle/>
          <a:p>
            <a:pPr marL="0" indent="0">
              <a:buNone/>
            </a:pPr>
            <a:r>
              <a:rPr lang="fr-FR" sz="2200" dirty="0"/>
              <a:t>OLAP </a:t>
            </a:r>
            <a:r>
              <a:rPr lang="fr-FR" sz="2200" dirty="0" err="1"/>
              <a:t>Queries</a:t>
            </a:r>
            <a:r>
              <a:rPr lang="fr-FR" sz="2200" dirty="0"/>
              <a:t> (</a:t>
            </a:r>
            <a:r>
              <a:rPr lang="fr-FR" sz="2200" dirty="0" err="1"/>
              <a:t>Aggregations</a:t>
            </a:r>
            <a:r>
              <a:rPr lang="fr-FR" sz="2200" dirty="0"/>
              <a:t>, Joins, </a:t>
            </a:r>
            <a:r>
              <a:rPr lang="fr-FR" sz="2200" dirty="0" err="1"/>
              <a:t>Rollup</a:t>
            </a:r>
            <a:r>
              <a:rPr lang="fr-FR" sz="2200" dirty="0"/>
              <a:t>, Cube)</a:t>
            </a:r>
            <a:endParaRPr lang="en-US" sz="2200" dirty="0"/>
          </a:p>
          <a:p>
            <a:pPr marL="0" indent="0">
              <a:buNone/>
            </a:pPr>
            <a:endParaRPr lang="en-US" sz="2000" dirty="0"/>
          </a:p>
          <a:p>
            <a:pPr marL="457200" indent="-457200">
              <a:buAutoNum type="arabicPeriod"/>
            </a:pPr>
            <a:r>
              <a:rPr lang="en-US" sz="2000" dirty="0"/>
              <a:t>Branch‑Wise Total Transaction Amount</a:t>
            </a:r>
          </a:p>
          <a:p>
            <a:pPr marL="0" indent="0">
              <a:buNone/>
            </a:pPr>
            <a:r>
              <a:rPr lang="en-US" sz="1500" b="1" dirty="0">
                <a:solidFill>
                  <a:srgbClr val="00B050"/>
                </a:solidFill>
                <a:latin typeface="Roboto Mono" panose="00000009000000000000" pitchFamily="49" charset="0"/>
                <a:ea typeface="Roboto Mono" panose="00000009000000000000" pitchFamily="49" charset="0"/>
              </a:rPr>
              <a:t>SELECT </a:t>
            </a:r>
            <a:r>
              <a:rPr lang="en-US" sz="1500" b="1" dirty="0" err="1">
                <a:solidFill>
                  <a:srgbClr val="00B050"/>
                </a:solidFill>
                <a:latin typeface="Roboto Mono" panose="00000009000000000000" pitchFamily="49" charset="0"/>
                <a:ea typeface="Roboto Mono" panose="00000009000000000000" pitchFamily="49" charset="0"/>
              </a:rPr>
              <a:t>b.branchname</a:t>
            </a:r>
            <a:r>
              <a:rPr lang="en-US" sz="1500" b="1" dirty="0">
                <a:solidFill>
                  <a:srgbClr val="00B050"/>
                </a:solidFill>
                <a:latin typeface="Roboto Mono" panose="00000009000000000000" pitchFamily="49" charset="0"/>
                <a:ea typeface="Roboto Mono" panose="00000009000000000000" pitchFamily="49" charset="0"/>
              </a:rPr>
              <a:t>,</a:t>
            </a:r>
          </a:p>
          <a:p>
            <a:pPr marL="0" indent="0">
              <a:buNone/>
            </a:pPr>
            <a:r>
              <a:rPr lang="en-US" sz="1500" b="1" dirty="0">
                <a:solidFill>
                  <a:srgbClr val="00B050"/>
                </a:solidFill>
                <a:latin typeface="Roboto Mono" panose="00000009000000000000" pitchFamily="49" charset="0"/>
                <a:ea typeface="Roboto Mono" panose="00000009000000000000" pitchFamily="49" charset="0"/>
              </a:rPr>
              <a:t>       SUM(</a:t>
            </a:r>
            <a:r>
              <a:rPr lang="en-US" sz="1500" b="1" dirty="0" err="1">
                <a:solidFill>
                  <a:srgbClr val="00B050"/>
                </a:solidFill>
                <a:latin typeface="Roboto Mono" panose="00000009000000000000" pitchFamily="49" charset="0"/>
                <a:ea typeface="Roboto Mono" panose="00000009000000000000" pitchFamily="49" charset="0"/>
              </a:rPr>
              <a:t>f.transactionamount</a:t>
            </a:r>
            <a:r>
              <a:rPr lang="en-US" sz="1500" b="1" dirty="0">
                <a:solidFill>
                  <a:srgbClr val="00B050"/>
                </a:solidFill>
                <a:latin typeface="Roboto Mono" panose="00000009000000000000" pitchFamily="49" charset="0"/>
                <a:ea typeface="Roboto Mono" panose="00000009000000000000" pitchFamily="49" charset="0"/>
              </a:rPr>
              <a:t>) AS </a:t>
            </a:r>
            <a:r>
              <a:rPr lang="en-US" sz="1500" b="1" dirty="0" err="1">
                <a:solidFill>
                  <a:srgbClr val="00B050"/>
                </a:solidFill>
                <a:latin typeface="Roboto Mono" panose="00000009000000000000" pitchFamily="49" charset="0"/>
                <a:ea typeface="Roboto Mono" panose="00000009000000000000" pitchFamily="49" charset="0"/>
              </a:rPr>
              <a:t>total_amount</a:t>
            </a:r>
            <a:endParaRPr lang="en-US" sz="1500" b="1" dirty="0">
              <a:solidFill>
                <a:srgbClr val="00B050"/>
              </a:solidFill>
              <a:latin typeface="Roboto Mono" panose="00000009000000000000" pitchFamily="49" charset="0"/>
              <a:ea typeface="Roboto Mono" panose="00000009000000000000" pitchFamily="49" charset="0"/>
            </a:endParaRPr>
          </a:p>
          <a:p>
            <a:pPr marL="0" indent="0">
              <a:buNone/>
            </a:pPr>
            <a:r>
              <a:rPr lang="en-US" sz="1500" b="1" dirty="0">
                <a:solidFill>
                  <a:srgbClr val="00B050"/>
                </a:solidFill>
                <a:latin typeface="Roboto Mono" panose="00000009000000000000" pitchFamily="49" charset="0"/>
                <a:ea typeface="Roboto Mono" panose="00000009000000000000" pitchFamily="49" charset="0"/>
              </a:rPr>
              <a:t>FROM </a:t>
            </a:r>
            <a:r>
              <a:rPr lang="en-US" sz="1500" b="1" dirty="0" err="1">
                <a:solidFill>
                  <a:srgbClr val="00B050"/>
                </a:solidFill>
                <a:latin typeface="Roboto Mono" panose="00000009000000000000" pitchFamily="49" charset="0"/>
                <a:ea typeface="Roboto Mono" panose="00000009000000000000" pitchFamily="49" charset="0"/>
              </a:rPr>
              <a:t>finproFactTransactions</a:t>
            </a:r>
            <a:r>
              <a:rPr lang="en-US" sz="1500" b="1" dirty="0">
                <a:solidFill>
                  <a:srgbClr val="00B050"/>
                </a:solidFill>
                <a:latin typeface="Roboto Mono" panose="00000009000000000000" pitchFamily="49" charset="0"/>
                <a:ea typeface="Roboto Mono" panose="00000009000000000000" pitchFamily="49" charset="0"/>
              </a:rPr>
              <a:t> f</a:t>
            </a:r>
          </a:p>
          <a:p>
            <a:pPr marL="0" indent="0">
              <a:buNone/>
            </a:pPr>
            <a:r>
              <a:rPr lang="en-US" sz="1500" b="1" dirty="0">
                <a:solidFill>
                  <a:srgbClr val="00B050"/>
                </a:solidFill>
                <a:latin typeface="Roboto Mono" panose="00000009000000000000" pitchFamily="49" charset="0"/>
                <a:ea typeface="Roboto Mono" panose="00000009000000000000" pitchFamily="49" charset="0"/>
              </a:rPr>
              <a:t>JOIN </a:t>
            </a:r>
            <a:r>
              <a:rPr lang="en-US" sz="1500" b="1" dirty="0" err="1">
                <a:solidFill>
                  <a:srgbClr val="00B050"/>
                </a:solidFill>
                <a:latin typeface="Roboto Mono" panose="00000009000000000000" pitchFamily="49" charset="0"/>
                <a:ea typeface="Roboto Mono" panose="00000009000000000000" pitchFamily="49" charset="0"/>
              </a:rPr>
              <a:t>finproDimBranches</a:t>
            </a:r>
            <a:r>
              <a:rPr lang="en-US" sz="1500" b="1" dirty="0">
                <a:solidFill>
                  <a:srgbClr val="00B050"/>
                </a:solidFill>
                <a:latin typeface="Roboto Mono" panose="00000009000000000000" pitchFamily="49" charset="0"/>
                <a:ea typeface="Roboto Mono" panose="00000009000000000000" pitchFamily="49" charset="0"/>
              </a:rPr>
              <a:t> b ON </a:t>
            </a:r>
            <a:r>
              <a:rPr lang="en-US" sz="1500" b="1" dirty="0" err="1">
                <a:solidFill>
                  <a:srgbClr val="00B050"/>
                </a:solidFill>
                <a:latin typeface="Roboto Mono" panose="00000009000000000000" pitchFamily="49" charset="0"/>
                <a:ea typeface="Roboto Mono" panose="00000009000000000000" pitchFamily="49" charset="0"/>
              </a:rPr>
              <a:t>f.branchid</a:t>
            </a:r>
            <a:r>
              <a:rPr lang="en-US" sz="1500" b="1" dirty="0">
                <a:solidFill>
                  <a:srgbClr val="00B050"/>
                </a:solidFill>
                <a:latin typeface="Roboto Mono" panose="00000009000000000000" pitchFamily="49" charset="0"/>
                <a:ea typeface="Roboto Mono" panose="00000009000000000000" pitchFamily="49" charset="0"/>
              </a:rPr>
              <a:t> = </a:t>
            </a:r>
            <a:r>
              <a:rPr lang="en-US" sz="1500" b="1" dirty="0" err="1">
                <a:solidFill>
                  <a:srgbClr val="00B050"/>
                </a:solidFill>
                <a:latin typeface="Roboto Mono" panose="00000009000000000000" pitchFamily="49" charset="0"/>
                <a:ea typeface="Roboto Mono" panose="00000009000000000000" pitchFamily="49" charset="0"/>
              </a:rPr>
              <a:t>b.branchid</a:t>
            </a:r>
            <a:endParaRPr lang="en-US" sz="1500" b="1" dirty="0">
              <a:solidFill>
                <a:srgbClr val="00B050"/>
              </a:solidFill>
              <a:latin typeface="Roboto Mono" panose="00000009000000000000" pitchFamily="49" charset="0"/>
              <a:ea typeface="Roboto Mono" panose="00000009000000000000" pitchFamily="49" charset="0"/>
            </a:endParaRPr>
          </a:p>
          <a:p>
            <a:pPr marL="0" indent="0">
              <a:buNone/>
            </a:pPr>
            <a:r>
              <a:rPr lang="en-US" sz="1500" b="1" dirty="0">
                <a:solidFill>
                  <a:srgbClr val="00B050"/>
                </a:solidFill>
                <a:latin typeface="Roboto Mono" panose="00000009000000000000" pitchFamily="49" charset="0"/>
                <a:ea typeface="Roboto Mono" panose="00000009000000000000" pitchFamily="49" charset="0"/>
              </a:rPr>
              <a:t>GROUP BY </a:t>
            </a:r>
            <a:r>
              <a:rPr lang="en-US" sz="1500" b="1" dirty="0" err="1">
                <a:solidFill>
                  <a:srgbClr val="00B050"/>
                </a:solidFill>
                <a:latin typeface="Roboto Mono" panose="00000009000000000000" pitchFamily="49" charset="0"/>
                <a:ea typeface="Roboto Mono" panose="00000009000000000000" pitchFamily="49" charset="0"/>
              </a:rPr>
              <a:t>b.branchname</a:t>
            </a:r>
            <a:r>
              <a:rPr lang="en-US" sz="1500" b="1" dirty="0">
                <a:solidFill>
                  <a:srgbClr val="00B050"/>
                </a:solidFill>
                <a:latin typeface="Roboto Mono" panose="00000009000000000000" pitchFamily="49" charset="0"/>
                <a:ea typeface="Roboto Mono" panose="00000009000000000000" pitchFamily="49" charset="0"/>
              </a:rPr>
              <a:t>;</a:t>
            </a:r>
          </a:p>
          <a:p>
            <a:pPr marL="0" indent="0">
              <a:buNone/>
            </a:pPr>
            <a:r>
              <a:rPr lang="en-US" sz="1800" dirty="0"/>
              <a:t>Purpose: Supports branch performance dashboards.</a:t>
            </a:r>
            <a:endParaRPr lang="en-IN" dirty="0"/>
          </a:p>
          <a:p>
            <a:endParaRPr lang="en-IN" dirty="0"/>
          </a:p>
        </p:txBody>
      </p:sp>
    </p:spTree>
    <p:extLst>
      <p:ext uri="{BB962C8B-B14F-4D97-AF65-F5344CB8AC3E}">
        <p14:creationId xmlns:p14="http://schemas.microsoft.com/office/powerpoint/2010/main" val="3532205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C9BDC-E244-C539-60C6-0F93C0056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3DDB5-C67C-ED51-4575-1F704D06BFEC}"/>
              </a:ext>
            </a:extLst>
          </p:cNvPr>
          <p:cNvSpPr>
            <a:spLocks noGrp="1"/>
          </p:cNvSpPr>
          <p:nvPr>
            <p:ph type="title"/>
          </p:nvPr>
        </p:nvSpPr>
        <p:spPr/>
        <p:txBody>
          <a:bodyPr/>
          <a:lstStyle/>
          <a:p>
            <a:r>
              <a:rPr lang="en-IN" dirty="0"/>
              <a:t>Documenting SQL queries and scripts (4 of 7)</a:t>
            </a:r>
          </a:p>
        </p:txBody>
      </p:sp>
      <p:sp>
        <p:nvSpPr>
          <p:cNvPr id="3" name="Content Placeholder 2">
            <a:extLst>
              <a:ext uri="{FF2B5EF4-FFF2-40B4-BE49-F238E27FC236}">
                <a16:creationId xmlns:a16="http://schemas.microsoft.com/office/drawing/2014/main" id="{DA7570CE-70C1-9452-4D87-4D1961267E8C}"/>
              </a:ext>
            </a:extLst>
          </p:cNvPr>
          <p:cNvSpPr>
            <a:spLocks noGrp="1"/>
          </p:cNvSpPr>
          <p:nvPr>
            <p:ph idx="1"/>
          </p:nvPr>
        </p:nvSpPr>
        <p:spPr/>
        <p:txBody>
          <a:bodyPr>
            <a:normAutofit fontScale="85000" lnSpcReduction="20000"/>
          </a:bodyPr>
          <a:lstStyle/>
          <a:p>
            <a:pPr marL="457200" indent="-457200">
              <a:buAutoNum type="arabicPeriod" startAt="2"/>
            </a:pPr>
            <a:r>
              <a:rPr lang="en-US" sz="2000" dirty="0"/>
              <a:t>Multi‑Level Aggregation Using GROUPING SETS</a:t>
            </a:r>
          </a:p>
          <a:p>
            <a:pPr marL="0" indent="0">
              <a:buNone/>
            </a:pPr>
            <a:r>
              <a:rPr lang="en-US" b="1" dirty="0">
                <a:solidFill>
                  <a:srgbClr val="00B050"/>
                </a:solidFill>
                <a:latin typeface="Roboto Mono" panose="00000009000000000000" pitchFamily="49" charset="0"/>
                <a:ea typeface="Roboto Mono" panose="00000009000000000000" pitchFamily="49" charset="0"/>
              </a:rPr>
              <a:t>SELECT </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customerid</a:t>
            </a:r>
            <a:r>
              <a:rPr lang="en-US" b="1" dirty="0">
                <a:solidFill>
                  <a:srgbClr val="00B050"/>
                </a:solidFill>
                <a:latin typeface="Roboto Mono" panose="00000009000000000000" pitchFamily="49" charset="0"/>
                <a:ea typeface="Roboto Mono" panose="00000009000000000000" pitchFamily="49" charset="0"/>
              </a:rPr>
              <a:t>,</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accountid</a:t>
            </a:r>
            <a:r>
              <a:rPr lang="en-US" b="1" dirty="0">
                <a:solidFill>
                  <a:srgbClr val="00B050"/>
                </a:solidFill>
                <a:latin typeface="Roboto Mono" panose="00000009000000000000" pitchFamily="49" charset="0"/>
                <a:ea typeface="Roboto Mono" panose="00000009000000000000" pitchFamily="49" charset="0"/>
              </a:rPr>
              <a:t>,</a:t>
            </a:r>
          </a:p>
          <a:p>
            <a:pPr marL="0" indent="0">
              <a:buNone/>
            </a:pPr>
            <a:r>
              <a:rPr lang="en-US" b="1" dirty="0">
                <a:solidFill>
                  <a:srgbClr val="00B050"/>
                </a:solidFill>
                <a:latin typeface="Roboto Mono" panose="00000009000000000000" pitchFamily="49" charset="0"/>
                <a:ea typeface="Roboto Mono" panose="00000009000000000000" pitchFamily="49" charset="0"/>
              </a:rPr>
              <a:t>    SUM(balance) AS </a:t>
            </a:r>
            <a:r>
              <a:rPr lang="en-US" b="1" dirty="0" err="1">
                <a:solidFill>
                  <a:srgbClr val="00B050"/>
                </a:solidFill>
                <a:latin typeface="Roboto Mono" panose="00000009000000000000" pitchFamily="49" charset="0"/>
                <a:ea typeface="Roboto Mono" panose="00000009000000000000" pitchFamily="49" charset="0"/>
              </a:rPr>
              <a:t>total_balance</a:t>
            </a:r>
            <a:endParaRPr lang="en-US" b="1" dirty="0">
              <a:solidFill>
                <a:srgbClr val="00B050"/>
              </a:solidFill>
              <a:latin typeface="Roboto Mono" panose="00000009000000000000" pitchFamily="49" charset="0"/>
              <a:ea typeface="Roboto Mono" panose="00000009000000000000" pitchFamily="49" charset="0"/>
            </a:endParaRPr>
          </a:p>
          <a:p>
            <a:pPr marL="0" indent="0">
              <a:buNone/>
            </a:pPr>
            <a:r>
              <a:rPr lang="en-US" b="1" dirty="0">
                <a:solidFill>
                  <a:srgbClr val="00B050"/>
                </a:solidFill>
                <a:latin typeface="Roboto Mono" panose="00000009000000000000" pitchFamily="49" charset="0"/>
                <a:ea typeface="Roboto Mono" panose="00000009000000000000" pitchFamily="49" charset="0"/>
              </a:rPr>
              <a:t>FROM </a:t>
            </a:r>
            <a:r>
              <a:rPr lang="en-US" b="1" dirty="0" err="1">
                <a:solidFill>
                  <a:srgbClr val="00B050"/>
                </a:solidFill>
                <a:latin typeface="Roboto Mono" panose="00000009000000000000" pitchFamily="49" charset="0"/>
                <a:ea typeface="Roboto Mono" panose="00000009000000000000" pitchFamily="49" charset="0"/>
              </a:rPr>
              <a:t>finproDimCustomers</a:t>
            </a:r>
            <a:endParaRPr lang="en-US" b="1" dirty="0">
              <a:solidFill>
                <a:srgbClr val="00B050"/>
              </a:solidFill>
              <a:latin typeface="Roboto Mono" panose="00000009000000000000" pitchFamily="49" charset="0"/>
              <a:ea typeface="Roboto Mono" panose="00000009000000000000" pitchFamily="49" charset="0"/>
            </a:endParaRPr>
          </a:p>
          <a:p>
            <a:pPr marL="0" indent="0">
              <a:buNone/>
            </a:pPr>
            <a:r>
              <a:rPr lang="en-US" b="1" dirty="0">
                <a:solidFill>
                  <a:srgbClr val="00B050"/>
                </a:solidFill>
                <a:latin typeface="Roboto Mono" panose="00000009000000000000" pitchFamily="49" charset="0"/>
                <a:ea typeface="Roboto Mono" panose="00000009000000000000" pitchFamily="49" charset="0"/>
              </a:rPr>
              <a:t>GROUP BY GROUPING SETS (</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customerid</a:t>
            </a: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accountid</a:t>
            </a:r>
            <a:r>
              <a:rPr lang="en-US" b="1" dirty="0">
                <a:solidFill>
                  <a:srgbClr val="00B050"/>
                </a:solidFill>
                <a:latin typeface="Roboto Mono" panose="00000009000000000000" pitchFamily="49" charset="0"/>
                <a:ea typeface="Roboto Mono" panose="00000009000000000000" pitchFamily="49" charset="0"/>
              </a:rPr>
              <a:t>),   -- detailed level</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customerid</a:t>
            </a:r>
            <a:r>
              <a:rPr lang="en-US" b="1" dirty="0">
                <a:solidFill>
                  <a:srgbClr val="00B050"/>
                </a:solidFill>
                <a:latin typeface="Roboto Mono" panose="00000009000000000000" pitchFamily="49" charset="0"/>
                <a:ea typeface="Roboto Mono" panose="00000009000000000000" pitchFamily="49" charset="0"/>
              </a:rPr>
              <a:t>),              -- subtotal by customer</a:t>
            </a:r>
          </a:p>
          <a:p>
            <a:pPr marL="0" indent="0">
              <a:buNone/>
            </a:pPr>
            <a:r>
              <a:rPr lang="en-US" b="1" dirty="0">
                <a:solidFill>
                  <a:srgbClr val="00B050"/>
                </a:solidFill>
                <a:latin typeface="Roboto Mono" panose="00000009000000000000" pitchFamily="49" charset="0"/>
                <a:ea typeface="Roboto Mono" panose="00000009000000000000" pitchFamily="49" charset="0"/>
              </a:rPr>
              <a:t>    (</a:t>
            </a:r>
            <a:r>
              <a:rPr lang="en-US" b="1" dirty="0" err="1">
                <a:solidFill>
                  <a:srgbClr val="00B050"/>
                </a:solidFill>
                <a:latin typeface="Roboto Mono" panose="00000009000000000000" pitchFamily="49" charset="0"/>
                <a:ea typeface="Roboto Mono" panose="00000009000000000000" pitchFamily="49" charset="0"/>
              </a:rPr>
              <a:t>accountid</a:t>
            </a:r>
            <a:r>
              <a:rPr lang="en-US" b="1" dirty="0">
                <a:solidFill>
                  <a:srgbClr val="00B050"/>
                </a:solidFill>
                <a:latin typeface="Roboto Mono" panose="00000009000000000000" pitchFamily="49" charset="0"/>
                <a:ea typeface="Roboto Mono" panose="00000009000000000000" pitchFamily="49" charset="0"/>
              </a:rPr>
              <a:t>),               -- subtotal by account</a:t>
            </a:r>
          </a:p>
          <a:p>
            <a:pPr marL="0" indent="0">
              <a:buNone/>
            </a:pPr>
            <a:r>
              <a:rPr lang="en-US" b="1" dirty="0">
                <a:solidFill>
                  <a:srgbClr val="00B050"/>
                </a:solidFill>
                <a:latin typeface="Roboto Mono" panose="00000009000000000000" pitchFamily="49" charset="0"/>
                <a:ea typeface="Roboto Mono" panose="00000009000000000000" pitchFamily="49" charset="0"/>
              </a:rPr>
              <a:t>    ()                         -- grand total</a:t>
            </a:r>
          </a:p>
          <a:p>
            <a:pPr marL="0" indent="0">
              <a:buNone/>
            </a:pPr>
            <a:r>
              <a:rPr lang="en-US" b="1" dirty="0">
                <a:solidFill>
                  <a:srgbClr val="00B050"/>
                </a:solidFill>
                <a:latin typeface="Roboto Mono" panose="00000009000000000000" pitchFamily="49" charset="0"/>
                <a:ea typeface="Roboto Mono" panose="00000009000000000000" pitchFamily="49" charset="0"/>
              </a:rPr>
              <a:t>);</a:t>
            </a:r>
          </a:p>
          <a:p>
            <a:pPr marL="0" indent="0">
              <a:buNone/>
            </a:pPr>
            <a:r>
              <a:rPr lang="en-US" sz="2300" dirty="0"/>
              <a:t>Purpose: Generates detailed, subtotal, and grand‑total summaries for customer and account balances, supporting multi‑dimensional financial analysis.</a:t>
            </a:r>
            <a:endParaRPr lang="en-US" sz="2300" b="1" dirty="0">
              <a:solidFill>
                <a:srgbClr val="00B050"/>
              </a:solidFill>
              <a:latin typeface="Roboto Mono" panose="00000009000000000000" pitchFamily="49" charset="0"/>
              <a:ea typeface="Roboto Mono" panose="00000009000000000000" pitchFamily="49" charset="0"/>
            </a:endParaRPr>
          </a:p>
          <a:p>
            <a:pPr marL="0" indent="0">
              <a:buNone/>
            </a:pPr>
            <a:endParaRPr lang="en-US" b="1" dirty="0">
              <a:solidFill>
                <a:srgbClr val="00B050"/>
              </a:solidFill>
              <a:latin typeface="Roboto Mono" panose="00000009000000000000" pitchFamily="49" charset="0"/>
              <a:ea typeface="Roboto Mono" panose="00000009000000000000" pitchFamily="49" charset="0"/>
            </a:endParaRPr>
          </a:p>
          <a:p>
            <a:pPr marL="0" indent="0">
              <a:buNone/>
            </a:pPr>
            <a:endParaRPr lang="en-IN" dirty="0"/>
          </a:p>
          <a:p>
            <a:endParaRPr lang="en-IN" dirty="0"/>
          </a:p>
        </p:txBody>
      </p:sp>
    </p:spTree>
    <p:extLst>
      <p:ext uri="{BB962C8B-B14F-4D97-AF65-F5344CB8AC3E}">
        <p14:creationId xmlns:p14="http://schemas.microsoft.com/office/powerpoint/2010/main" val="4206463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CA798-2395-047D-C8C8-450BD93C4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F41BE-0228-3E59-EC78-84E359B45D8D}"/>
              </a:ext>
            </a:extLst>
          </p:cNvPr>
          <p:cNvSpPr>
            <a:spLocks noGrp="1"/>
          </p:cNvSpPr>
          <p:nvPr>
            <p:ph type="title"/>
          </p:nvPr>
        </p:nvSpPr>
        <p:spPr/>
        <p:txBody>
          <a:bodyPr/>
          <a:lstStyle/>
          <a:p>
            <a:r>
              <a:rPr lang="en-IN" dirty="0"/>
              <a:t>Documenting SQL queries and scripts (5 of 7)</a:t>
            </a:r>
          </a:p>
        </p:txBody>
      </p:sp>
      <p:sp>
        <p:nvSpPr>
          <p:cNvPr id="3" name="Content Placeholder 2">
            <a:extLst>
              <a:ext uri="{FF2B5EF4-FFF2-40B4-BE49-F238E27FC236}">
                <a16:creationId xmlns:a16="http://schemas.microsoft.com/office/drawing/2014/main" id="{71BDF6F3-FD00-F398-C0E3-B722D23ABC13}"/>
              </a:ext>
            </a:extLst>
          </p:cNvPr>
          <p:cNvSpPr>
            <a:spLocks noGrp="1"/>
          </p:cNvSpPr>
          <p:nvPr>
            <p:ph idx="1"/>
          </p:nvPr>
        </p:nvSpPr>
        <p:spPr>
          <a:xfrm>
            <a:off x="838200" y="1174174"/>
            <a:ext cx="10515600" cy="5002790"/>
          </a:xfrm>
        </p:spPr>
        <p:txBody>
          <a:bodyPr>
            <a:normAutofit fontScale="92500" lnSpcReduction="10000"/>
          </a:bodyPr>
          <a:lstStyle/>
          <a:p>
            <a:pPr marL="0" indent="0">
              <a:buNone/>
            </a:pPr>
            <a:r>
              <a:rPr lang="en-US" sz="2200" dirty="0"/>
              <a:t>3. ROLLUP — Branch → Account Type → Total</a:t>
            </a:r>
          </a:p>
          <a:p>
            <a:pPr marL="0" indent="0">
              <a:buNone/>
            </a:pPr>
            <a:r>
              <a:rPr lang="en-IN" sz="1500" b="1" dirty="0">
                <a:solidFill>
                  <a:srgbClr val="00B050"/>
                </a:solidFill>
                <a:latin typeface="Roboto Mono" panose="00000009000000000000" pitchFamily="49" charset="0"/>
                <a:ea typeface="Roboto Mono" panose="00000009000000000000" pitchFamily="49" charset="0"/>
              </a:rPr>
              <a:t>SELECT</a:t>
            </a:r>
          </a:p>
          <a:p>
            <a:pPr marL="0" indent="0">
              <a:buNone/>
            </a:pPr>
            <a:r>
              <a:rPr lang="en-IN" sz="1500" b="1" dirty="0">
                <a:solidFill>
                  <a:srgbClr val="00B050"/>
                </a:solidFill>
                <a:latin typeface="Roboto Mono" panose="00000009000000000000" pitchFamily="49" charset="0"/>
                <a:ea typeface="Roboto Mono" panose="00000009000000000000" pitchFamily="49" charset="0"/>
              </a:rPr>
              <a:t>    </a:t>
            </a:r>
            <a:r>
              <a:rPr lang="en-IN" sz="1500" b="1" dirty="0" err="1">
                <a:solidFill>
                  <a:srgbClr val="00B050"/>
                </a:solidFill>
                <a:latin typeface="Roboto Mono" panose="00000009000000000000" pitchFamily="49" charset="0"/>
                <a:ea typeface="Roboto Mono" panose="00000009000000000000" pitchFamily="49" charset="0"/>
              </a:rPr>
              <a:t>customers.branchcode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IN" sz="1500" b="1" dirty="0">
                <a:solidFill>
                  <a:srgbClr val="00B050"/>
                </a:solidFill>
                <a:latin typeface="Roboto Mono" panose="00000009000000000000" pitchFamily="49" charset="0"/>
                <a:ea typeface="Roboto Mono" panose="00000009000000000000" pitchFamily="49" charset="0"/>
              </a:rPr>
              <a:t>    </a:t>
            </a:r>
            <a:r>
              <a:rPr lang="en-IN" sz="1500" b="1" dirty="0" err="1">
                <a:solidFill>
                  <a:srgbClr val="00B050"/>
                </a:solidFill>
                <a:latin typeface="Roboto Mono" panose="00000009000000000000" pitchFamily="49" charset="0"/>
                <a:ea typeface="Roboto Mono" panose="00000009000000000000" pitchFamily="49" charset="0"/>
              </a:rPr>
              <a:t>customers.accounttype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IN" sz="1500" b="1" dirty="0">
                <a:solidFill>
                  <a:srgbClr val="00B050"/>
                </a:solidFill>
                <a:latin typeface="Roboto Mono" panose="00000009000000000000" pitchFamily="49" charset="0"/>
                <a:ea typeface="Roboto Mono" panose="00000009000000000000" pitchFamily="49" charset="0"/>
              </a:rPr>
              <a:t>    SUM(</a:t>
            </a:r>
            <a:r>
              <a:rPr lang="en-IN" sz="1500" b="1" dirty="0" err="1">
                <a:solidFill>
                  <a:srgbClr val="00B050"/>
                </a:solidFill>
                <a:latin typeface="Roboto Mono" panose="00000009000000000000" pitchFamily="49" charset="0"/>
                <a:ea typeface="Roboto Mono" panose="00000009000000000000" pitchFamily="49" charset="0"/>
              </a:rPr>
              <a:t>facts.transactionamount</a:t>
            </a:r>
            <a:r>
              <a:rPr lang="en-IN" sz="1500" b="1" dirty="0">
                <a:solidFill>
                  <a:srgbClr val="00B050"/>
                </a:solidFill>
                <a:latin typeface="Roboto Mono" panose="00000009000000000000" pitchFamily="49" charset="0"/>
                <a:ea typeface="Roboto Mono" panose="00000009000000000000" pitchFamily="49" charset="0"/>
              </a:rPr>
              <a:t>) AS </a:t>
            </a:r>
            <a:r>
              <a:rPr lang="en-IN" sz="1500" b="1" dirty="0" err="1">
                <a:solidFill>
                  <a:srgbClr val="00B050"/>
                </a:solidFill>
                <a:latin typeface="Roboto Mono" panose="00000009000000000000" pitchFamily="49" charset="0"/>
                <a:ea typeface="Roboto Mono" panose="00000009000000000000" pitchFamily="49" charset="0"/>
              </a:rPr>
              <a:t>total_transaction</a:t>
            </a:r>
            <a:endParaRPr lang="en-IN" sz="1500" b="1" dirty="0">
              <a:solidFill>
                <a:srgbClr val="00B050"/>
              </a:solidFill>
              <a:latin typeface="Roboto Mono" panose="00000009000000000000" pitchFamily="49" charset="0"/>
              <a:ea typeface="Roboto Mono" panose="00000009000000000000" pitchFamily="49" charset="0"/>
            </a:endParaRPr>
          </a:p>
          <a:p>
            <a:pPr marL="0" indent="0">
              <a:buNone/>
            </a:pPr>
            <a:r>
              <a:rPr lang="en-IN" sz="1500" b="1" dirty="0">
                <a:solidFill>
                  <a:srgbClr val="00B050"/>
                </a:solidFill>
                <a:latin typeface="Roboto Mono" panose="00000009000000000000" pitchFamily="49" charset="0"/>
                <a:ea typeface="Roboto Mono" panose="00000009000000000000" pitchFamily="49" charset="0"/>
              </a:rPr>
              <a:t>FROM </a:t>
            </a:r>
            <a:r>
              <a:rPr lang="en-IN" sz="1500" b="1" dirty="0" err="1">
                <a:solidFill>
                  <a:srgbClr val="00B050"/>
                </a:solidFill>
                <a:latin typeface="Roboto Mono" panose="00000009000000000000" pitchFamily="49" charset="0"/>
                <a:ea typeface="Roboto Mono" panose="00000009000000000000" pitchFamily="49" charset="0"/>
              </a:rPr>
              <a:t>finproFactTransactions</a:t>
            </a:r>
            <a:r>
              <a:rPr lang="en-IN" sz="1500" b="1" dirty="0">
                <a:solidFill>
                  <a:srgbClr val="00B050"/>
                </a:solidFill>
                <a:latin typeface="Roboto Mono" panose="00000009000000000000" pitchFamily="49" charset="0"/>
                <a:ea typeface="Roboto Mono" panose="00000009000000000000" pitchFamily="49" charset="0"/>
              </a:rPr>
              <a:t> AS facts</a:t>
            </a:r>
          </a:p>
          <a:p>
            <a:pPr marL="0" indent="0">
              <a:buNone/>
            </a:pPr>
            <a:r>
              <a:rPr lang="en-IN" sz="1500" b="1" dirty="0">
                <a:solidFill>
                  <a:srgbClr val="00B050"/>
                </a:solidFill>
                <a:latin typeface="Roboto Mono" panose="00000009000000000000" pitchFamily="49" charset="0"/>
                <a:ea typeface="Roboto Mono" panose="00000009000000000000" pitchFamily="49" charset="0"/>
              </a:rPr>
              <a:t>JOIN </a:t>
            </a:r>
            <a:r>
              <a:rPr lang="en-IN" sz="1500" b="1" dirty="0" err="1">
                <a:solidFill>
                  <a:srgbClr val="00B050"/>
                </a:solidFill>
                <a:latin typeface="Roboto Mono" panose="00000009000000000000" pitchFamily="49" charset="0"/>
                <a:ea typeface="Roboto Mono" panose="00000009000000000000" pitchFamily="49" charset="0"/>
              </a:rPr>
              <a:t>finproDimCustomers</a:t>
            </a:r>
            <a:r>
              <a:rPr lang="en-IN" sz="1500" b="1" dirty="0">
                <a:solidFill>
                  <a:srgbClr val="00B050"/>
                </a:solidFill>
                <a:latin typeface="Roboto Mono" panose="00000009000000000000" pitchFamily="49" charset="0"/>
                <a:ea typeface="Roboto Mono" panose="00000009000000000000" pitchFamily="49" charset="0"/>
              </a:rPr>
              <a:t> AS customers</a:t>
            </a:r>
          </a:p>
          <a:p>
            <a:pPr marL="0" indent="0">
              <a:buNone/>
            </a:pPr>
            <a:r>
              <a:rPr lang="en-IN" sz="1500" b="1" dirty="0">
                <a:solidFill>
                  <a:srgbClr val="00B050"/>
                </a:solidFill>
                <a:latin typeface="Roboto Mono" panose="00000009000000000000" pitchFamily="49" charset="0"/>
                <a:ea typeface="Roboto Mono" panose="00000009000000000000" pitchFamily="49" charset="0"/>
              </a:rPr>
              <a:t>    ON </a:t>
            </a:r>
            <a:r>
              <a:rPr lang="en-IN" sz="1500" b="1" dirty="0" err="1">
                <a:solidFill>
                  <a:srgbClr val="00B050"/>
                </a:solidFill>
                <a:latin typeface="Roboto Mono" panose="00000009000000000000" pitchFamily="49" charset="0"/>
                <a:ea typeface="Roboto Mono" panose="00000009000000000000" pitchFamily="49" charset="0"/>
              </a:rPr>
              <a:t>facts.accountid</a:t>
            </a:r>
            <a:r>
              <a:rPr lang="en-IN" sz="1500" b="1" dirty="0">
                <a:solidFill>
                  <a:srgbClr val="00B050"/>
                </a:solidFill>
                <a:latin typeface="Roboto Mono" panose="00000009000000000000" pitchFamily="49" charset="0"/>
                <a:ea typeface="Roboto Mono" panose="00000009000000000000" pitchFamily="49" charset="0"/>
              </a:rPr>
              <a:t> = </a:t>
            </a:r>
            <a:r>
              <a:rPr lang="en-IN" sz="1500" b="1" dirty="0" err="1">
                <a:solidFill>
                  <a:srgbClr val="00B050"/>
                </a:solidFill>
                <a:latin typeface="Roboto Mono" panose="00000009000000000000" pitchFamily="49" charset="0"/>
                <a:ea typeface="Roboto Mono" panose="00000009000000000000" pitchFamily="49" charset="0"/>
              </a:rPr>
              <a:t>customers.accountid</a:t>
            </a:r>
            <a:endParaRPr lang="en-IN" sz="1500" b="1" dirty="0">
              <a:solidFill>
                <a:srgbClr val="00B050"/>
              </a:solidFill>
              <a:latin typeface="Roboto Mono" panose="00000009000000000000" pitchFamily="49" charset="0"/>
              <a:ea typeface="Roboto Mono" panose="00000009000000000000" pitchFamily="49" charset="0"/>
            </a:endParaRPr>
          </a:p>
          <a:p>
            <a:pPr marL="0" indent="0">
              <a:buNone/>
            </a:pPr>
            <a:r>
              <a:rPr lang="en-IN" sz="1500" b="1" dirty="0">
                <a:solidFill>
                  <a:srgbClr val="00B050"/>
                </a:solidFill>
                <a:latin typeface="Roboto Mono" panose="00000009000000000000" pitchFamily="49" charset="0"/>
                <a:ea typeface="Roboto Mono" panose="00000009000000000000" pitchFamily="49" charset="0"/>
              </a:rPr>
              <a:t>GROUP BY ROLLUP (</a:t>
            </a:r>
            <a:r>
              <a:rPr lang="en-IN" sz="1500" b="1" dirty="0" err="1">
                <a:solidFill>
                  <a:srgbClr val="00B050"/>
                </a:solidFill>
                <a:latin typeface="Roboto Mono" panose="00000009000000000000" pitchFamily="49" charset="0"/>
                <a:ea typeface="Roboto Mono" panose="00000009000000000000" pitchFamily="49" charset="0"/>
              </a:rPr>
              <a:t>customers.branchcode</a:t>
            </a:r>
            <a:r>
              <a:rPr lang="en-IN" sz="1500" b="1" dirty="0">
                <a:solidFill>
                  <a:srgbClr val="00B050"/>
                </a:solidFill>
                <a:latin typeface="Roboto Mono" panose="00000009000000000000" pitchFamily="49" charset="0"/>
                <a:ea typeface="Roboto Mono" panose="00000009000000000000" pitchFamily="49" charset="0"/>
              </a:rPr>
              <a:t>, </a:t>
            </a:r>
            <a:r>
              <a:rPr lang="en-IN" sz="1500" b="1" dirty="0" err="1">
                <a:solidFill>
                  <a:srgbClr val="00B050"/>
                </a:solidFill>
                <a:latin typeface="Roboto Mono" panose="00000009000000000000" pitchFamily="49" charset="0"/>
                <a:ea typeface="Roboto Mono" panose="00000009000000000000" pitchFamily="49" charset="0"/>
              </a:rPr>
              <a:t>customers.accounttype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US" dirty="0"/>
              <a:t>Purpose:</a:t>
            </a:r>
          </a:p>
          <a:p>
            <a:pPr marL="0" indent="0">
              <a:buNone/>
            </a:pPr>
            <a:r>
              <a:rPr lang="en-US" sz="2200" dirty="0"/>
              <a:t>Generates hierarchical summaries:</a:t>
            </a:r>
          </a:p>
          <a:p>
            <a:pPr lvl="1"/>
            <a:r>
              <a:rPr lang="en-US" sz="1800" dirty="0"/>
              <a:t>Branch + Account Type totals</a:t>
            </a:r>
          </a:p>
          <a:p>
            <a:pPr lvl="1"/>
            <a:r>
              <a:rPr lang="en-US" sz="1800" dirty="0"/>
              <a:t>Branch‑level subtotals</a:t>
            </a:r>
          </a:p>
          <a:p>
            <a:pPr lvl="1"/>
            <a:r>
              <a:rPr lang="en-US" sz="1800" dirty="0"/>
              <a:t>Grand total</a:t>
            </a:r>
          </a:p>
          <a:p>
            <a:pPr marL="0" indent="0">
              <a:buNone/>
            </a:pPr>
            <a:r>
              <a:rPr lang="en-US" sz="2200" dirty="0"/>
              <a:t>Supports multi‑level reporting in dashboards.</a:t>
            </a:r>
            <a:endParaRPr lang="en-IN" sz="2200" dirty="0"/>
          </a:p>
        </p:txBody>
      </p:sp>
    </p:spTree>
    <p:extLst>
      <p:ext uri="{BB962C8B-B14F-4D97-AF65-F5344CB8AC3E}">
        <p14:creationId xmlns:p14="http://schemas.microsoft.com/office/powerpoint/2010/main" val="3967412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57D30-FC14-D885-592D-C7FF4FAAEDF6}"/>
              </a:ext>
            </a:extLst>
          </p:cNvPr>
          <p:cNvSpPr>
            <a:spLocks noGrp="1"/>
          </p:cNvSpPr>
          <p:nvPr>
            <p:ph type="title"/>
          </p:nvPr>
        </p:nvSpPr>
        <p:spPr/>
        <p:txBody>
          <a:bodyPr/>
          <a:lstStyle/>
          <a:p>
            <a:r>
              <a:rPr lang="en-IN" dirty="0"/>
              <a:t>Documenting SQL queries and scripts (6 of 7)</a:t>
            </a:r>
          </a:p>
        </p:txBody>
      </p:sp>
      <p:sp>
        <p:nvSpPr>
          <p:cNvPr id="3" name="Content Placeholder 2">
            <a:extLst>
              <a:ext uri="{FF2B5EF4-FFF2-40B4-BE49-F238E27FC236}">
                <a16:creationId xmlns:a16="http://schemas.microsoft.com/office/drawing/2014/main" id="{7BF1B0C9-1E90-D0DF-7662-85F3F7F2D1A3}"/>
              </a:ext>
            </a:extLst>
          </p:cNvPr>
          <p:cNvSpPr>
            <a:spLocks noGrp="1"/>
          </p:cNvSpPr>
          <p:nvPr>
            <p:ph idx="1"/>
          </p:nvPr>
        </p:nvSpPr>
        <p:spPr/>
        <p:txBody>
          <a:bodyPr>
            <a:normAutofit fontScale="32500" lnSpcReduction="20000"/>
          </a:bodyPr>
          <a:lstStyle/>
          <a:p>
            <a:pPr marL="0" indent="0">
              <a:buNone/>
            </a:pPr>
            <a:r>
              <a:rPr lang="en-US" sz="6200" dirty="0"/>
              <a:t>4. CUBE — Year of Joining × Country × Balance</a:t>
            </a:r>
          </a:p>
          <a:p>
            <a:pPr marL="0" indent="0">
              <a:buNone/>
            </a:pPr>
            <a:r>
              <a:rPr lang="en-US" sz="3200" dirty="0">
                <a:solidFill>
                  <a:srgbClr val="00B050"/>
                </a:solidFill>
                <a:latin typeface="Roboto Mono" panose="00000009000000000000" pitchFamily="49" charset="0"/>
                <a:ea typeface="Roboto Mono" panose="00000009000000000000" pitchFamily="49" charset="0"/>
              </a:rPr>
              <a:t>SELECT</a:t>
            </a:r>
          </a:p>
          <a:p>
            <a:pPr marL="0" indent="0">
              <a:buNone/>
            </a:pPr>
            <a:r>
              <a:rPr lang="en-US" sz="3200" dirty="0">
                <a:solidFill>
                  <a:srgbClr val="00B050"/>
                </a:solidFill>
                <a:latin typeface="Roboto Mono" panose="00000009000000000000" pitchFamily="49" charset="0"/>
                <a:ea typeface="Roboto Mono" panose="00000009000000000000" pitchFamily="49" charset="0"/>
              </a:rPr>
              <a:t>    EXTRACT(YEAR FROM TO_DATE(</a:t>
            </a:r>
            <a:r>
              <a:rPr lang="en-US" sz="3200" dirty="0" err="1">
                <a:solidFill>
                  <a:srgbClr val="00B050"/>
                </a:solidFill>
                <a:latin typeface="Roboto Mono" panose="00000009000000000000" pitchFamily="49" charset="0"/>
                <a:ea typeface="Roboto Mono" panose="00000009000000000000" pitchFamily="49" charset="0"/>
              </a:rPr>
              <a:t>customers.datejoined</a:t>
            </a:r>
            <a:r>
              <a:rPr lang="en-US" sz="3200" dirty="0">
                <a:solidFill>
                  <a:srgbClr val="00B050"/>
                </a:solidFill>
                <a:latin typeface="Roboto Mono" panose="00000009000000000000" pitchFamily="49" charset="0"/>
                <a:ea typeface="Roboto Mono" panose="00000009000000000000" pitchFamily="49" charset="0"/>
              </a:rPr>
              <a:t>, 'MM/DD/YYYY')) AS </a:t>
            </a:r>
            <a:r>
              <a:rPr lang="en-US" sz="3200" dirty="0" err="1">
                <a:solidFill>
                  <a:srgbClr val="00B050"/>
                </a:solidFill>
                <a:latin typeface="Roboto Mono" panose="00000009000000000000" pitchFamily="49" charset="0"/>
                <a:ea typeface="Roboto Mono" panose="00000009000000000000" pitchFamily="49" charset="0"/>
              </a:rPr>
              <a:t>year_of_joining</a:t>
            </a:r>
            <a:r>
              <a:rPr lang="en-US" sz="3200" dirty="0">
                <a:solidFill>
                  <a:srgbClr val="00B050"/>
                </a:solidFill>
                <a:latin typeface="Roboto Mono" panose="00000009000000000000" pitchFamily="49" charset="0"/>
                <a:ea typeface="Roboto Mono" panose="00000009000000000000" pitchFamily="49" charset="0"/>
              </a:rPr>
              <a:t>,</a:t>
            </a:r>
          </a:p>
          <a:p>
            <a:pPr marL="0" indent="0">
              <a:buNone/>
            </a:pPr>
            <a:r>
              <a:rPr lang="en-US" sz="3200" dirty="0">
                <a:solidFill>
                  <a:srgbClr val="00B050"/>
                </a:solidFill>
                <a:latin typeface="Roboto Mono" panose="00000009000000000000" pitchFamily="49" charset="0"/>
                <a:ea typeface="Roboto Mono" panose="00000009000000000000" pitchFamily="49" charset="0"/>
              </a:rPr>
              <a:t>    </a:t>
            </a:r>
            <a:r>
              <a:rPr lang="en-US" sz="3200" dirty="0" err="1">
                <a:solidFill>
                  <a:srgbClr val="00B050"/>
                </a:solidFill>
                <a:latin typeface="Roboto Mono" panose="00000009000000000000" pitchFamily="49" charset="0"/>
                <a:ea typeface="Roboto Mono" panose="00000009000000000000" pitchFamily="49" charset="0"/>
              </a:rPr>
              <a:t>customers.country</a:t>
            </a:r>
            <a:r>
              <a:rPr lang="en-US" sz="3200" dirty="0">
                <a:solidFill>
                  <a:srgbClr val="00B050"/>
                </a:solidFill>
                <a:latin typeface="Roboto Mono" panose="00000009000000000000" pitchFamily="49" charset="0"/>
                <a:ea typeface="Roboto Mono" panose="00000009000000000000" pitchFamily="49" charset="0"/>
              </a:rPr>
              <a:t>,</a:t>
            </a:r>
          </a:p>
          <a:p>
            <a:pPr marL="0" indent="0">
              <a:buNone/>
            </a:pPr>
            <a:r>
              <a:rPr lang="en-US" sz="3200" dirty="0">
                <a:solidFill>
                  <a:srgbClr val="00B050"/>
                </a:solidFill>
                <a:latin typeface="Roboto Mono" panose="00000009000000000000" pitchFamily="49" charset="0"/>
                <a:ea typeface="Roboto Mono" panose="00000009000000000000" pitchFamily="49" charset="0"/>
              </a:rPr>
              <a:t>    </a:t>
            </a:r>
            <a:r>
              <a:rPr lang="en-US" sz="3200" dirty="0" err="1">
                <a:solidFill>
                  <a:srgbClr val="00B050"/>
                </a:solidFill>
                <a:latin typeface="Roboto Mono" panose="00000009000000000000" pitchFamily="49" charset="0"/>
                <a:ea typeface="Roboto Mono" panose="00000009000000000000" pitchFamily="49" charset="0"/>
              </a:rPr>
              <a:t>customers.balance</a:t>
            </a:r>
            <a:r>
              <a:rPr lang="en-US" sz="3200" dirty="0">
                <a:solidFill>
                  <a:srgbClr val="00B050"/>
                </a:solidFill>
                <a:latin typeface="Roboto Mono" panose="00000009000000000000" pitchFamily="49" charset="0"/>
                <a:ea typeface="Roboto Mono" panose="00000009000000000000" pitchFamily="49" charset="0"/>
              </a:rPr>
              <a:t> + COALESCE(SUM(</a:t>
            </a:r>
            <a:r>
              <a:rPr lang="en-US" sz="3200" dirty="0" err="1">
                <a:solidFill>
                  <a:srgbClr val="00B050"/>
                </a:solidFill>
                <a:latin typeface="Roboto Mono" panose="00000009000000000000" pitchFamily="49" charset="0"/>
                <a:ea typeface="Roboto Mono" panose="00000009000000000000" pitchFamily="49" charset="0"/>
              </a:rPr>
              <a:t>facts.transactionamount</a:t>
            </a:r>
            <a:r>
              <a:rPr lang="en-US" sz="3200" dirty="0">
                <a:solidFill>
                  <a:srgbClr val="00B050"/>
                </a:solidFill>
                <a:latin typeface="Roboto Mono" panose="00000009000000000000" pitchFamily="49" charset="0"/>
                <a:ea typeface="Roboto Mono" panose="00000009000000000000" pitchFamily="49" charset="0"/>
              </a:rPr>
              <a:t>), 0) AS </a:t>
            </a:r>
            <a:r>
              <a:rPr lang="en-US" sz="3200" dirty="0" err="1">
                <a:solidFill>
                  <a:srgbClr val="00B050"/>
                </a:solidFill>
                <a:latin typeface="Roboto Mono" panose="00000009000000000000" pitchFamily="49" charset="0"/>
                <a:ea typeface="Roboto Mono" panose="00000009000000000000" pitchFamily="49" charset="0"/>
              </a:rPr>
              <a:t>closing_balance</a:t>
            </a:r>
            <a:endParaRPr lang="en-US" sz="3200" dirty="0">
              <a:solidFill>
                <a:srgbClr val="00B050"/>
              </a:solidFill>
              <a:latin typeface="Roboto Mono" panose="00000009000000000000" pitchFamily="49" charset="0"/>
              <a:ea typeface="Roboto Mono" panose="00000009000000000000" pitchFamily="49" charset="0"/>
            </a:endParaRPr>
          </a:p>
          <a:p>
            <a:pPr marL="0" indent="0">
              <a:buNone/>
            </a:pPr>
            <a:r>
              <a:rPr lang="en-US" sz="3200" dirty="0">
                <a:solidFill>
                  <a:srgbClr val="00B050"/>
                </a:solidFill>
                <a:latin typeface="Roboto Mono" panose="00000009000000000000" pitchFamily="49" charset="0"/>
                <a:ea typeface="Roboto Mono" panose="00000009000000000000" pitchFamily="49" charset="0"/>
              </a:rPr>
              <a:t>FROM </a:t>
            </a:r>
            <a:r>
              <a:rPr lang="en-US" sz="3200" dirty="0" err="1">
                <a:solidFill>
                  <a:srgbClr val="00B050"/>
                </a:solidFill>
                <a:latin typeface="Roboto Mono" panose="00000009000000000000" pitchFamily="49" charset="0"/>
                <a:ea typeface="Roboto Mono" panose="00000009000000000000" pitchFamily="49" charset="0"/>
              </a:rPr>
              <a:t>finproDimCustomers</a:t>
            </a:r>
            <a:r>
              <a:rPr lang="en-US" sz="3200" dirty="0">
                <a:solidFill>
                  <a:srgbClr val="00B050"/>
                </a:solidFill>
                <a:latin typeface="Roboto Mono" panose="00000009000000000000" pitchFamily="49" charset="0"/>
                <a:ea typeface="Roboto Mono" panose="00000009000000000000" pitchFamily="49" charset="0"/>
              </a:rPr>
              <a:t> AS customers</a:t>
            </a:r>
          </a:p>
          <a:p>
            <a:pPr marL="0" indent="0">
              <a:buNone/>
            </a:pPr>
            <a:r>
              <a:rPr lang="en-US" sz="3200" dirty="0">
                <a:solidFill>
                  <a:srgbClr val="00B050"/>
                </a:solidFill>
                <a:latin typeface="Roboto Mono" panose="00000009000000000000" pitchFamily="49" charset="0"/>
                <a:ea typeface="Roboto Mono" panose="00000009000000000000" pitchFamily="49" charset="0"/>
              </a:rPr>
              <a:t>LEFT JOIN </a:t>
            </a:r>
            <a:r>
              <a:rPr lang="en-US" sz="3200" dirty="0" err="1">
                <a:solidFill>
                  <a:srgbClr val="00B050"/>
                </a:solidFill>
                <a:latin typeface="Roboto Mono" panose="00000009000000000000" pitchFamily="49" charset="0"/>
                <a:ea typeface="Roboto Mono" panose="00000009000000000000" pitchFamily="49" charset="0"/>
              </a:rPr>
              <a:t>finproFactTransactions</a:t>
            </a:r>
            <a:r>
              <a:rPr lang="en-US" sz="3200" dirty="0">
                <a:solidFill>
                  <a:srgbClr val="00B050"/>
                </a:solidFill>
                <a:latin typeface="Roboto Mono" panose="00000009000000000000" pitchFamily="49" charset="0"/>
                <a:ea typeface="Roboto Mono" panose="00000009000000000000" pitchFamily="49" charset="0"/>
              </a:rPr>
              <a:t> AS facts</a:t>
            </a:r>
          </a:p>
          <a:p>
            <a:pPr marL="0" indent="0">
              <a:buNone/>
            </a:pPr>
            <a:r>
              <a:rPr lang="en-US" sz="3200" dirty="0">
                <a:solidFill>
                  <a:srgbClr val="00B050"/>
                </a:solidFill>
                <a:latin typeface="Roboto Mono" panose="00000009000000000000" pitchFamily="49" charset="0"/>
                <a:ea typeface="Roboto Mono" panose="00000009000000000000" pitchFamily="49" charset="0"/>
              </a:rPr>
              <a:t>    ON </a:t>
            </a:r>
            <a:r>
              <a:rPr lang="en-US" sz="3200" dirty="0" err="1">
                <a:solidFill>
                  <a:srgbClr val="00B050"/>
                </a:solidFill>
                <a:latin typeface="Roboto Mono" panose="00000009000000000000" pitchFamily="49" charset="0"/>
                <a:ea typeface="Roboto Mono" panose="00000009000000000000" pitchFamily="49" charset="0"/>
              </a:rPr>
              <a:t>customers.accountid</a:t>
            </a:r>
            <a:r>
              <a:rPr lang="en-US" sz="3200" dirty="0">
                <a:solidFill>
                  <a:srgbClr val="00B050"/>
                </a:solidFill>
                <a:latin typeface="Roboto Mono" panose="00000009000000000000" pitchFamily="49" charset="0"/>
                <a:ea typeface="Roboto Mono" panose="00000009000000000000" pitchFamily="49" charset="0"/>
              </a:rPr>
              <a:t> = </a:t>
            </a:r>
            <a:r>
              <a:rPr lang="en-US" sz="3200" dirty="0" err="1">
                <a:solidFill>
                  <a:srgbClr val="00B050"/>
                </a:solidFill>
                <a:latin typeface="Roboto Mono" panose="00000009000000000000" pitchFamily="49" charset="0"/>
                <a:ea typeface="Roboto Mono" panose="00000009000000000000" pitchFamily="49" charset="0"/>
              </a:rPr>
              <a:t>facts.accountid</a:t>
            </a:r>
            <a:endParaRPr lang="en-US" sz="3200" dirty="0">
              <a:solidFill>
                <a:srgbClr val="00B050"/>
              </a:solidFill>
              <a:latin typeface="Roboto Mono" panose="00000009000000000000" pitchFamily="49" charset="0"/>
              <a:ea typeface="Roboto Mono" panose="00000009000000000000" pitchFamily="49" charset="0"/>
            </a:endParaRPr>
          </a:p>
          <a:p>
            <a:pPr marL="0" indent="0">
              <a:buNone/>
            </a:pPr>
            <a:r>
              <a:rPr lang="en-US" sz="3200" dirty="0">
                <a:solidFill>
                  <a:srgbClr val="00B050"/>
                </a:solidFill>
                <a:latin typeface="Roboto Mono" panose="00000009000000000000" pitchFamily="49" charset="0"/>
                <a:ea typeface="Roboto Mono" panose="00000009000000000000" pitchFamily="49" charset="0"/>
              </a:rPr>
              <a:t>GROUP BY CUBE (</a:t>
            </a:r>
          </a:p>
          <a:p>
            <a:pPr marL="0" indent="0">
              <a:buNone/>
            </a:pPr>
            <a:r>
              <a:rPr lang="en-US" sz="3200" dirty="0">
                <a:solidFill>
                  <a:srgbClr val="00B050"/>
                </a:solidFill>
                <a:latin typeface="Roboto Mono" panose="00000009000000000000" pitchFamily="49" charset="0"/>
                <a:ea typeface="Roboto Mono" panose="00000009000000000000" pitchFamily="49" charset="0"/>
              </a:rPr>
              <a:t>    EXTRACT(YEAR FROM TO_DATE(</a:t>
            </a:r>
            <a:r>
              <a:rPr lang="en-US" sz="3200" dirty="0" err="1">
                <a:solidFill>
                  <a:srgbClr val="00B050"/>
                </a:solidFill>
                <a:latin typeface="Roboto Mono" panose="00000009000000000000" pitchFamily="49" charset="0"/>
                <a:ea typeface="Roboto Mono" panose="00000009000000000000" pitchFamily="49" charset="0"/>
              </a:rPr>
              <a:t>customers.datejoined</a:t>
            </a:r>
            <a:r>
              <a:rPr lang="en-US" sz="3200" dirty="0">
                <a:solidFill>
                  <a:srgbClr val="00B050"/>
                </a:solidFill>
                <a:latin typeface="Roboto Mono" panose="00000009000000000000" pitchFamily="49" charset="0"/>
                <a:ea typeface="Roboto Mono" panose="00000009000000000000" pitchFamily="49" charset="0"/>
              </a:rPr>
              <a:t>, 'MM/DD/YYYY')),</a:t>
            </a:r>
          </a:p>
          <a:p>
            <a:pPr marL="0" indent="0">
              <a:buNone/>
            </a:pPr>
            <a:r>
              <a:rPr lang="en-US" sz="3200" dirty="0">
                <a:solidFill>
                  <a:srgbClr val="00B050"/>
                </a:solidFill>
                <a:latin typeface="Roboto Mono" panose="00000009000000000000" pitchFamily="49" charset="0"/>
                <a:ea typeface="Roboto Mono" panose="00000009000000000000" pitchFamily="49" charset="0"/>
              </a:rPr>
              <a:t>    </a:t>
            </a:r>
            <a:r>
              <a:rPr lang="en-US" sz="3200" dirty="0" err="1">
                <a:solidFill>
                  <a:srgbClr val="00B050"/>
                </a:solidFill>
                <a:latin typeface="Roboto Mono" panose="00000009000000000000" pitchFamily="49" charset="0"/>
                <a:ea typeface="Roboto Mono" panose="00000009000000000000" pitchFamily="49" charset="0"/>
              </a:rPr>
              <a:t>customers.country</a:t>
            </a:r>
            <a:r>
              <a:rPr lang="en-US" sz="3200" dirty="0">
                <a:solidFill>
                  <a:srgbClr val="00B050"/>
                </a:solidFill>
                <a:latin typeface="Roboto Mono" panose="00000009000000000000" pitchFamily="49" charset="0"/>
                <a:ea typeface="Roboto Mono" panose="00000009000000000000" pitchFamily="49" charset="0"/>
              </a:rPr>
              <a:t>,</a:t>
            </a:r>
          </a:p>
          <a:p>
            <a:pPr marL="0" indent="0">
              <a:buNone/>
            </a:pPr>
            <a:r>
              <a:rPr lang="en-US" sz="3200" dirty="0">
                <a:solidFill>
                  <a:srgbClr val="00B050"/>
                </a:solidFill>
                <a:latin typeface="Roboto Mono" panose="00000009000000000000" pitchFamily="49" charset="0"/>
                <a:ea typeface="Roboto Mono" panose="00000009000000000000" pitchFamily="49" charset="0"/>
              </a:rPr>
              <a:t>    </a:t>
            </a:r>
            <a:r>
              <a:rPr lang="en-US" sz="3200" dirty="0" err="1">
                <a:solidFill>
                  <a:srgbClr val="00B050"/>
                </a:solidFill>
                <a:latin typeface="Roboto Mono" panose="00000009000000000000" pitchFamily="49" charset="0"/>
                <a:ea typeface="Roboto Mono" panose="00000009000000000000" pitchFamily="49" charset="0"/>
              </a:rPr>
              <a:t>customers.balance</a:t>
            </a:r>
            <a:endParaRPr lang="en-US" sz="3200" dirty="0">
              <a:solidFill>
                <a:srgbClr val="00B050"/>
              </a:solidFill>
              <a:latin typeface="Roboto Mono" panose="00000009000000000000" pitchFamily="49" charset="0"/>
              <a:ea typeface="Roboto Mono" panose="00000009000000000000" pitchFamily="49" charset="0"/>
            </a:endParaRPr>
          </a:p>
          <a:p>
            <a:pPr marL="0" indent="0">
              <a:buNone/>
            </a:pPr>
            <a:r>
              <a:rPr lang="en-US" sz="3200" dirty="0">
                <a:solidFill>
                  <a:srgbClr val="00B050"/>
                </a:solidFill>
                <a:latin typeface="Roboto Mono" panose="00000009000000000000" pitchFamily="49" charset="0"/>
                <a:ea typeface="Roboto Mono" panose="00000009000000000000" pitchFamily="49" charset="0"/>
              </a:rPr>
              <a:t>);</a:t>
            </a:r>
          </a:p>
          <a:p>
            <a:pPr marL="0" indent="0">
              <a:buNone/>
            </a:pPr>
            <a:r>
              <a:rPr lang="en-US" sz="6200" dirty="0"/>
              <a:t>Purpose:</a:t>
            </a:r>
          </a:p>
          <a:p>
            <a:pPr marL="0" indent="0">
              <a:buNone/>
            </a:pPr>
            <a:r>
              <a:rPr lang="en-US" sz="5500" dirty="0"/>
              <a:t>Creates all possible combinations of:</a:t>
            </a:r>
          </a:p>
          <a:p>
            <a:pPr lvl="1"/>
            <a:r>
              <a:rPr lang="en-US" sz="5000" dirty="0"/>
              <a:t>Year</a:t>
            </a:r>
          </a:p>
          <a:p>
            <a:pPr lvl="1"/>
            <a:r>
              <a:rPr lang="en-US" sz="5000" dirty="0"/>
              <a:t>Country</a:t>
            </a:r>
          </a:p>
          <a:p>
            <a:pPr lvl="1"/>
            <a:r>
              <a:rPr lang="en-US" sz="5000" dirty="0"/>
              <a:t>Balance</a:t>
            </a:r>
          </a:p>
          <a:p>
            <a:pPr marL="0" indent="0">
              <a:buNone/>
            </a:pPr>
            <a:r>
              <a:rPr lang="en-US" sz="5500" dirty="0"/>
              <a:t>Used for deep OLAP slicing/dicing and Tableau drill‑downs.</a:t>
            </a:r>
          </a:p>
          <a:p>
            <a:endParaRPr lang="en-IN" dirty="0"/>
          </a:p>
        </p:txBody>
      </p:sp>
    </p:spTree>
    <p:extLst>
      <p:ext uri="{BB962C8B-B14F-4D97-AF65-F5344CB8AC3E}">
        <p14:creationId xmlns:p14="http://schemas.microsoft.com/office/powerpoint/2010/main" val="549561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31064-56F6-6371-EB3D-677C20487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142A5-892A-4D20-F05A-72C228C72D96}"/>
              </a:ext>
            </a:extLst>
          </p:cNvPr>
          <p:cNvSpPr>
            <a:spLocks noGrp="1"/>
          </p:cNvSpPr>
          <p:nvPr>
            <p:ph type="title"/>
          </p:nvPr>
        </p:nvSpPr>
        <p:spPr/>
        <p:txBody>
          <a:bodyPr/>
          <a:lstStyle/>
          <a:p>
            <a:r>
              <a:rPr lang="en-IN" dirty="0"/>
              <a:t>Documenting SQL queries and scripts (7 of 7)</a:t>
            </a:r>
          </a:p>
        </p:txBody>
      </p:sp>
      <p:sp>
        <p:nvSpPr>
          <p:cNvPr id="3" name="Content Placeholder 2">
            <a:extLst>
              <a:ext uri="{FF2B5EF4-FFF2-40B4-BE49-F238E27FC236}">
                <a16:creationId xmlns:a16="http://schemas.microsoft.com/office/drawing/2014/main" id="{C00471F0-5B6D-42DA-3F50-9CC8C6B15868}"/>
              </a:ext>
            </a:extLst>
          </p:cNvPr>
          <p:cNvSpPr>
            <a:spLocks noGrp="1"/>
          </p:cNvSpPr>
          <p:nvPr>
            <p:ph idx="1"/>
          </p:nvPr>
        </p:nvSpPr>
        <p:spPr/>
        <p:txBody>
          <a:bodyPr>
            <a:normAutofit/>
          </a:bodyPr>
          <a:lstStyle/>
          <a:p>
            <a:pPr marL="0" indent="0">
              <a:buNone/>
            </a:pPr>
            <a:r>
              <a:rPr lang="en-US" sz="2000" dirty="0"/>
              <a:t>5. MQT — Materialized View for Branch‑Wise Totals</a:t>
            </a:r>
          </a:p>
          <a:p>
            <a:pPr marL="0" indent="0">
              <a:buNone/>
            </a:pPr>
            <a:r>
              <a:rPr lang="en-IN" sz="1500" b="1" dirty="0">
                <a:solidFill>
                  <a:srgbClr val="00B050"/>
                </a:solidFill>
                <a:latin typeface="Roboto Mono" panose="00000009000000000000" pitchFamily="49" charset="0"/>
                <a:ea typeface="Roboto Mono" panose="00000009000000000000" pitchFamily="49" charset="0"/>
              </a:rPr>
              <a:t>CREATE MATERIALIZED VIEW </a:t>
            </a:r>
            <a:r>
              <a:rPr lang="en-IN" sz="1500" b="1" dirty="0" err="1">
                <a:solidFill>
                  <a:srgbClr val="00B050"/>
                </a:solidFill>
                <a:latin typeface="Roboto Mono" panose="00000009000000000000" pitchFamily="49" charset="0"/>
                <a:ea typeface="Roboto Mono" panose="00000009000000000000" pitchFamily="49" charset="0"/>
              </a:rPr>
              <a:t>Total_transaction_per_branch</a:t>
            </a:r>
            <a:r>
              <a:rPr lang="en-IN" sz="1500" b="1" dirty="0">
                <a:solidFill>
                  <a:srgbClr val="00B050"/>
                </a:solidFill>
                <a:latin typeface="Roboto Mono" panose="00000009000000000000" pitchFamily="49" charset="0"/>
                <a:ea typeface="Roboto Mono" panose="00000009000000000000" pitchFamily="49" charset="0"/>
              </a:rPr>
              <a:t> AS</a:t>
            </a:r>
          </a:p>
          <a:p>
            <a:pPr marL="0" indent="0">
              <a:buNone/>
            </a:pPr>
            <a:r>
              <a:rPr lang="en-IN" sz="1500" b="1" dirty="0">
                <a:solidFill>
                  <a:srgbClr val="00B050"/>
                </a:solidFill>
                <a:latin typeface="Roboto Mono" panose="00000009000000000000" pitchFamily="49" charset="0"/>
                <a:ea typeface="Roboto Mono" panose="00000009000000000000" pitchFamily="49" charset="0"/>
              </a:rPr>
              <a:t>SELECT</a:t>
            </a:r>
          </a:p>
          <a:p>
            <a:pPr marL="0" indent="0">
              <a:buNone/>
            </a:pPr>
            <a:r>
              <a:rPr lang="en-IN" sz="1500" b="1" dirty="0">
                <a:solidFill>
                  <a:srgbClr val="00B050"/>
                </a:solidFill>
                <a:latin typeface="Roboto Mono" panose="00000009000000000000" pitchFamily="49" charset="0"/>
                <a:ea typeface="Roboto Mono" panose="00000009000000000000" pitchFamily="49" charset="0"/>
              </a:rPr>
              <a:t>    </a:t>
            </a:r>
            <a:r>
              <a:rPr lang="en-IN" sz="1500" b="1" dirty="0" err="1">
                <a:solidFill>
                  <a:srgbClr val="00B050"/>
                </a:solidFill>
                <a:latin typeface="Roboto Mono" panose="00000009000000000000" pitchFamily="49" charset="0"/>
                <a:ea typeface="Roboto Mono" panose="00000009000000000000" pitchFamily="49" charset="0"/>
              </a:rPr>
              <a:t>customers.branchcode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IN" sz="1500" b="1" dirty="0">
                <a:solidFill>
                  <a:srgbClr val="00B050"/>
                </a:solidFill>
                <a:latin typeface="Roboto Mono" panose="00000009000000000000" pitchFamily="49" charset="0"/>
                <a:ea typeface="Roboto Mono" panose="00000009000000000000" pitchFamily="49" charset="0"/>
              </a:rPr>
              <a:t>    SUM(</a:t>
            </a:r>
            <a:r>
              <a:rPr lang="en-IN" sz="1500" b="1" dirty="0" err="1">
                <a:solidFill>
                  <a:srgbClr val="00B050"/>
                </a:solidFill>
                <a:latin typeface="Roboto Mono" panose="00000009000000000000" pitchFamily="49" charset="0"/>
                <a:ea typeface="Roboto Mono" panose="00000009000000000000" pitchFamily="49" charset="0"/>
              </a:rPr>
              <a:t>facts.transactionamount</a:t>
            </a:r>
            <a:r>
              <a:rPr lang="en-IN" sz="1500" b="1" dirty="0">
                <a:solidFill>
                  <a:srgbClr val="00B050"/>
                </a:solidFill>
                <a:latin typeface="Roboto Mono" panose="00000009000000000000" pitchFamily="49" charset="0"/>
                <a:ea typeface="Roboto Mono" panose="00000009000000000000" pitchFamily="49" charset="0"/>
              </a:rPr>
              <a:t>) AS </a:t>
            </a:r>
            <a:r>
              <a:rPr lang="en-IN" sz="1500" b="1" dirty="0" err="1">
                <a:solidFill>
                  <a:srgbClr val="00B050"/>
                </a:solidFill>
                <a:latin typeface="Roboto Mono" panose="00000009000000000000" pitchFamily="49" charset="0"/>
                <a:ea typeface="Roboto Mono" panose="00000009000000000000" pitchFamily="49" charset="0"/>
              </a:rPr>
              <a:t>total_transaction</a:t>
            </a:r>
            <a:endParaRPr lang="en-IN" sz="1500" b="1" dirty="0">
              <a:solidFill>
                <a:srgbClr val="00B050"/>
              </a:solidFill>
              <a:latin typeface="Roboto Mono" panose="00000009000000000000" pitchFamily="49" charset="0"/>
              <a:ea typeface="Roboto Mono" panose="00000009000000000000" pitchFamily="49" charset="0"/>
            </a:endParaRPr>
          </a:p>
          <a:p>
            <a:pPr marL="0" indent="0">
              <a:buNone/>
            </a:pPr>
            <a:r>
              <a:rPr lang="en-IN" sz="1500" b="1" dirty="0">
                <a:solidFill>
                  <a:srgbClr val="00B050"/>
                </a:solidFill>
                <a:latin typeface="Roboto Mono" panose="00000009000000000000" pitchFamily="49" charset="0"/>
                <a:ea typeface="Roboto Mono" panose="00000009000000000000" pitchFamily="49" charset="0"/>
              </a:rPr>
              <a:t>FROM </a:t>
            </a:r>
            <a:r>
              <a:rPr lang="en-IN" sz="1500" b="1" dirty="0" err="1">
                <a:solidFill>
                  <a:srgbClr val="00B050"/>
                </a:solidFill>
                <a:latin typeface="Roboto Mono" panose="00000009000000000000" pitchFamily="49" charset="0"/>
                <a:ea typeface="Roboto Mono" panose="00000009000000000000" pitchFamily="49" charset="0"/>
              </a:rPr>
              <a:t>finproFactTransactions</a:t>
            </a:r>
            <a:r>
              <a:rPr lang="en-IN" sz="1500" b="1" dirty="0">
                <a:solidFill>
                  <a:srgbClr val="00B050"/>
                </a:solidFill>
                <a:latin typeface="Roboto Mono" panose="00000009000000000000" pitchFamily="49" charset="0"/>
                <a:ea typeface="Roboto Mono" panose="00000009000000000000" pitchFamily="49" charset="0"/>
              </a:rPr>
              <a:t> AS facts</a:t>
            </a:r>
          </a:p>
          <a:p>
            <a:pPr marL="0" indent="0">
              <a:buNone/>
            </a:pPr>
            <a:r>
              <a:rPr lang="en-IN" sz="1500" b="1" dirty="0">
                <a:solidFill>
                  <a:srgbClr val="00B050"/>
                </a:solidFill>
                <a:latin typeface="Roboto Mono" panose="00000009000000000000" pitchFamily="49" charset="0"/>
                <a:ea typeface="Roboto Mono" panose="00000009000000000000" pitchFamily="49" charset="0"/>
              </a:rPr>
              <a:t>JOIN </a:t>
            </a:r>
            <a:r>
              <a:rPr lang="en-IN" sz="1500" b="1" dirty="0" err="1">
                <a:solidFill>
                  <a:srgbClr val="00B050"/>
                </a:solidFill>
                <a:latin typeface="Roboto Mono" panose="00000009000000000000" pitchFamily="49" charset="0"/>
                <a:ea typeface="Roboto Mono" panose="00000009000000000000" pitchFamily="49" charset="0"/>
              </a:rPr>
              <a:t>finproDimCustomers</a:t>
            </a:r>
            <a:r>
              <a:rPr lang="en-IN" sz="1500" b="1" dirty="0">
                <a:solidFill>
                  <a:srgbClr val="00B050"/>
                </a:solidFill>
                <a:latin typeface="Roboto Mono" panose="00000009000000000000" pitchFamily="49" charset="0"/>
                <a:ea typeface="Roboto Mono" panose="00000009000000000000" pitchFamily="49" charset="0"/>
              </a:rPr>
              <a:t> AS customers</a:t>
            </a:r>
          </a:p>
          <a:p>
            <a:pPr marL="0" indent="0">
              <a:buNone/>
            </a:pPr>
            <a:r>
              <a:rPr lang="en-IN" sz="1500" b="1" dirty="0">
                <a:solidFill>
                  <a:srgbClr val="00B050"/>
                </a:solidFill>
                <a:latin typeface="Roboto Mono" panose="00000009000000000000" pitchFamily="49" charset="0"/>
                <a:ea typeface="Roboto Mono" panose="00000009000000000000" pitchFamily="49" charset="0"/>
              </a:rPr>
              <a:t>    ON </a:t>
            </a:r>
            <a:r>
              <a:rPr lang="en-IN" sz="1500" b="1" dirty="0" err="1">
                <a:solidFill>
                  <a:srgbClr val="00B050"/>
                </a:solidFill>
                <a:latin typeface="Roboto Mono" panose="00000009000000000000" pitchFamily="49" charset="0"/>
                <a:ea typeface="Roboto Mono" panose="00000009000000000000" pitchFamily="49" charset="0"/>
              </a:rPr>
              <a:t>facts.accountid</a:t>
            </a:r>
            <a:r>
              <a:rPr lang="en-IN" sz="1500" b="1" dirty="0">
                <a:solidFill>
                  <a:srgbClr val="00B050"/>
                </a:solidFill>
                <a:latin typeface="Roboto Mono" panose="00000009000000000000" pitchFamily="49" charset="0"/>
                <a:ea typeface="Roboto Mono" panose="00000009000000000000" pitchFamily="49" charset="0"/>
              </a:rPr>
              <a:t> = </a:t>
            </a:r>
            <a:r>
              <a:rPr lang="en-IN" sz="1500" b="1" dirty="0" err="1">
                <a:solidFill>
                  <a:srgbClr val="00B050"/>
                </a:solidFill>
                <a:latin typeface="Roboto Mono" panose="00000009000000000000" pitchFamily="49" charset="0"/>
                <a:ea typeface="Roboto Mono" panose="00000009000000000000" pitchFamily="49" charset="0"/>
              </a:rPr>
              <a:t>customers.accountid</a:t>
            </a:r>
            <a:endParaRPr lang="en-IN" sz="1500" b="1" dirty="0">
              <a:solidFill>
                <a:srgbClr val="00B050"/>
              </a:solidFill>
              <a:latin typeface="Roboto Mono" panose="00000009000000000000" pitchFamily="49" charset="0"/>
              <a:ea typeface="Roboto Mono" panose="00000009000000000000" pitchFamily="49" charset="0"/>
            </a:endParaRPr>
          </a:p>
          <a:p>
            <a:pPr marL="0" indent="0">
              <a:buNone/>
            </a:pPr>
            <a:r>
              <a:rPr lang="en-IN" sz="1500" b="1" dirty="0">
                <a:solidFill>
                  <a:srgbClr val="00B050"/>
                </a:solidFill>
                <a:latin typeface="Roboto Mono" panose="00000009000000000000" pitchFamily="49" charset="0"/>
                <a:ea typeface="Roboto Mono" panose="00000009000000000000" pitchFamily="49" charset="0"/>
              </a:rPr>
              <a:t>GROUP BY </a:t>
            </a:r>
            <a:r>
              <a:rPr lang="en-IN" sz="1500" b="1" dirty="0" err="1">
                <a:solidFill>
                  <a:srgbClr val="00B050"/>
                </a:solidFill>
                <a:latin typeface="Roboto Mono" panose="00000009000000000000" pitchFamily="49" charset="0"/>
                <a:ea typeface="Roboto Mono" panose="00000009000000000000" pitchFamily="49" charset="0"/>
              </a:rPr>
              <a:t>customers.branchcode</a:t>
            </a:r>
            <a:r>
              <a:rPr lang="en-IN" sz="1500" b="1" dirty="0">
                <a:solidFill>
                  <a:srgbClr val="00B050"/>
                </a:solidFill>
                <a:latin typeface="Roboto Mono" panose="00000009000000000000" pitchFamily="49" charset="0"/>
                <a:ea typeface="Roboto Mono" panose="00000009000000000000" pitchFamily="49" charset="0"/>
              </a:rPr>
              <a:t>;</a:t>
            </a:r>
          </a:p>
          <a:p>
            <a:pPr marL="0" indent="0">
              <a:buNone/>
            </a:pPr>
            <a:r>
              <a:rPr lang="en-IN" sz="2000" dirty="0"/>
              <a:t>Querying the MQT</a:t>
            </a:r>
          </a:p>
          <a:p>
            <a:pPr marL="0" indent="0">
              <a:buNone/>
            </a:pPr>
            <a:r>
              <a:rPr lang="en-US" sz="1500" b="1" dirty="0">
                <a:solidFill>
                  <a:srgbClr val="00B050"/>
                </a:solidFill>
                <a:latin typeface="Roboto Mono" panose="00000009000000000000" pitchFamily="49" charset="0"/>
                <a:ea typeface="Roboto Mono" panose="00000009000000000000" pitchFamily="49" charset="0"/>
              </a:rPr>
              <a:t>SELECT * FROM </a:t>
            </a:r>
            <a:r>
              <a:rPr lang="en-US" sz="1500" b="1" dirty="0" err="1">
                <a:solidFill>
                  <a:srgbClr val="00B050"/>
                </a:solidFill>
                <a:latin typeface="Roboto Mono" panose="00000009000000000000" pitchFamily="49" charset="0"/>
                <a:ea typeface="Roboto Mono" panose="00000009000000000000" pitchFamily="49" charset="0"/>
              </a:rPr>
              <a:t>Total_transaction_per_branch</a:t>
            </a:r>
            <a:r>
              <a:rPr lang="en-US" sz="1500" b="1" dirty="0">
                <a:solidFill>
                  <a:srgbClr val="00B050"/>
                </a:solidFill>
                <a:latin typeface="Roboto Mono" panose="00000009000000000000" pitchFamily="49" charset="0"/>
                <a:ea typeface="Roboto Mono" panose="00000009000000000000" pitchFamily="49" charset="0"/>
              </a:rPr>
              <a:t>;</a:t>
            </a:r>
          </a:p>
          <a:p>
            <a:pPr marL="0" indent="0">
              <a:buNone/>
            </a:pPr>
            <a:r>
              <a:rPr lang="en-US" sz="2000" dirty="0"/>
              <a:t>Purpose:</a:t>
            </a:r>
          </a:p>
          <a:p>
            <a:pPr lvl="1"/>
            <a:r>
              <a:rPr lang="en-US" sz="1600" dirty="0"/>
              <a:t>Improves performance by pre‑computing branch‑level totals.</a:t>
            </a:r>
          </a:p>
          <a:p>
            <a:pPr lvl="1"/>
            <a:r>
              <a:rPr lang="en-US" sz="1600" dirty="0"/>
              <a:t>Used for fast dashboard refresh and repeated analytical queries.</a:t>
            </a:r>
            <a:endParaRPr lang="en-IN" sz="1600" dirty="0"/>
          </a:p>
        </p:txBody>
      </p:sp>
    </p:spTree>
    <p:extLst>
      <p:ext uri="{BB962C8B-B14F-4D97-AF65-F5344CB8AC3E}">
        <p14:creationId xmlns:p14="http://schemas.microsoft.com/office/powerpoint/2010/main" val="3507888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239C-115B-4B03-B358-2B0BA8689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3E5D5-DAD6-971F-73F8-584F5D2B8A8E}"/>
              </a:ext>
            </a:extLst>
          </p:cNvPr>
          <p:cNvSpPr>
            <a:spLocks noGrp="1"/>
          </p:cNvSpPr>
          <p:nvPr>
            <p:ph type="title"/>
          </p:nvPr>
        </p:nvSpPr>
        <p:spPr/>
        <p:txBody>
          <a:bodyPr vert="horz" lIns="91440" tIns="45720" rIns="91440" bIns="45720" rtlCol="0" anchor="ctr">
            <a:normAutofit/>
          </a:bodyPr>
          <a:lstStyle/>
          <a:p>
            <a:r>
              <a:rPr lang="en-US" dirty="0"/>
              <a:t>Inferences (1 of 4)</a:t>
            </a:r>
            <a:endParaRPr lang="en-IN" dirty="0"/>
          </a:p>
        </p:txBody>
      </p:sp>
      <p:sp>
        <p:nvSpPr>
          <p:cNvPr id="3" name="Content Placeholder 2">
            <a:extLst>
              <a:ext uri="{FF2B5EF4-FFF2-40B4-BE49-F238E27FC236}">
                <a16:creationId xmlns:a16="http://schemas.microsoft.com/office/drawing/2014/main" id="{02330931-6412-5510-1B40-A3E53F30AC55}"/>
              </a:ext>
            </a:extLst>
          </p:cNvPr>
          <p:cNvSpPr>
            <a:spLocks noGrp="1"/>
          </p:cNvSpPr>
          <p:nvPr>
            <p:ph idx="1"/>
          </p:nvPr>
        </p:nvSpPr>
        <p:spPr/>
        <p:txBody>
          <a:bodyPr>
            <a:normAutofit/>
          </a:bodyPr>
          <a:lstStyle/>
          <a:p>
            <a:pPr rtl="0">
              <a:spcBef>
                <a:spcPts val="2400"/>
              </a:spcBef>
              <a:spcAft>
                <a:spcPts val="600"/>
              </a:spcAft>
              <a:buNone/>
            </a:pPr>
            <a:r>
              <a:rPr lang="en-US" sz="2200" b="1" i="0" u="none" strike="noStrike" dirty="0">
                <a:solidFill>
                  <a:srgbClr val="000000"/>
                </a:solidFill>
                <a:effectLst/>
                <a:latin typeface="Arial" panose="020B0604020202020204" pitchFamily="34" charset="0"/>
              </a:rPr>
              <a:t>Inferences from OLTP Analysis</a:t>
            </a:r>
            <a:endParaRPr lang="en-US" sz="2200" b="1" dirty="0">
              <a:effectLst/>
            </a:endParaRPr>
          </a:p>
          <a:p>
            <a:pPr rtl="0">
              <a:spcBef>
                <a:spcPts val="1400"/>
              </a:spcBef>
              <a:spcAft>
                <a:spcPts val="400"/>
              </a:spcAft>
              <a:buNone/>
            </a:pPr>
            <a:r>
              <a:rPr lang="en-US" sz="2200" i="0" u="none" strike="noStrike" dirty="0">
                <a:solidFill>
                  <a:srgbClr val="000000"/>
                </a:solidFill>
                <a:effectLst/>
                <a:latin typeface="Arial" panose="020B0604020202020204" pitchFamily="34" charset="0"/>
              </a:rPr>
              <a:t>Customer Behavior Insights</a:t>
            </a:r>
            <a:endParaRPr lang="en-US" sz="2200" dirty="0">
              <a:effectLst/>
            </a:endParaRPr>
          </a:p>
          <a:p>
            <a:pPr lvl="1" fontAlgn="base">
              <a:spcBef>
                <a:spcPts val="1200"/>
              </a:spcBef>
            </a:pPr>
            <a:r>
              <a:rPr lang="en-US" b="0" i="0" u="none" strike="noStrike" dirty="0">
                <a:solidFill>
                  <a:srgbClr val="000000"/>
                </a:solidFill>
                <a:effectLst/>
                <a:latin typeface="Arial" panose="020B0604020202020204" pitchFamily="34" charset="0"/>
              </a:rPr>
              <a:t>Negative balances highlight overdraft risk and potential financial stress.</a:t>
            </a:r>
          </a:p>
          <a:p>
            <a:pPr lvl="1" fontAlgn="base"/>
            <a:r>
              <a:rPr lang="en-US" b="0" i="0" u="none" strike="noStrike" dirty="0">
                <a:solidFill>
                  <a:srgbClr val="000000"/>
                </a:solidFill>
                <a:effectLst/>
                <a:latin typeface="Arial" panose="020B0604020202020204" pitchFamily="34" charset="0"/>
              </a:rPr>
              <a:t>High positive balances identify premium‑eligible, high‑value customers.</a:t>
            </a:r>
          </a:p>
          <a:p>
            <a:pPr lvl="1" fontAlgn="base">
              <a:spcAft>
                <a:spcPts val="1200"/>
              </a:spcAft>
            </a:pPr>
            <a:r>
              <a:rPr lang="en-US" b="0" i="0" u="none" strike="noStrike" dirty="0">
                <a:solidFill>
                  <a:srgbClr val="000000"/>
                </a:solidFill>
                <a:effectLst/>
                <a:latin typeface="Arial" panose="020B0604020202020204" pitchFamily="34" charset="0"/>
              </a:rPr>
              <a:t>Irregular transaction patterns suggest possible data entry issues or unusual activity.</a:t>
            </a:r>
          </a:p>
          <a:p>
            <a:pPr rtl="0">
              <a:spcBef>
                <a:spcPts val="1400"/>
              </a:spcBef>
              <a:spcAft>
                <a:spcPts val="400"/>
              </a:spcAft>
              <a:buNone/>
            </a:pPr>
            <a:r>
              <a:rPr lang="en-US" sz="2200" i="0" u="none" strike="noStrike" dirty="0">
                <a:solidFill>
                  <a:srgbClr val="000000"/>
                </a:solidFill>
                <a:effectLst/>
                <a:latin typeface="Arial" panose="020B0604020202020204" pitchFamily="34" charset="0"/>
              </a:rPr>
              <a:t>Transaction Frequency Patterns</a:t>
            </a:r>
            <a:endParaRPr lang="en-US" sz="2200" dirty="0">
              <a:effectLst/>
            </a:endParaRPr>
          </a:p>
          <a:p>
            <a:pPr lvl="1" fontAlgn="base">
              <a:spcBef>
                <a:spcPts val="1200"/>
              </a:spcBef>
            </a:pPr>
            <a:r>
              <a:rPr lang="en-US" b="0" i="0" u="none" strike="noStrike" dirty="0">
                <a:solidFill>
                  <a:srgbClr val="000000"/>
                </a:solidFill>
                <a:effectLst/>
                <a:latin typeface="Arial" panose="020B0604020202020204" pitchFamily="34" charset="0"/>
              </a:rPr>
              <a:t>Frequent small withdrawals indicate cash‑flow sensitivity.</a:t>
            </a:r>
          </a:p>
          <a:p>
            <a:pPr lvl="1" fontAlgn="base"/>
            <a:r>
              <a:rPr lang="en-US" b="0" i="0" u="none" strike="noStrike" dirty="0">
                <a:solidFill>
                  <a:srgbClr val="000000"/>
                </a:solidFill>
                <a:effectLst/>
                <a:latin typeface="Arial" panose="020B0604020202020204" pitchFamily="34" charset="0"/>
              </a:rPr>
              <a:t>Large, infrequent deposits reflect salary or business‑driven behavior.</a:t>
            </a:r>
          </a:p>
          <a:p>
            <a:pPr lvl="1" fontAlgn="base">
              <a:spcAft>
                <a:spcPts val="1200"/>
              </a:spcAft>
            </a:pPr>
            <a:r>
              <a:rPr lang="en-US" b="0" i="0" u="none" strike="noStrike" dirty="0">
                <a:solidFill>
                  <a:srgbClr val="000000"/>
                </a:solidFill>
                <a:effectLst/>
                <a:latin typeface="Arial" panose="020B0604020202020204" pitchFamily="34" charset="0"/>
              </a:rPr>
              <a:t>High withdrawals with low deposits may signal financial distress or fraud risk.</a:t>
            </a:r>
            <a:endParaRPr lang="en-IN" dirty="0"/>
          </a:p>
          <a:p>
            <a:endParaRPr lang="en-IN" dirty="0"/>
          </a:p>
        </p:txBody>
      </p:sp>
    </p:spTree>
    <p:extLst>
      <p:ext uri="{BB962C8B-B14F-4D97-AF65-F5344CB8AC3E}">
        <p14:creationId xmlns:p14="http://schemas.microsoft.com/office/powerpoint/2010/main" val="847521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0BB5-B2F9-F95E-D7C8-E890F885C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61ED4-9171-0578-E947-8A1C29CE10EB}"/>
              </a:ext>
            </a:extLst>
          </p:cNvPr>
          <p:cNvSpPr>
            <a:spLocks noGrp="1"/>
          </p:cNvSpPr>
          <p:nvPr>
            <p:ph type="title"/>
          </p:nvPr>
        </p:nvSpPr>
        <p:spPr/>
        <p:txBody>
          <a:bodyPr vert="horz" lIns="91440" tIns="45720" rIns="91440" bIns="45720" rtlCol="0" anchor="ctr">
            <a:normAutofit/>
          </a:bodyPr>
          <a:lstStyle/>
          <a:p>
            <a:r>
              <a:rPr lang="en-US" dirty="0"/>
              <a:t>Inferences (2 of 4)</a:t>
            </a:r>
            <a:endParaRPr lang="en-IN" dirty="0"/>
          </a:p>
        </p:txBody>
      </p:sp>
      <p:sp>
        <p:nvSpPr>
          <p:cNvPr id="3" name="Content Placeholder 2">
            <a:extLst>
              <a:ext uri="{FF2B5EF4-FFF2-40B4-BE49-F238E27FC236}">
                <a16:creationId xmlns:a16="http://schemas.microsoft.com/office/drawing/2014/main" id="{6E04DCF3-B96E-C85E-01EA-8F38FDC79EDB}"/>
              </a:ext>
            </a:extLst>
          </p:cNvPr>
          <p:cNvSpPr>
            <a:spLocks noGrp="1"/>
          </p:cNvSpPr>
          <p:nvPr>
            <p:ph idx="1"/>
          </p:nvPr>
        </p:nvSpPr>
        <p:spPr/>
        <p:txBody>
          <a:bodyPr>
            <a:normAutofit/>
          </a:bodyPr>
          <a:lstStyle/>
          <a:p>
            <a:pPr rtl="0">
              <a:spcBef>
                <a:spcPts val="2400"/>
              </a:spcBef>
              <a:spcAft>
                <a:spcPts val="600"/>
              </a:spcAft>
              <a:buNone/>
            </a:pPr>
            <a:r>
              <a:rPr lang="en-US" sz="2200" b="1" i="0" u="none" strike="noStrike" dirty="0">
                <a:solidFill>
                  <a:srgbClr val="000000"/>
                </a:solidFill>
                <a:effectLst/>
                <a:latin typeface="Arial" panose="020B0604020202020204" pitchFamily="34" charset="0"/>
              </a:rPr>
              <a:t>Inferences from OLTP Analysis</a:t>
            </a:r>
            <a:endParaRPr lang="en-US" sz="2200" b="1" dirty="0">
              <a:effectLst/>
            </a:endParaRPr>
          </a:p>
          <a:p>
            <a:pPr rtl="0">
              <a:spcBef>
                <a:spcPts val="1400"/>
              </a:spcBef>
              <a:spcAft>
                <a:spcPts val="400"/>
              </a:spcAft>
              <a:buNone/>
            </a:pPr>
            <a:r>
              <a:rPr lang="en-US" sz="2200" i="0" u="none" strike="noStrike" dirty="0">
                <a:solidFill>
                  <a:srgbClr val="000000"/>
                </a:solidFill>
                <a:effectLst/>
                <a:latin typeface="Arial" panose="020B0604020202020204" pitchFamily="34" charset="0"/>
              </a:rPr>
              <a:t>Data Quality Observations</a:t>
            </a:r>
            <a:endParaRPr lang="en-US" sz="2200" dirty="0">
              <a:effectLst/>
            </a:endParaRPr>
          </a:p>
          <a:p>
            <a:pPr lvl="1" fontAlgn="base">
              <a:spcBef>
                <a:spcPts val="1200"/>
              </a:spcBef>
              <a:spcAft>
                <a:spcPts val="1200"/>
              </a:spcAft>
            </a:pPr>
            <a:r>
              <a:rPr lang="en-US" b="0" i="0" u="none" strike="noStrike" dirty="0">
                <a:solidFill>
                  <a:srgbClr val="000000"/>
                </a:solidFill>
                <a:effectLst/>
                <a:latin typeface="Arial" panose="020B0604020202020204" pitchFamily="34" charset="0"/>
              </a:rPr>
              <a:t>Inconsistent emails and duplicate transactions show the need for stronger OLTP validation.</a:t>
            </a:r>
          </a:p>
          <a:p>
            <a:pPr rtl="0">
              <a:spcBef>
                <a:spcPts val="1400"/>
              </a:spcBef>
              <a:spcAft>
                <a:spcPts val="400"/>
              </a:spcAft>
              <a:buNone/>
            </a:pPr>
            <a:r>
              <a:rPr lang="en-US" sz="2200" i="1" u="sng" strike="noStrike" dirty="0">
                <a:solidFill>
                  <a:srgbClr val="000000"/>
                </a:solidFill>
                <a:effectLst/>
                <a:latin typeface="Arial" panose="020B0604020202020204" pitchFamily="34" charset="0"/>
              </a:rPr>
              <a:t>Actionable Takeaways</a:t>
            </a:r>
            <a:endParaRPr lang="en-US" sz="2200" i="1" u="sng" dirty="0">
              <a:effectLst/>
            </a:endParaRPr>
          </a:p>
          <a:p>
            <a:pPr fontAlgn="base">
              <a:spcBef>
                <a:spcPts val="1200"/>
              </a:spcBef>
            </a:pPr>
            <a:r>
              <a:rPr lang="en-US" b="0" i="0" u="none" strike="noStrike" dirty="0">
                <a:solidFill>
                  <a:srgbClr val="000000"/>
                </a:solidFill>
                <a:effectLst/>
                <a:latin typeface="Arial" panose="020B0604020202020204" pitchFamily="34" charset="0"/>
              </a:rPr>
              <a:t>Flag negative‑balance accounts for follow‑up.</a:t>
            </a:r>
          </a:p>
          <a:p>
            <a:pPr fontAlgn="base">
              <a:spcAft>
                <a:spcPts val="1200"/>
              </a:spcAft>
            </a:pPr>
            <a:r>
              <a:rPr lang="en-US" b="0" i="0" u="none" strike="noStrike" dirty="0">
                <a:solidFill>
                  <a:srgbClr val="000000"/>
                </a:solidFill>
                <a:effectLst/>
                <a:latin typeface="Arial" panose="020B0604020202020204" pitchFamily="34" charset="0"/>
              </a:rPr>
              <a:t>Target high‑balance customers with tailored products.</a:t>
            </a:r>
          </a:p>
          <a:p>
            <a:pPr fontAlgn="base">
              <a:spcBef>
                <a:spcPts val="0"/>
              </a:spcBef>
              <a:spcAft>
                <a:spcPts val="1200"/>
              </a:spcAft>
            </a:pPr>
            <a:r>
              <a:rPr lang="en-US" b="0" i="0" u="none" strike="noStrike" dirty="0">
                <a:solidFill>
                  <a:srgbClr val="000000"/>
                </a:solidFill>
                <a:effectLst/>
                <a:latin typeface="Arial" panose="020B0604020202020204" pitchFamily="34" charset="0"/>
              </a:rPr>
              <a:t>Strengthen validation rules to improve data accuracy.</a:t>
            </a:r>
          </a:p>
          <a:p>
            <a:endParaRPr lang="en-IN" dirty="0"/>
          </a:p>
          <a:p>
            <a:endParaRPr lang="en-IN" dirty="0"/>
          </a:p>
        </p:txBody>
      </p:sp>
    </p:spTree>
    <p:extLst>
      <p:ext uri="{BB962C8B-B14F-4D97-AF65-F5344CB8AC3E}">
        <p14:creationId xmlns:p14="http://schemas.microsoft.com/office/powerpoint/2010/main" val="3104904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239C-115B-4B03-B358-2B0BA8689C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3E5D5-DAD6-971F-73F8-584F5D2B8A8E}"/>
              </a:ext>
            </a:extLst>
          </p:cNvPr>
          <p:cNvSpPr>
            <a:spLocks noGrp="1"/>
          </p:cNvSpPr>
          <p:nvPr>
            <p:ph type="title"/>
          </p:nvPr>
        </p:nvSpPr>
        <p:spPr/>
        <p:txBody>
          <a:bodyPr vert="horz" lIns="91440" tIns="45720" rIns="91440" bIns="45720" rtlCol="0" anchor="ctr">
            <a:normAutofit/>
          </a:bodyPr>
          <a:lstStyle/>
          <a:p>
            <a:r>
              <a:rPr lang="en-US" dirty="0"/>
              <a:t>Inferences (3 of 4)</a:t>
            </a:r>
            <a:endParaRPr lang="en-IN" dirty="0"/>
          </a:p>
        </p:txBody>
      </p:sp>
      <p:sp>
        <p:nvSpPr>
          <p:cNvPr id="3" name="Content Placeholder 2">
            <a:extLst>
              <a:ext uri="{FF2B5EF4-FFF2-40B4-BE49-F238E27FC236}">
                <a16:creationId xmlns:a16="http://schemas.microsoft.com/office/drawing/2014/main" id="{02330931-6412-5510-1B40-A3E53F30AC55}"/>
              </a:ext>
            </a:extLst>
          </p:cNvPr>
          <p:cNvSpPr>
            <a:spLocks noGrp="1"/>
          </p:cNvSpPr>
          <p:nvPr>
            <p:ph idx="1"/>
          </p:nvPr>
        </p:nvSpPr>
        <p:spPr/>
        <p:txBody>
          <a:bodyPr>
            <a:normAutofit/>
          </a:bodyPr>
          <a:lstStyle/>
          <a:p>
            <a:pPr rtl="0">
              <a:spcBef>
                <a:spcPts val="2400"/>
              </a:spcBef>
              <a:spcAft>
                <a:spcPts val="600"/>
              </a:spcAft>
              <a:buNone/>
            </a:pPr>
            <a:r>
              <a:rPr lang="en-US" sz="2200" b="1" i="0" u="none" strike="noStrike" dirty="0">
                <a:solidFill>
                  <a:srgbClr val="000000"/>
                </a:solidFill>
                <a:effectLst/>
                <a:latin typeface="Arial" panose="020B0604020202020204" pitchFamily="34" charset="0"/>
              </a:rPr>
              <a:t>Inferences from OLAP Analysis</a:t>
            </a:r>
            <a:endParaRPr lang="en-US" sz="2200" b="1" dirty="0">
              <a:effectLst/>
            </a:endParaRPr>
          </a:p>
          <a:p>
            <a:pPr rtl="0">
              <a:spcBef>
                <a:spcPts val="1400"/>
              </a:spcBef>
              <a:spcAft>
                <a:spcPts val="400"/>
              </a:spcAft>
              <a:buNone/>
            </a:pPr>
            <a:r>
              <a:rPr lang="en-US" sz="2200" i="0" u="none" strike="noStrike" dirty="0">
                <a:solidFill>
                  <a:srgbClr val="000000"/>
                </a:solidFill>
                <a:effectLst/>
                <a:latin typeface="Arial" panose="020B0604020202020204" pitchFamily="34" charset="0"/>
              </a:rPr>
              <a:t>ROLLUP Insights (Branch → Account Type)</a:t>
            </a:r>
            <a:endParaRPr lang="en-US" sz="2200" dirty="0">
              <a:effectLst/>
            </a:endParaRPr>
          </a:p>
          <a:p>
            <a:pPr lvl="1" fontAlgn="base">
              <a:spcBef>
                <a:spcPts val="1200"/>
              </a:spcBef>
            </a:pPr>
            <a:r>
              <a:rPr lang="en-US" b="0" i="0" u="none" strike="noStrike" dirty="0">
                <a:solidFill>
                  <a:srgbClr val="000000"/>
                </a:solidFill>
                <a:effectLst/>
                <a:latin typeface="Arial" panose="020B0604020202020204" pitchFamily="34" charset="0"/>
              </a:rPr>
              <a:t>Certain branches consistently outperform others.</a:t>
            </a:r>
          </a:p>
          <a:p>
            <a:pPr lvl="1" fontAlgn="base"/>
            <a:r>
              <a:rPr lang="en-US" b="0" i="0" u="none" strike="noStrike" dirty="0">
                <a:solidFill>
                  <a:srgbClr val="000000"/>
                </a:solidFill>
                <a:effectLst/>
                <a:latin typeface="Arial" panose="020B0604020202020204" pitchFamily="34" charset="0"/>
              </a:rPr>
              <a:t>Specific account types drive most activity within each branch.</a:t>
            </a:r>
          </a:p>
          <a:p>
            <a:pPr lvl="1" fontAlgn="base">
              <a:spcAft>
                <a:spcPts val="1200"/>
              </a:spcAft>
            </a:pPr>
            <a:r>
              <a:rPr lang="en-US" b="0" i="0" u="none" strike="noStrike" dirty="0">
                <a:solidFill>
                  <a:srgbClr val="000000"/>
                </a:solidFill>
                <a:effectLst/>
                <a:latin typeface="Arial" panose="020B0604020202020204" pitchFamily="34" charset="0"/>
              </a:rPr>
              <a:t>Regional performance gaps highlight underperforming locations.</a:t>
            </a:r>
          </a:p>
          <a:p>
            <a:pPr rtl="0">
              <a:spcBef>
                <a:spcPts val="1400"/>
              </a:spcBef>
              <a:spcAft>
                <a:spcPts val="400"/>
              </a:spcAft>
              <a:buNone/>
            </a:pPr>
            <a:r>
              <a:rPr lang="en-US" sz="2200" i="0" u="none" strike="noStrike" dirty="0">
                <a:solidFill>
                  <a:srgbClr val="000000"/>
                </a:solidFill>
                <a:effectLst/>
                <a:latin typeface="Arial" panose="020B0604020202020204" pitchFamily="34" charset="0"/>
              </a:rPr>
              <a:t>CUBE Insights (Year × Country × Balance)</a:t>
            </a:r>
            <a:endParaRPr lang="en-US" sz="2200" dirty="0">
              <a:effectLst/>
            </a:endParaRPr>
          </a:p>
          <a:p>
            <a:pPr lvl="1" fontAlgn="base">
              <a:spcBef>
                <a:spcPts val="1200"/>
              </a:spcBef>
            </a:pPr>
            <a:r>
              <a:rPr lang="en-US" b="0" i="0" u="none" strike="noStrike" dirty="0">
                <a:solidFill>
                  <a:srgbClr val="000000"/>
                </a:solidFill>
                <a:effectLst/>
                <a:latin typeface="Arial" panose="020B0604020202020204" pitchFamily="34" charset="0"/>
              </a:rPr>
              <a:t>Clear year‑over‑year growth in some countries; declines in others.</a:t>
            </a:r>
          </a:p>
          <a:p>
            <a:pPr lvl="1" fontAlgn="base">
              <a:spcAft>
                <a:spcPts val="1200"/>
              </a:spcAft>
            </a:pPr>
            <a:r>
              <a:rPr lang="en-US" b="0" i="0" u="none" strike="noStrike" dirty="0">
                <a:solidFill>
                  <a:srgbClr val="000000"/>
                </a:solidFill>
                <a:effectLst/>
                <a:latin typeface="Arial" panose="020B0604020202020204" pitchFamily="34" charset="0"/>
              </a:rPr>
              <a:t>Geographic and joining‑year combinations reveal high‑value customer clusters.</a:t>
            </a:r>
          </a:p>
          <a:p>
            <a:endParaRPr lang="en-IN" dirty="0"/>
          </a:p>
        </p:txBody>
      </p:sp>
    </p:spTree>
    <p:extLst>
      <p:ext uri="{BB962C8B-B14F-4D97-AF65-F5344CB8AC3E}">
        <p14:creationId xmlns:p14="http://schemas.microsoft.com/office/powerpoint/2010/main" val="324589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5EB3-A9E3-9389-B8B1-A5282944B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9415D-593B-61FB-7D00-E1C0ABE8E660}"/>
              </a:ext>
            </a:extLst>
          </p:cNvPr>
          <p:cNvSpPr>
            <a:spLocks noGrp="1"/>
          </p:cNvSpPr>
          <p:nvPr>
            <p:ph type="title"/>
          </p:nvPr>
        </p:nvSpPr>
        <p:spPr/>
        <p:txBody>
          <a:bodyPr vert="horz" lIns="91440" tIns="45720" rIns="91440" bIns="45720" rtlCol="0" anchor="ctr">
            <a:normAutofit/>
          </a:bodyPr>
          <a:lstStyle/>
          <a:p>
            <a:r>
              <a:rPr lang="en-US" dirty="0"/>
              <a:t>Inferences (4 of 4)</a:t>
            </a:r>
            <a:endParaRPr lang="en-IN" dirty="0"/>
          </a:p>
        </p:txBody>
      </p:sp>
      <p:sp>
        <p:nvSpPr>
          <p:cNvPr id="3" name="Content Placeholder 2">
            <a:extLst>
              <a:ext uri="{FF2B5EF4-FFF2-40B4-BE49-F238E27FC236}">
                <a16:creationId xmlns:a16="http://schemas.microsoft.com/office/drawing/2014/main" id="{06EF97CB-2B32-7563-B37C-FDB68701B6EF}"/>
              </a:ext>
            </a:extLst>
          </p:cNvPr>
          <p:cNvSpPr>
            <a:spLocks noGrp="1"/>
          </p:cNvSpPr>
          <p:nvPr>
            <p:ph idx="1"/>
          </p:nvPr>
        </p:nvSpPr>
        <p:spPr/>
        <p:txBody>
          <a:bodyPr>
            <a:normAutofit/>
          </a:bodyPr>
          <a:lstStyle/>
          <a:p>
            <a:pPr rtl="0">
              <a:spcBef>
                <a:spcPts val="2400"/>
              </a:spcBef>
              <a:spcAft>
                <a:spcPts val="600"/>
              </a:spcAft>
              <a:buNone/>
            </a:pPr>
            <a:r>
              <a:rPr lang="en-US" b="1" i="0" u="none" strike="noStrike" dirty="0">
                <a:solidFill>
                  <a:srgbClr val="000000"/>
                </a:solidFill>
                <a:effectLst/>
                <a:latin typeface="Arial" panose="020B0604020202020204" pitchFamily="34" charset="0"/>
              </a:rPr>
              <a:t>Inferences from OLAP Analysis</a:t>
            </a:r>
            <a:endParaRPr lang="en-US" b="1" dirty="0">
              <a:effectLst/>
            </a:endParaRPr>
          </a:p>
          <a:p>
            <a:pPr rtl="0">
              <a:spcBef>
                <a:spcPts val="1400"/>
              </a:spcBef>
              <a:spcAft>
                <a:spcPts val="400"/>
              </a:spcAft>
              <a:buNone/>
            </a:pPr>
            <a:r>
              <a:rPr lang="en-US" i="0" u="none" strike="noStrike" dirty="0">
                <a:solidFill>
                  <a:srgbClr val="000000"/>
                </a:solidFill>
                <a:effectLst/>
                <a:latin typeface="Arial" panose="020B0604020202020204" pitchFamily="34" charset="0"/>
              </a:rPr>
              <a:t>MQT Insights (Branch‑Wise Totals)</a:t>
            </a:r>
            <a:endParaRPr lang="en-US" dirty="0">
              <a:effectLst/>
            </a:endParaRPr>
          </a:p>
          <a:p>
            <a:pPr lvl="1" fontAlgn="base">
              <a:spcBef>
                <a:spcPts val="1200"/>
              </a:spcBef>
            </a:pPr>
            <a:r>
              <a:rPr lang="en-US" b="0" i="0" u="none" strike="noStrike" dirty="0">
                <a:solidFill>
                  <a:srgbClr val="000000"/>
                </a:solidFill>
                <a:effectLst/>
                <a:latin typeface="Arial" panose="020B0604020202020204" pitchFamily="34" charset="0"/>
              </a:rPr>
              <a:t>High‑performing branches stand out clearly.</a:t>
            </a:r>
          </a:p>
          <a:p>
            <a:pPr lvl="1" fontAlgn="base"/>
            <a:r>
              <a:rPr lang="en-US" b="0" i="0" u="none" strike="noStrike" dirty="0">
                <a:solidFill>
                  <a:srgbClr val="000000"/>
                </a:solidFill>
                <a:effectLst/>
                <a:latin typeface="Arial" panose="020B0604020202020204" pitchFamily="34" charset="0"/>
              </a:rPr>
              <a:t>Pre‑computed totals improve dashboard performance and repeated analysis.</a:t>
            </a:r>
          </a:p>
          <a:p>
            <a:pPr lvl="1" fontAlgn="base">
              <a:spcAft>
                <a:spcPts val="1200"/>
              </a:spcAft>
            </a:pPr>
            <a:r>
              <a:rPr lang="en-US" b="0" i="0" u="none" strike="noStrike" dirty="0">
                <a:solidFill>
                  <a:srgbClr val="000000"/>
                </a:solidFill>
                <a:effectLst/>
                <a:latin typeface="Arial" panose="020B0604020202020204" pitchFamily="34" charset="0"/>
              </a:rPr>
              <a:t>Provides a reliable baseline for monthly and quarterly reviews.</a:t>
            </a:r>
          </a:p>
          <a:p>
            <a:pPr rtl="0">
              <a:spcBef>
                <a:spcPts val="1400"/>
              </a:spcBef>
              <a:spcAft>
                <a:spcPts val="400"/>
              </a:spcAft>
              <a:buNone/>
            </a:pPr>
            <a:r>
              <a:rPr lang="en-US" sz="3200" i="1" u="sng" strike="noStrike" dirty="0">
                <a:solidFill>
                  <a:srgbClr val="000000"/>
                </a:solidFill>
                <a:effectLst/>
                <a:latin typeface="Arial" panose="020B0604020202020204" pitchFamily="34" charset="0"/>
              </a:rPr>
              <a:t>Actionable Takeaways</a:t>
            </a:r>
            <a:endParaRPr lang="en-US" sz="1600" i="1" u="sng" dirty="0">
              <a:effectLst/>
            </a:endParaRPr>
          </a:p>
          <a:p>
            <a:pPr rtl="0" fontAlgn="base">
              <a:spcBef>
                <a:spcPts val="1200"/>
              </a:spcBef>
              <a:buFont typeface="Arial" panose="020B0604020202020204" pitchFamily="34" charset="0"/>
              <a:buChar char="•"/>
            </a:pPr>
            <a:r>
              <a:rPr lang="en-US" sz="2400" b="0" i="0" u="none" strike="noStrike" dirty="0">
                <a:solidFill>
                  <a:srgbClr val="000000"/>
                </a:solidFill>
                <a:effectLst/>
                <a:latin typeface="Arial" panose="020B0604020202020204" pitchFamily="34" charset="0"/>
              </a:rPr>
              <a:t>Invest in high‑performing regions; investigate low‑performing ones.</a:t>
            </a:r>
          </a:p>
          <a:p>
            <a:pPr rtl="0" fontAlgn="base">
              <a:buFont typeface="Arial" panose="020B0604020202020204" pitchFamily="34" charset="0"/>
              <a:buChar char="•"/>
            </a:pPr>
            <a:r>
              <a:rPr lang="en-US" sz="2400" b="0" i="0" u="none" strike="noStrike" dirty="0">
                <a:solidFill>
                  <a:srgbClr val="000000"/>
                </a:solidFill>
                <a:effectLst/>
                <a:latin typeface="Arial" panose="020B0604020202020204" pitchFamily="34" charset="0"/>
              </a:rPr>
              <a:t>Use geographic trends for targeted marketing and retention strategies.</a:t>
            </a:r>
          </a:p>
          <a:p>
            <a:pPr rtl="0" fontAlgn="base">
              <a:spcAft>
                <a:spcPts val="1200"/>
              </a:spcAft>
              <a:buFont typeface="Arial" panose="020B0604020202020204" pitchFamily="34" charset="0"/>
              <a:buChar char="•"/>
            </a:pPr>
            <a:r>
              <a:rPr lang="en-US" sz="2400" b="0" i="0" u="none" strike="noStrike" dirty="0">
                <a:solidFill>
                  <a:srgbClr val="000000"/>
                </a:solidFill>
                <a:effectLst/>
                <a:latin typeface="Arial" panose="020B0604020202020204" pitchFamily="34" charset="0"/>
              </a:rPr>
              <a:t>Leverage MQT outputs for faster, more consistent reporting.</a:t>
            </a:r>
          </a:p>
          <a:p>
            <a:endParaRPr lang="en-IN" dirty="0"/>
          </a:p>
          <a:p>
            <a:endParaRPr lang="en-IN" dirty="0"/>
          </a:p>
        </p:txBody>
      </p:sp>
    </p:spTree>
    <p:extLst>
      <p:ext uri="{BB962C8B-B14F-4D97-AF65-F5344CB8AC3E}">
        <p14:creationId xmlns:p14="http://schemas.microsoft.com/office/powerpoint/2010/main" val="2673802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fontScale="90000"/>
          </a:bodyPr>
          <a:lstStyle/>
          <a:p>
            <a:pPr algn="ctr"/>
            <a:r>
              <a:rPr lang="en-US" dirty="0"/>
              <a:t>Data integration and security</a:t>
            </a:r>
          </a:p>
        </p:txBody>
      </p:sp>
    </p:spTree>
    <p:extLst>
      <p:ext uri="{BB962C8B-B14F-4D97-AF65-F5344CB8AC3E}">
        <p14:creationId xmlns:p14="http://schemas.microsoft.com/office/powerpoint/2010/main" val="40152799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a:normAutofit/>
          </a:bodyPr>
          <a:lstStyle/>
          <a:p>
            <a:r>
              <a:rPr lang="en-US" dirty="0"/>
              <a:t>Data integration recommendations (1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fontScale="77500" lnSpcReduction="20000"/>
          </a:bodyPr>
          <a:lstStyle/>
          <a:p>
            <a:pPr rtl="0">
              <a:spcBef>
                <a:spcPts val="2400"/>
              </a:spcBef>
              <a:spcAft>
                <a:spcPts val="600"/>
              </a:spcAft>
              <a:buNone/>
            </a:pPr>
            <a:r>
              <a:rPr lang="en-US" sz="3100" b="1" i="0" u="none" strike="noStrike" dirty="0">
                <a:solidFill>
                  <a:srgbClr val="000000"/>
                </a:solidFill>
                <a:effectLst/>
                <a:latin typeface="Arial" panose="020B0604020202020204" pitchFamily="34" charset="0"/>
              </a:rPr>
              <a:t>Areas Requiring Data Integration</a:t>
            </a:r>
            <a:endParaRPr lang="en-US" sz="3100" b="1" dirty="0">
              <a:effectLst/>
            </a:endParaRPr>
          </a:p>
          <a:p>
            <a:pPr rtl="0">
              <a:spcBef>
                <a:spcPts val="1400"/>
              </a:spcBef>
              <a:spcAft>
                <a:spcPts val="400"/>
              </a:spcAft>
              <a:buNone/>
            </a:pPr>
            <a:r>
              <a:rPr lang="en-US" sz="3200" i="0" u="none" strike="noStrike" dirty="0">
                <a:solidFill>
                  <a:srgbClr val="000000"/>
                </a:solidFill>
                <a:effectLst/>
                <a:latin typeface="Arial" panose="020B0604020202020204" pitchFamily="34" charset="0"/>
              </a:rPr>
              <a:t>Key Integration Points</a:t>
            </a:r>
            <a:endParaRPr lang="en-US" sz="1600" dirty="0">
              <a:effectLst/>
            </a:endParaRPr>
          </a:p>
          <a:p>
            <a:pPr rtl="0" fontAlgn="base">
              <a:spcBef>
                <a:spcPts val="1200"/>
              </a:spcBef>
              <a:buFont typeface="Arial" panose="020B0604020202020204" pitchFamily="34" charset="0"/>
              <a:buChar char="•"/>
            </a:pPr>
            <a:r>
              <a:rPr lang="en-US" sz="2600" b="1" i="0" u="none" strike="noStrike" dirty="0">
                <a:solidFill>
                  <a:srgbClr val="000000"/>
                </a:solidFill>
                <a:effectLst/>
                <a:latin typeface="Arial" panose="020B0604020202020204" pitchFamily="34" charset="0"/>
              </a:rPr>
              <a:t>Customer ↔ Branch ↔ Geography</a:t>
            </a:r>
            <a:br>
              <a:rPr lang="en-US" sz="2600" b="1" i="0" u="none" strike="noStrike" dirty="0">
                <a:solidFill>
                  <a:srgbClr val="000000"/>
                </a:solidFill>
                <a:effectLst/>
                <a:latin typeface="Arial" panose="020B0604020202020204" pitchFamily="34" charset="0"/>
              </a:rPr>
            </a:br>
            <a:r>
              <a:rPr lang="en-US" sz="2600" b="0" i="0" u="none" strike="noStrike" dirty="0">
                <a:solidFill>
                  <a:srgbClr val="000000"/>
                </a:solidFill>
                <a:effectLst/>
                <a:latin typeface="Arial" panose="020B0604020202020204" pitchFamily="34" charset="0"/>
              </a:rPr>
              <a:t>Ensures accurate mapping of customers to branches, cities, and countries.</a:t>
            </a:r>
          </a:p>
          <a:p>
            <a:pPr rtl="0" fontAlgn="base">
              <a:buFont typeface="Arial" panose="020B0604020202020204" pitchFamily="34" charset="0"/>
              <a:buChar char="•"/>
            </a:pPr>
            <a:r>
              <a:rPr lang="en-US" sz="2600" b="1" i="0" u="none" strike="noStrike" dirty="0">
                <a:solidFill>
                  <a:srgbClr val="000000"/>
                </a:solidFill>
                <a:effectLst/>
                <a:latin typeface="Arial" panose="020B0604020202020204" pitchFamily="34" charset="0"/>
              </a:rPr>
              <a:t>Transactions ↔ Customers</a:t>
            </a:r>
            <a:br>
              <a:rPr lang="en-US" sz="2600" b="1" i="0" u="none" strike="noStrike" dirty="0">
                <a:solidFill>
                  <a:srgbClr val="000000"/>
                </a:solidFill>
                <a:effectLst/>
                <a:latin typeface="Arial" panose="020B0604020202020204" pitchFamily="34" charset="0"/>
              </a:rPr>
            </a:br>
            <a:r>
              <a:rPr lang="en-US" sz="2600" b="0" i="0" u="none" strike="noStrike" dirty="0">
                <a:solidFill>
                  <a:srgbClr val="000000"/>
                </a:solidFill>
                <a:effectLst/>
                <a:latin typeface="Arial" panose="020B0604020202020204" pitchFamily="34" charset="0"/>
              </a:rPr>
              <a:t>Required for closing balance, transaction frequency, and fraud analysis.</a:t>
            </a:r>
          </a:p>
          <a:p>
            <a:pPr rtl="0" fontAlgn="base">
              <a:spcAft>
                <a:spcPts val="1200"/>
              </a:spcAft>
              <a:buFont typeface="Arial" panose="020B0604020202020204" pitchFamily="34" charset="0"/>
              <a:buChar char="•"/>
            </a:pPr>
            <a:r>
              <a:rPr lang="en-US" sz="2600" b="1" i="0" u="none" strike="noStrike" dirty="0">
                <a:solidFill>
                  <a:srgbClr val="000000"/>
                </a:solidFill>
                <a:effectLst/>
                <a:latin typeface="Arial" panose="020B0604020202020204" pitchFamily="34" charset="0"/>
              </a:rPr>
              <a:t>Date Dimension ↔ Fact Table</a:t>
            </a:r>
            <a:br>
              <a:rPr lang="en-US" sz="2600" b="1" i="0" u="none" strike="noStrike" dirty="0">
                <a:solidFill>
                  <a:srgbClr val="000000"/>
                </a:solidFill>
                <a:effectLst/>
                <a:latin typeface="Arial" panose="020B0604020202020204" pitchFamily="34" charset="0"/>
              </a:rPr>
            </a:br>
            <a:r>
              <a:rPr lang="en-US" sz="2600" b="0" i="0" u="none" strike="noStrike" dirty="0">
                <a:solidFill>
                  <a:srgbClr val="000000"/>
                </a:solidFill>
                <a:effectLst/>
                <a:latin typeface="Arial" panose="020B0604020202020204" pitchFamily="34" charset="0"/>
              </a:rPr>
              <a:t>Enables time‑series reporting (year, quarter, month, week).</a:t>
            </a:r>
          </a:p>
          <a:p>
            <a:pPr rtl="0">
              <a:spcBef>
                <a:spcPts val="1400"/>
              </a:spcBef>
              <a:spcAft>
                <a:spcPts val="400"/>
              </a:spcAft>
              <a:buNone/>
            </a:pPr>
            <a:r>
              <a:rPr lang="en-US" sz="3200" i="0" u="none" strike="noStrike" dirty="0">
                <a:solidFill>
                  <a:srgbClr val="000000"/>
                </a:solidFill>
                <a:effectLst/>
                <a:latin typeface="Arial" panose="020B0604020202020204" pitchFamily="34" charset="0"/>
              </a:rPr>
              <a:t>Why Integration Matters</a:t>
            </a:r>
            <a:endParaRPr lang="en-US" sz="1600" dirty="0">
              <a:effectLst/>
            </a:endParaRPr>
          </a:p>
          <a:p>
            <a:pPr rtl="0" fontAlgn="base">
              <a:spcBef>
                <a:spcPts val="1200"/>
              </a:spcBef>
              <a:buFont typeface="Arial" panose="020B0604020202020204" pitchFamily="34" charset="0"/>
              <a:buChar char="•"/>
            </a:pPr>
            <a:r>
              <a:rPr lang="en-US" sz="2600" b="0" i="0" u="none" strike="noStrike" dirty="0">
                <a:solidFill>
                  <a:srgbClr val="000000"/>
                </a:solidFill>
                <a:effectLst/>
                <a:latin typeface="Arial" panose="020B0604020202020204" pitchFamily="34" charset="0"/>
              </a:rPr>
              <a:t>Reduces data silos</a:t>
            </a:r>
          </a:p>
          <a:p>
            <a:pPr rtl="0" fontAlgn="base">
              <a:buFont typeface="Arial" panose="020B0604020202020204" pitchFamily="34" charset="0"/>
              <a:buChar char="•"/>
            </a:pPr>
            <a:r>
              <a:rPr lang="en-US" sz="2600" b="0" i="0" u="none" strike="noStrike" dirty="0">
                <a:solidFill>
                  <a:srgbClr val="000000"/>
                </a:solidFill>
                <a:effectLst/>
                <a:latin typeface="Arial" panose="020B0604020202020204" pitchFamily="34" charset="0"/>
              </a:rPr>
              <a:t>Ensures consistent reporting</a:t>
            </a:r>
          </a:p>
          <a:p>
            <a:pPr rtl="0" fontAlgn="base">
              <a:spcAft>
                <a:spcPts val="600"/>
              </a:spcAft>
              <a:buFont typeface="Arial" panose="020B0604020202020204" pitchFamily="34" charset="0"/>
              <a:buChar char="•"/>
            </a:pPr>
            <a:r>
              <a:rPr lang="en-US" sz="2600" b="0" i="0" u="none" strike="noStrike" dirty="0">
                <a:solidFill>
                  <a:srgbClr val="000000"/>
                </a:solidFill>
                <a:effectLst/>
                <a:latin typeface="Arial" panose="020B0604020202020204" pitchFamily="34" charset="0"/>
              </a:rPr>
              <a:t>Supports OLAP queries and Tableau dashboards</a:t>
            </a:r>
          </a:p>
          <a:p>
            <a:pPr rtl="0" fontAlgn="base">
              <a:spcBef>
                <a:spcPts val="600"/>
              </a:spcBef>
              <a:spcAft>
                <a:spcPts val="1200"/>
              </a:spcAft>
              <a:buFont typeface="Arial" panose="020B0604020202020204" pitchFamily="34" charset="0"/>
              <a:buChar char="•"/>
            </a:pPr>
            <a:r>
              <a:rPr lang="en-US" sz="2600" b="0" i="0" u="none" strike="noStrike" dirty="0">
                <a:solidFill>
                  <a:srgbClr val="000000"/>
                </a:solidFill>
                <a:effectLst/>
                <a:latin typeface="Arial" panose="020B0604020202020204" pitchFamily="34" charset="0"/>
              </a:rPr>
              <a:t>Improves data quality and governance</a:t>
            </a:r>
          </a:p>
          <a:p>
            <a:endParaRPr lang="en-IN" dirty="0"/>
          </a:p>
        </p:txBody>
      </p:sp>
    </p:spTree>
    <p:extLst>
      <p:ext uri="{BB962C8B-B14F-4D97-AF65-F5344CB8AC3E}">
        <p14:creationId xmlns:p14="http://schemas.microsoft.com/office/powerpoint/2010/main" val="7739727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a:normAutofit/>
          </a:bodyPr>
          <a:lstStyle/>
          <a:p>
            <a:r>
              <a:rPr lang="en-US" dirty="0"/>
              <a:t>Data integration recommendations (2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fontScale="40000" lnSpcReduction="20000"/>
          </a:bodyPr>
          <a:lstStyle/>
          <a:p>
            <a:pPr rtl="0">
              <a:spcBef>
                <a:spcPts val="2400"/>
              </a:spcBef>
              <a:spcAft>
                <a:spcPts val="600"/>
              </a:spcAft>
              <a:buNone/>
            </a:pPr>
            <a:r>
              <a:rPr lang="en-US" sz="6000" b="1" i="0" u="none" strike="noStrike" dirty="0">
                <a:solidFill>
                  <a:srgbClr val="000000"/>
                </a:solidFill>
                <a:effectLst/>
                <a:latin typeface="Arial" panose="020B0604020202020204" pitchFamily="34" charset="0"/>
              </a:rPr>
              <a:t>Recommended Integration Patterns</a:t>
            </a:r>
            <a:endParaRPr lang="en-US" sz="2400" b="1" dirty="0">
              <a:effectLst/>
            </a:endParaRP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1. ETL (Extract‑Transform‑Load)</a:t>
            </a:r>
            <a:endParaRPr lang="en-US" sz="2400" b="1" dirty="0">
              <a:effectLst/>
            </a:endParaRPr>
          </a:p>
          <a:p>
            <a:pPr rtl="0" fontAlgn="base">
              <a:spcBef>
                <a:spcPts val="1200"/>
              </a:spcBef>
              <a:buFont typeface="Arial" panose="020B0604020202020204" pitchFamily="34" charset="0"/>
              <a:buChar char="•"/>
            </a:pPr>
            <a:r>
              <a:rPr lang="en-US" sz="3200" b="0" i="0" u="none" strike="noStrike" dirty="0">
                <a:solidFill>
                  <a:srgbClr val="000000"/>
                </a:solidFill>
                <a:effectLst/>
                <a:latin typeface="Arial" panose="020B0604020202020204" pitchFamily="34" charset="0"/>
              </a:rPr>
              <a:t>Ideal for scheduled batch loads</a:t>
            </a:r>
          </a:p>
          <a:p>
            <a:pPr rtl="0" fontAlgn="base">
              <a:buFont typeface="Arial" panose="020B0604020202020204" pitchFamily="34" charset="0"/>
              <a:buChar char="•"/>
            </a:pPr>
            <a:r>
              <a:rPr lang="en-US" sz="3200" b="0" i="0" u="none" strike="noStrike" dirty="0">
                <a:solidFill>
                  <a:srgbClr val="000000"/>
                </a:solidFill>
                <a:effectLst/>
                <a:latin typeface="Arial" panose="020B0604020202020204" pitchFamily="34" charset="0"/>
              </a:rPr>
              <a:t>Cleans and standardizes data before loading</a:t>
            </a:r>
          </a:p>
          <a:p>
            <a:pPr rtl="0" fontAlgn="base">
              <a:spcAft>
                <a:spcPts val="120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Fits </a:t>
            </a:r>
            <a:r>
              <a:rPr lang="en-US" sz="3200" b="0" i="0" u="none" strike="noStrike" dirty="0" err="1">
                <a:solidFill>
                  <a:srgbClr val="000000"/>
                </a:solidFill>
                <a:effectLst/>
                <a:latin typeface="Arial" panose="020B0604020202020204" pitchFamily="34" charset="0"/>
              </a:rPr>
              <a:t>FinPro’s</a:t>
            </a:r>
            <a:r>
              <a:rPr lang="en-US" sz="3200" b="0" i="0" u="none" strike="noStrike" dirty="0">
                <a:solidFill>
                  <a:srgbClr val="000000"/>
                </a:solidFill>
                <a:effectLst/>
                <a:latin typeface="Arial" panose="020B0604020202020204" pitchFamily="34" charset="0"/>
              </a:rPr>
              <a:t> CSV → SQL → Tableau workflow</a:t>
            </a: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2. ELT (Extract‑Load‑Transform)</a:t>
            </a:r>
            <a:endParaRPr lang="en-US" sz="2400" b="1" dirty="0">
              <a:effectLst/>
            </a:endParaRPr>
          </a:p>
          <a:p>
            <a:pPr rtl="0" fontAlgn="base">
              <a:spcBef>
                <a:spcPts val="1200"/>
              </a:spcBef>
              <a:buFont typeface="Arial" panose="020B0604020202020204" pitchFamily="34" charset="0"/>
              <a:buChar char="•"/>
            </a:pPr>
            <a:r>
              <a:rPr lang="en-US" sz="3200" b="0" i="0" u="none" strike="noStrike" dirty="0">
                <a:solidFill>
                  <a:srgbClr val="000000"/>
                </a:solidFill>
                <a:effectLst/>
                <a:latin typeface="Arial" panose="020B0604020202020204" pitchFamily="34" charset="0"/>
              </a:rPr>
              <a:t>Useful when raw data must be stored first</a:t>
            </a:r>
          </a:p>
          <a:p>
            <a:pPr rtl="0" fontAlgn="base">
              <a:spcAft>
                <a:spcPts val="120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Leverages SQL transformations inside the warehouse</a:t>
            </a: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3. CDC (Change Data Capture)</a:t>
            </a:r>
            <a:endParaRPr lang="en-US" sz="2400" b="1" dirty="0">
              <a:effectLst/>
            </a:endParaRPr>
          </a:p>
          <a:p>
            <a:pPr rtl="0" fontAlgn="base">
              <a:spcBef>
                <a:spcPts val="1200"/>
              </a:spcBef>
              <a:buFont typeface="Arial" panose="020B0604020202020204" pitchFamily="34" charset="0"/>
              <a:buChar char="•"/>
            </a:pPr>
            <a:r>
              <a:rPr lang="en-US" sz="3200" b="0" i="0" u="none" strike="noStrike" dirty="0">
                <a:solidFill>
                  <a:srgbClr val="000000"/>
                </a:solidFill>
                <a:effectLst/>
                <a:latin typeface="Arial" panose="020B0604020202020204" pitchFamily="34" charset="0"/>
              </a:rPr>
              <a:t>Tracks inserts/updates/deletes</a:t>
            </a:r>
          </a:p>
          <a:p>
            <a:pPr rtl="0" fontAlgn="base">
              <a:spcAft>
                <a:spcPts val="120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Ensures near‑real‑time updates for transactions</a:t>
            </a: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4. API‑Based Integration (Future‑Ready)</a:t>
            </a:r>
            <a:endParaRPr lang="en-US" sz="2400" b="1" dirty="0">
              <a:effectLst/>
            </a:endParaRPr>
          </a:p>
          <a:p>
            <a:pPr rtl="0" fontAlgn="base">
              <a:spcBef>
                <a:spcPts val="1200"/>
              </a:spcBef>
              <a:spcAft>
                <a:spcPts val="1200"/>
              </a:spcAft>
              <a:buFont typeface="Arial" panose="020B0604020202020204" pitchFamily="34" charset="0"/>
              <a:buChar char="•"/>
            </a:pPr>
            <a:r>
              <a:rPr lang="en-US" sz="3200" b="0" i="0" u="none" strike="noStrike" dirty="0">
                <a:solidFill>
                  <a:srgbClr val="000000"/>
                </a:solidFill>
                <a:effectLst/>
                <a:latin typeface="Arial" panose="020B0604020202020204" pitchFamily="34" charset="0"/>
              </a:rPr>
              <a:t>For connecting mobile banking, CRM, or fraud systems</a:t>
            </a:r>
          </a:p>
        </p:txBody>
      </p:sp>
    </p:spTree>
    <p:extLst>
      <p:ext uri="{BB962C8B-B14F-4D97-AF65-F5344CB8AC3E}">
        <p14:creationId xmlns:p14="http://schemas.microsoft.com/office/powerpoint/2010/main" val="1562373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a:normAutofit/>
          </a:bodyPr>
          <a:lstStyle/>
          <a:p>
            <a:r>
              <a:rPr lang="en-US" dirty="0"/>
              <a:t>Data integration recommendations (3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a:bodyPr>
          <a:lstStyle/>
          <a:p>
            <a:pPr rtl="0">
              <a:spcBef>
                <a:spcPts val="2400"/>
              </a:spcBef>
              <a:spcAft>
                <a:spcPts val="600"/>
              </a:spcAft>
              <a:buNone/>
            </a:pPr>
            <a:r>
              <a:rPr lang="en-US" sz="2600" b="1" i="0" u="none" strike="noStrike" dirty="0">
                <a:solidFill>
                  <a:srgbClr val="000000"/>
                </a:solidFill>
                <a:effectLst/>
                <a:latin typeface="Arial" panose="020B0604020202020204" pitchFamily="34" charset="0"/>
              </a:rPr>
              <a:t>Alignment with </a:t>
            </a:r>
            <a:r>
              <a:rPr lang="en-US" sz="2600" b="1" i="0" u="none" strike="noStrike" dirty="0" err="1">
                <a:solidFill>
                  <a:srgbClr val="000000"/>
                </a:solidFill>
                <a:effectLst/>
                <a:latin typeface="Arial" panose="020B0604020202020204" pitchFamily="34" charset="0"/>
              </a:rPr>
              <a:t>FinPro</a:t>
            </a:r>
            <a:r>
              <a:rPr lang="en-US" sz="2600" b="1" i="0" u="none" strike="noStrike" dirty="0">
                <a:solidFill>
                  <a:srgbClr val="000000"/>
                </a:solidFill>
                <a:effectLst/>
                <a:latin typeface="Arial" panose="020B0604020202020204" pitchFamily="34" charset="0"/>
              </a:rPr>
              <a:t> Bank’s Ecosystem</a:t>
            </a:r>
            <a:endParaRPr lang="en-US" sz="2600" b="1" dirty="0">
              <a:effectLst/>
            </a:endParaRPr>
          </a:p>
          <a:p>
            <a:pPr rtl="0">
              <a:spcBef>
                <a:spcPts val="1400"/>
              </a:spcBef>
              <a:spcAft>
                <a:spcPts val="400"/>
              </a:spcAft>
              <a:buNone/>
            </a:pPr>
            <a:r>
              <a:rPr lang="en-US" i="0" u="none" strike="noStrike" dirty="0">
                <a:solidFill>
                  <a:srgbClr val="000000"/>
                </a:solidFill>
                <a:effectLst/>
                <a:latin typeface="Arial" panose="020B0604020202020204" pitchFamily="34" charset="0"/>
              </a:rPr>
              <a:t>Why These Patterns Fit </a:t>
            </a:r>
            <a:r>
              <a:rPr lang="en-US" i="0" u="none" strike="noStrike" dirty="0" err="1">
                <a:solidFill>
                  <a:srgbClr val="000000"/>
                </a:solidFill>
                <a:effectLst/>
                <a:latin typeface="Arial" panose="020B0604020202020204" pitchFamily="34" charset="0"/>
              </a:rPr>
              <a:t>FinPro</a:t>
            </a:r>
            <a:endParaRPr lang="en-US" dirty="0">
              <a:effectLst/>
            </a:endParaRPr>
          </a:p>
          <a:p>
            <a:pPr lvl="1" fontAlgn="base">
              <a:spcBef>
                <a:spcPts val="1200"/>
              </a:spcBef>
            </a:pPr>
            <a:r>
              <a:rPr lang="en-US" b="0" i="0" u="none" strike="noStrike" dirty="0">
                <a:solidFill>
                  <a:srgbClr val="000000"/>
                </a:solidFill>
                <a:effectLst/>
                <a:latin typeface="Arial" panose="020B0604020202020204" pitchFamily="34" charset="0"/>
              </a:rPr>
              <a:t>Current system uses </a:t>
            </a:r>
            <a:r>
              <a:rPr lang="en-US" b="1" i="0" u="none" strike="noStrike" dirty="0">
                <a:solidFill>
                  <a:srgbClr val="000000"/>
                </a:solidFill>
                <a:effectLst/>
                <a:latin typeface="Arial" panose="020B0604020202020204" pitchFamily="34" charset="0"/>
              </a:rPr>
              <a:t>CSV ingestion + SQL warehouse</a:t>
            </a:r>
            <a:r>
              <a:rPr lang="en-US" b="0" i="0" u="none" strike="noStrike" dirty="0">
                <a:solidFill>
                  <a:srgbClr val="000000"/>
                </a:solidFill>
                <a:effectLst/>
                <a:latin typeface="Arial" panose="020B0604020202020204" pitchFamily="34" charset="0"/>
              </a:rPr>
              <a:t> → ETL is ideal</a:t>
            </a:r>
          </a:p>
          <a:p>
            <a:pPr lvl="1" fontAlgn="base"/>
            <a:r>
              <a:rPr lang="en-US" b="0" i="0" u="none" strike="noStrike" dirty="0">
                <a:solidFill>
                  <a:srgbClr val="000000"/>
                </a:solidFill>
                <a:effectLst/>
                <a:latin typeface="Arial" panose="020B0604020202020204" pitchFamily="34" charset="0"/>
              </a:rPr>
              <a:t>Transaction data changes frequently → CDC recommended</a:t>
            </a:r>
          </a:p>
          <a:p>
            <a:pPr lvl="1" fontAlgn="base"/>
            <a:r>
              <a:rPr lang="en-US" b="0" i="0" u="none" strike="noStrike" dirty="0">
                <a:solidFill>
                  <a:srgbClr val="000000"/>
                </a:solidFill>
                <a:effectLst/>
                <a:latin typeface="Arial" panose="020B0604020202020204" pitchFamily="34" charset="0"/>
              </a:rPr>
              <a:t>Tableau dashboards require </a:t>
            </a:r>
            <a:r>
              <a:rPr lang="en-US" b="1" i="0" u="none" strike="noStrike" dirty="0">
                <a:solidFill>
                  <a:srgbClr val="000000"/>
                </a:solidFill>
                <a:effectLst/>
                <a:latin typeface="Arial" panose="020B0604020202020204" pitchFamily="34" charset="0"/>
              </a:rPr>
              <a:t>clean, structured dimensions</a:t>
            </a:r>
            <a:r>
              <a:rPr lang="en-US" b="0" i="0" u="none" strike="noStrike" dirty="0">
                <a:solidFill>
                  <a:srgbClr val="000000"/>
                </a:solidFill>
                <a:effectLst/>
                <a:latin typeface="Arial" panose="020B0604020202020204" pitchFamily="34" charset="0"/>
              </a:rPr>
              <a:t> → ELT/ETL hybrid works</a:t>
            </a:r>
          </a:p>
          <a:p>
            <a:pPr lvl="1" fontAlgn="base">
              <a:spcAft>
                <a:spcPts val="1200"/>
              </a:spcAft>
            </a:pPr>
            <a:r>
              <a:rPr lang="en-US" b="0" i="0" u="none" strike="noStrike" dirty="0">
                <a:solidFill>
                  <a:srgbClr val="000000"/>
                </a:solidFill>
                <a:effectLst/>
                <a:latin typeface="Arial" panose="020B0604020202020204" pitchFamily="34" charset="0"/>
              </a:rPr>
              <a:t>Future expansion (mobile app, CRM) → API integration readiness</a:t>
            </a:r>
          </a:p>
          <a:p>
            <a:pPr rtl="0">
              <a:spcBef>
                <a:spcPts val="1400"/>
              </a:spcBef>
              <a:spcAft>
                <a:spcPts val="400"/>
              </a:spcAft>
              <a:buNone/>
            </a:pPr>
            <a:r>
              <a:rPr lang="en-US" i="0" u="none" strike="noStrike" dirty="0">
                <a:solidFill>
                  <a:srgbClr val="000000"/>
                </a:solidFill>
                <a:effectLst/>
                <a:latin typeface="Arial" panose="020B0604020202020204" pitchFamily="34" charset="0"/>
              </a:rPr>
              <a:t>Outcome</a:t>
            </a:r>
            <a:endParaRPr lang="en-US" dirty="0">
              <a:effectLst/>
            </a:endParaRPr>
          </a:p>
          <a:p>
            <a:pPr lvl="1" fontAlgn="base">
              <a:spcBef>
                <a:spcPts val="1200"/>
              </a:spcBef>
              <a:spcAft>
                <a:spcPts val="600"/>
              </a:spcAft>
            </a:pPr>
            <a:r>
              <a:rPr lang="en-US" b="0" i="0" u="none" strike="noStrike" dirty="0">
                <a:solidFill>
                  <a:srgbClr val="000000"/>
                </a:solidFill>
                <a:effectLst/>
                <a:latin typeface="Arial" panose="020B0604020202020204" pitchFamily="34" charset="0"/>
              </a:rPr>
              <a:t>Reliable data flow</a:t>
            </a:r>
          </a:p>
          <a:p>
            <a:pPr lvl="1" fontAlgn="base">
              <a:spcBef>
                <a:spcPts val="600"/>
              </a:spcBef>
              <a:spcAft>
                <a:spcPts val="600"/>
              </a:spcAft>
            </a:pPr>
            <a:r>
              <a:rPr lang="en-US" b="0" i="0" u="none" strike="noStrike" dirty="0">
                <a:solidFill>
                  <a:srgbClr val="000000"/>
                </a:solidFill>
                <a:effectLst/>
                <a:latin typeface="Arial" panose="020B0604020202020204" pitchFamily="34" charset="0"/>
              </a:rPr>
              <a:t>Faster reporting</a:t>
            </a:r>
          </a:p>
          <a:p>
            <a:pPr lvl="1" fontAlgn="base">
              <a:spcBef>
                <a:spcPts val="600"/>
              </a:spcBef>
              <a:spcAft>
                <a:spcPts val="600"/>
              </a:spcAft>
            </a:pPr>
            <a:r>
              <a:rPr lang="en-US" b="0" i="0" u="none" strike="noStrike" dirty="0">
                <a:solidFill>
                  <a:srgbClr val="000000"/>
                </a:solidFill>
                <a:effectLst/>
                <a:latin typeface="Arial" panose="020B0604020202020204" pitchFamily="34" charset="0"/>
              </a:rPr>
              <a:t>Scalable architecture for future banking needs</a:t>
            </a:r>
          </a:p>
        </p:txBody>
      </p:sp>
    </p:spTree>
    <p:extLst>
      <p:ext uri="{BB962C8B-B14F-4D97-AF65-F5344CB8AC3E}">
        <p14:creationId xmlns:p14="http://schemas.microsoft.com/office/powerpoint/2010/main" val="2116308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vert="horz" lIns="91440" tIns="45720" rIns="91440" bIns="45720" rtlCol="0" anchor="ctr">
            <a:normAutofit/>
          </a:bodyPr>
          <a:lstStyle/>
          <a:p>
            <a:r>
              <a:rPr lang="en-US" dirty="0"/>
              <a:t>Security documentation (1 of 3)</a:t>
            </a:r>
            <a:endParaRPr lang="en-IN" dirty="0"/>
          </a:p>
        </p:txBody>
      </p:sp>
      <p:graphicFrame>
        <p:nvGraphicFramePr>
          <p:cNvPr id="9" name="Content Placeholder 8">
            <a:extLst>
              <a:ext uri="{FF2B5EF4-FFF2-40B4-BE49-F238E27FC236}">
                <a16:creationId xmlns:a16="http://schemas.microsoft.com/office/drawing/2014/main" id="{206B22E1-DE39-91AF-2262-1F60BC887268}"/>
              </a:ext>
            </a:extLst>
          </p:cNvPr>
          <p:cNvGraphicFramePr>
            <a:graphicFrameLocks noGrp="1"/>
          </p:cNvGraphicFramePr>
          <p:nvPr>
            <p:ph idx="1"/>
            <p:extLst>
              <p:ext uri="{D42A27DB-BD31-4B8C-83A1-F6EECF244321}">
                <p14:modId xmlns:p14="http://schemas.microsoft.com/office/powerpoint/2010/main" val="2152999970"/>
              </p:ext>
            </p:extLst>
          </p:nvPr>
        </p:nvGraphicFramePr>
        <p:xfrm>
          <a:off x="838200" y="1345324"/>
          <a:ext cx="10515600" cy="48316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Table 7">
            <a:extLst>
              <a:ext uri="{FF2B5EF4-FFF2-40B4-BE49-F238E27FC236}">
                <a16:creationId xmlns:a16="http://schemas.microsoft.com/office/drawing/2014/main" id="{27223283-86F7-0F2F-50EB-4D3BA0D041AF}"/>
              </a:ext>
            </a:extLst>
          </p:cNvPr>
          <p:cNvGraphicFramePr>
            <a:graphicFrameLocks noGrp="1"/>
          </p:cNvGraphicFramePr>
          <p:nvPr>
            <p:extLst>
              <p:ext uri="{D42A27DB-BD31-4B8C-83A1-F6EECF244321}">
                <p14:modId xmlns:p14="http://schemas.microsoft.com/office/powerpoint/2010/main" val="4252878914"/>
              </p:ext>
            </p:extLst>
          </p:nvPr>
        </p:nvGraphicFramePr>
        <p:xfrm>
          <a:off x="4750676" y="1802232"/>
          <a:ext cx="6603124" cy="1298320"/>
        </p:xfrm>
        <a:graphic>
          <a:graphicData uri="http://schemas.openxmlformats.org/drawingml/2006/table">
            <a:tbl>
              <a:tblPr firstRow="1" bandRow="1">
                <a:tableStyleId>{5C22544A-7EE6-4342-B048-85BDC9FD1C3A}</a:tableStyleId>
              </a:tblPr>
              <a:tblGrid>
                <a:gridCol w="3301562">
                  <a:extLst>
                    <a:ext uri="{9D8B030D-6E8A-4147-A177-3AD203B41FA5}">
                      <a16:colId xmlns:a16="http://schemas.microsoft.com/office/drawing/2014/main" val="3232530422"/>
                    </a:ext>
                  </a:extLst>
                </a:gridCol>
                <a:gridCol w="3301562">
                  <a:extLst>
                    <a:ext uri="{9D8B030D-6E8A-4147-A177-3AD203B41FA5}">
                      <a16:colId xmlns:a16="http://schemas.microsoft.com/office/drawing/2014/main" val="1322469968"/>
                    </a:ext>
                  </a:extLst>
                </a:gridCol>
              </a:tblGrid>
              <a:tr h="3665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chemeClr val="bg1"/>
                          </a:solidFill>
                          <a:effectLst/>
                          <a:latin typeface="Arial" panose="020B0604020202020204" pitchFamily="34" charset="0"/>
                        </a:rPr>
                        <a:t>Allowed</a:t>
                      </a:r>
                      <a:endParaRPr lang="en-US" sz="1800" b="0" i="0" u="none" strike="noStrike" dirty="0">
                        <a:solidFill>
                          <a:schemeClr val="bg1"/>
                        </a:solidFill>
                        <a:effectLst/>
                        <a:latin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chemeClr val="bg1"/>
                          </a:solidFill>
                          <a:effectLst/>
                          <a:latin typeface="Arial" panose="020B0604020202020204" pitchFamily="34" charset="0"/>
                        </a:rPr>
                        <a:t>Restricted</a:t>
                      </a:r>
                      <a:endParaRPr lang="en-US" sz="1800" b="0" i="0" u="none" strike="noStrike" dirty="0">
                        <a:solidFill>
                          <a:schemeClr val="bg1"/>
                        </a:solidFill>
                        <a:effectLst/>
                        <a:latin typeface="Arial" panose="020B0604020202020204" pitchFamily="34" charset="0"/>
                      </a:endParaRPr>
                    </a:p>
                  </a:txBody>
                  <a:tcPr/>
                </a:tc>
                <a:extLst>
                  <a:ext uri="{0D108BD9-81ED-4DB2-BD59-A6C34878D82A}">
                    <a16:rowId xmlns:a16="http://schemas.microsoft.com/office/drawing/2014/main" val="361450608"/>
                  </a:ext>
                </a:extLst>
              </a:tr>
              <a:tr h="931736">
                <a:tc>
                  <a:txBody>
                    <a:bodyPr/>
                    <a:lstStyle/>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SELECT on all dimension tables</a:t>
                      </a:r>
                    </a:p>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SELECT + INSERT on fact table (for new transactions)</a:t>
                      </a:r>
                    </a:p>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UPDATE on customer email/phone fields</a:t>
                      </a:r>
                    </a:p>
                  </a:txBody>
                  <a:tcPr/>
                </a:tc>
                <a:tc>
                  <a:txBody>
                    <a:bodyPr/>
                    <a:lstStyle/>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No DELETE on fact tables</a:t>
                      </a:r>
                    </a:p>
                    <a:p>
                      <a:pPr marL="742950" lvl="1" indent="-285750" rtl="0" fontAlgn="base">
                        <a:buFont typeface="Arial" panose="020B0604020202020204" pitchFamily="34" charset="0"/>
                        <a:buChar char="•"/>
                      </a:pPr>
                      <a:r>
                        <a:rPr lang="en-US" sz="1100" b="0" i="0" u="none" strike="noStrike" dirty="0">
                          <a:solidFill>
                            <a:srgbClr val="000000"/>
                          </a:solidFill>
                          <a:effectLst/>
                          <a:latin typeface="Arial" panose="020B0604020202020204" pitchFamily="34" charset="0"/>
                        </a:rPr>
                        <a:t>No access to encrypted columns (DOB, email hash)</a:t>
                      </a:r>
                    </a:p>
                    <a:p>
                      <a:pPr marL="742950" lvl="1" indent="-285750" rtl="0" fontAlgn="base">
                        <a:spcAft>
                          <a:spcPts val="1200"/>
                        </a:spcAft>
                        <a:buFont typeface="Arial" panose="020B0604020202020204" pitchFamily="34" charset="0"/>
                        <a:buChar char="•"/>
                      </a:pPr>
                      <a:r>
                        <a:rPr lang="en-US" sz="1100" b="0" i="0" u="none" strike="noStrike" dirty="0">
                          <a:solidFill>
                            <a:srgbClr val="000000"/>
                          </a:solidFill>
                          <a:effectLst/>
                          <a:latin typeface="Arial" panose="020B0604020202020204" pitchFamily="34" charset="0"/>
                        </a:rPr>
                        <a:t>No privilege to alter schemas or create tables</a:t>
                      </a:r>
                    </a:p>
                  </a:txBody>
                  <a:tcPr/>
                </a:tc>
                <a:extLst>
                  <a:ext uri="{0D108BD9-81ED-4DB2-BD59-A6C34878D82A}">
                    <a16:rowId xmlns:a16="http://schemas.microsoft.com/office/drawing/2014/main" val="1609136093"/>
                  </a:ext>
                </a:extLst>
              </a:tr>
            </a:tbl>
          </a:graphicData>
        </a:graphic>
      </p:graphicFrame>
    </p:spTree>
    <p:extLst>
      <p:ext uri="{BB962C8B-B14F-4D97-AF65-F5344CB8AC3E}">
        <p14:creationId xmlns:p14="http://schemas.microsoft.com/office/powerpoint/2010/main" val="31282317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vert="horz" lIns="91440" tIns="45720" rIns="91440" bIns="45720" rtlCol="0" anchor="ctr">
            <a:normAutofit/>
          </a:bodyPr>
          <a:lstStyle/>
          <a:p>
            <a:r>
              <a:rPr lang="en-US" dirty="0"/>
              <a:t>Security documentation (2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lnSpcReduction="10000"/>
          </a:bodyPr>
          <a:lstStyle/>
          <a:p>
            <a:pPr rtl="0">
              <a:spcBef>
                <a:spcPts val="2400"/>
              </a:spcBef>
              <a:spcAft>
                <a:spcPts val="600"/>
              </a:spcAft>
              <a:buNone/>
            </a:pPr>
            <a:r>
              <a:rPr lang="en-US" sz="2200" b="1" i="0" u="none" strike="noStrike" dirty="0">
                <a:solidFill>
                  <a:srgbClr val="000000"/>
                </a:solidFill>
                <a:effectLst/>
                <a:latin typeface="Arial" panose="020B0604020202020204" pitchFamily="34" charset="0"/>
              </a:rPr>
              <a:t>Column‑Level Encryption Guidelines</a:t>
            </a:r>
            <a:endParaRPr lang="en-US" sz="2200" b="1" dirty="0">
              <a:effectLst/>
            </a:endParaRPr>
          </a:p>
          <a:p>
            <a:pPr rtl="0">
              <a:spcBef>
                <a:spcPts val="1400"/>
              </a:spcBef>
              <a:spcAft>
                <a:spcPts val="400"/>
              </a:spcAft>
              <a:buNone/>
            </a:pPr>
            <a:r>
              <a:rPr lang="en-US" sz="2000" i="0" u="none" strike="noStrike" dirty="0">
                <a:solidFill>
                  <a:srgbClr val="000000"/>
                </a:solidFill>
                <a:effectLst/>
                <a:latin typeface="Arial" panose="020B0604020202020204" pitchFamily="34" charset="0"/>
              </a:rPr>
              <a:t>Sensitive Columns</a:t>
            </a:r>
            <a:endParaRPr lang="en-US" sz="2000" dirty="0">
              <a:effectLst/>
            </a:endParaRPr>
          </a:p>
          <a:p>
            <a:pPr lvl="1" fontAlgn="base">
              <a:spcBef>
                <a:spcPts val="1200"/>
              </a:spcBef>
            </a:pPr>
            <a:r>
              <a:rPr lang="en-US" sz="1800" b="0" i="0" u="none" strike="noStrike" dirty="0">
                <a:solidFill>
                  <a:srgbClr val="000000"/>
                </a:solidFill>
                <a:effectLst/>
                <a:latin typeface="Arial" panose="020B0604020202020204" pitchFamily="34" charset="0"/>
              </a:rPr>
              <a:t>Customer email</a:t>
            </a:r>
          </a:p>
          <a:p>
            <a:pPr lvl="1" fontAlgn="base"/>
            <a:r>
              <a:rPr lang="en-US" sz="1800" b="0" i="0" u="none" strike="noStrike" dirty="0">
                <a:solidFill>
                  <a:srgbClr val="000000"/>
                </a:solidFill>
                <a:effectLst/>
                <a:latin typeface="Arial" panose="020B0604020202020204" pitchFamily="34" charset="0"/>
              </a:rPr>
              <a:t>Date of birth</a:t>
            </a:r>
          </a:p>
          <a:p>
            <a:pPr lvl="1" fontAlgn="base"/>
            <a:r>
              <a:rPr lang="en-US" sz="1800" b="0" i="0" u="none" strike="noStrike" dirty="0">
                <a:solidFill>
                  <a:srgbClr val="000000"/>
                </a:solidFill>
                <a:effectLst/>
                <a:latin typeface="Arial" panose="020B0604020202020204" pitchFamily="34" charset="0"/>
              </a:rPr>
              <a:t>Account number</a:t>
            </a:r>
            <a:endParaRPr lang="en-US" sz="2000" i="0" u="none" strike="noStrike" dirty="0">
              <a:solidFill>
                <a:srgbClr val="000000"/>
              </a:solidFill>
              <a:effectLst/>
              <a:latin typeface="Arial" panose="020B0604020202020204" pitchFamily="34" charset="0"/>
            </a:endParaRPr>
          </a:p>
          <a:p>
            <a:pPr rtl="0">
              <a:spcBef>
                <a:spcPts val="1400"/>
              </a:spcBef>
              <a:spcAft>
                <a:spcPts val="400"/>
              </a:spcAft>
              <a:buNone/>
            </a:pPr>
            <a:endParaRPr lang="en-US" sz="2000" i="0" u="none" strike="noStrike" dirty="0">
              <a:solidFill>
                <a:srgbClr val="000000"/>
              </a:solidFill>
              <a:effectLst/>
              <a:latin typeface="Arial" panose="020B0604020202020204" pitchFamily="34" charset="0"/>
            </a:endParaRPr>
          </a:p>
          <a:p>
            <a:pPr rtl="0">
              <a:spcBef>
                <a:spcPts val="1400"/>
              </a:spcBef>
              <a:spcAft>
                <a:spcPts val="400"/>
              </a:spcAft>
              <a:buNone/>
            </a:pPr>
            <a:endParaRPr lang="en-US" sz="2000" dirty="0">
              <a:solidFill>
                <a:srgbClr val="000000"/>
              </a:solidFill>
            </a:endParaRPr>
          </a:p>
          <a:p>
            <a:pPr rtl="0">
              <a:spcBef>
                <a:spcPts val="1400"/>
              </a:spcBef>
              <a:spcAft>
                <a:spcPts val="400"/>
              </a:spcAft>
              <a:buNone/>
            </a:pPr>
            <a:endParaRPr lang="en-US" sz="2000" i="0" u="none" strike="noStrike" dirty="0">
              <a:solidFill>
                <a:srgbClr val="000000"/>
              </a:solidFill>
              <a:effectLst/>
              <a:latin typeface="Arial" panose="020B0604020202020204" pitchFamily="34" charset="0"/>
            </a:endParaRPr>
          </a:p>
          <a:p>
            <a:pPr rtl="0">
              <a:spcBef>
                <a:spcPts val="1400"/>
              </a:spcBef>
              <a:spcAft>
                <a:spcPts val="400"/>
              </a:spcAft>
              <a:buNone/>
            </a:pPr>
            <a:r>
              <a:rPr lang="en-US" sz="2000" i="0" u="none" strike="noStrike" dirty="0">
                <a:solidFill>
                  <a:srgbClr val="000000"/>
                </a:solidFill>
                <a:effectLst/>
                <a:latin typeface="Arial" panose="020B0604020202020204" pitchFamily="34" charset="0"/>
              </a:rPr>
              <a:t>Outcome</a:t>
            </a:r>
            <a:endParaRPr lang="en-US" sz="2000" dirty="0">
              <a:effectLst/>
            </a:endParaRPr>
          </a:p>
          <a:p>
            <a:pPr lvl="1" fontAlgn="base">
              <a:spcBef>
                <a:spcPts val="600"/>
              </a:spcBef>
              <a:spcAft>
                <a:spcPts val="600"/>
              </a:spcAft>
            </a:pPr>
            <a:r>
              <a:rPr lang="en-US" sz="1800" b="0" i="0" u="none" strike="noStrike" dirty="0">
                <a:solidFill>
                  <a:srgbClr val="000000"/>
                </a:solidFill>
                <a:effectLst/>
                <a:latin typeface="Arial" panose="020B0604020202020204" pitchFamily="34" charset="0"/>
              </a:rPr>
              <a:t>Protects PII</a:t>
            </a:r>
          </a:p>
          <a:p>
            <a:pPr lvl="1" fontAlgn="base">
              <a:spcBef>
                <a:spcPts val="1200"/>
              </a:spcBef>
              <a:spcAft>
                <a:spcPts val="1200"/>
              </a:spcAft>
            </a:pPr>
            <a:r>
              <a:rPr lang="en-US" sz="1800" b="0" i="0" u="none" strike="noStrike" dirty="0">
                <a:solidFill>
                  <a:srgbClr val="000000"/>
                </a:solidFill>
                <a:effectLst/>
                <a:latin typeface="Arial" panose="020B0604020202020204" pitchFamily="34" charset="0"/>
              </a:rPr>
              <a:t>Ensures compliance with banking security standards</a:t>
            </a:r>
          </a:p>
          <a:p>
            <a:pPr marL="0" indent="0">
              <a:buNone/>
            </a:pPr>
            <a:endParaRPr lang="en-IN" dirty="0"/>
          </a:p>
        </p:txBody>
      </p:sp>
      <p:graphicFrame>
        <p:nvGraphicFramePr>
          <p:cNvPr id="4" name="Table 3">
            <a:extLst>
              <a:ext uri="{FF2B5EF4-FFF2-40B4-BE49-F238E27FC236}">
                <a16:creationId xmlns:a16="http://schemas.microsoft.com/office/drawing/2014/main" id="{115758D1-FFB8-671B-8392-359A446819B9}"/>
              </a:ext>
            </a:extLst>
          </p:cNvPr>
          <p:cNvGraphicFramePr>
            <a:graphicFrameLocks noGrp="1"/>
          </p:cNvGraphicFramePr>
          <p:nvPr>
            <p:extLst>
              <p:ext uri="{D42A27DB-BD31-4B8C-83A1-F6EECF244321}">
                <p14:modId xmlns:p14="http://schemas.microsoft.com/office/powerpoint/2010/main" val="1718165045"/>
              </p:ext>
            </p:extLst>
          </p:nvPr>
        </p:nvGraphicFramePr>
        <p:xfrm>
          <a:off x="3786692" y="1947583"/>
          <a:ext cx="7567108" cy="2255520"/>
        </p:xfrm>
        <a:graphic>
          <a:graphicData uri="http://schemas.openxmlformats.org/drawingml/2006/table">
            <a:tbl>
              <a:tblPr firstRow="1" bandRow="1">
                <a:tableStyleId>{5C22544A-7EE6-4342-B048-85BDC9FD1C3A}</a:tableStyleId>
              </a:tblPr>
              <a:tblGrid>
                <a:gridCol w="3783554">
                  <a:extLst>
                    <a:ext uri="{9D8B030D-6E8A-4147-A177-3AD203B41FA5}">
                      <a16:colId xmlns:a16="http://schemas.microsoft.com/office/drawing/2014/main" val="2900944858"/>
                    </a:ext>
                  </a:extLst>
                </a:gridCol>
                <a:gridCol w="3783554">
                  <a:extLst>
                    <a:ext uri="{9D8B030D-6E8A-4147-A177-3AD203B41FA5}">
                      <a16:colId xmlns:a16="http://schemas.microsoft.com/office/drawing/2014/main" val="1615926849"/>
                    </a:ext>
                  </a:extLst>
                </a:gridCol>
              </a:tblGrid>
              <a:tr h="3185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chemeClr val="bg1"/>
                          </a:solidFill>
                          <a:effectLst/>
                          <a:latin typeface="Arial" panose="020B0604020202020204" pitchFamily="34" charset="0"/>
                        </a:rPr>
                        <a:t>Encryption Approach</a:t>
                      </a:r>
                      <a:endParaRPr lang="en-US" sz="1050" b="1" dirty="0">
                        <a:solidFill>
                          <a:schemeClr val="bg1"/>
                        </a:solidFill>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err="1">
                          <a:solidFill>
                            <a:schemeClr val="bg1"/>
                          </a:solidFill>
                          <a:effectLst/>
                          <a:latin typeface="Arial" panose="020B0604020202020204" pitchFamily="34" charset="0"/>
                        </a:rPr>
                        <a:t>fin_manager</a:t>
                      </a:r>
                      <a:r>
                        <a:rPr lang="en-US" sz="1800" b="1" i="0" u="none" strike="noStrike" dirty="0">
                          <a:solidFill>
                            <a:schemeClr val="bg1"/>
                          </a:solidFill>
                          <a:effectLst/>
                          <a:latin typeface="Arial" panose="020B0604020202020204" pitchFamily="34" charset="0"/>
                        </a:rPr>
                        <a:t> Access</a:t>
                      </a:r>
                      <a:endParaRPr lang="en-US" sz="1050" b="1" dirty="0">
                        <a:solidFill>
                          <a:schemeClr val="bg1"/>
                        </a:solidFill>
                        <a:effectLst/>
                      </a:endParaRPr>
                    </a:p>
                  </a:txBody>
                  <a:tcPr/>
                </a:tc>
                <a:extLst>
                  <a:ext uri="{0D108BD9-81ED-4DB2-BD59-A6C34878D82A}">
                    <a16:rowId xmlns:a16="http://schemas.microsoft.com/office/drawing/2014/main" val="4287840417"/>
                  </a:ext>
                </a:extLst>
              </a:tr>
              <a:tr h="1492579">
                <a:tc>
                  <a:txBody>
                    <a:bodyPr/>
                    <a:lstStyle/>
                    <a:p>
                      <a:pPr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Use </a:t>
                      </a:r>
                      <a:r>
                        <a:rPr lang="en-US" sz="1800" b="1" i="0" u="none" strike="noStrike" dirty="0">
                          <a:solidFill>
                            <a:srgbClr val="000000"/>
                          </a:solidFill>
                          <a:effectLst/>
                          <a:latin typeface="Arial" panose="020B0604020202020204" pitchFamily="34" charset="0"/>
                        </a:rPr>
                        <a:t>AES_ENCRYPT / AES_DECRYPT</a:t>
                      </a:r>
                      <a:endParaRPr lang="en-US" sz="1800" b="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Store encrypted values in separate columns</a:t>
                      </a:r>
                    </a:p>
                    <a:p>
                      <a:pPr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Keep encryption keys in a secure vault (not in SQL scripts)</a:t>
                      </a:r>
                    </a:p>
                  </a:txBody>
                  <a:tcPr/>
                </a:tc>
                <a:tc>
                  <a:txBody>
                    <a:bodyPr/>
                    <a:lstStyle/>
                    <a:p>
                      <a:pPr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Can </a:t>
                      </a:r>
                      <a:r>
                        <a:rPr lang="en-US" sz="1800" b="1" i="0" u="none" strike="noStrike" dirty="0">
                          <a:solidFill>
                            <a:srgbClr val="000000"/>
                          </a:solidFill>
                          <a:effectLst/>
                          <a:latin typeface="Arial" panose="020B0604020202020204" pitchFamily="34" charset="0"/>
                        </a:rPr>
                        <a:t>view decrypted values only when necessary</a:t>
                      </a:r>
                      <a:endParaRPr lang="en-US" sz="1800" b="0" i="0" u="none" strike="noStrike" dirty="0">
                        <a:solidFill>
                          <a:srgbClr val="000000"/>
                        </a:solidFill>
                        <a:effectLst/>
                        <a:latin typeface="Arial" panose="020B0604020202020204" pitchFamily="34" charset="0"/>
                      </a:endParaRPr>
                    </a:p>
                    <a:p>
                      <a:pPr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Cannot access encryption keys</a:t>
                      </a:r>
                    </a:p>
                    <a:p>
                      <a:pPr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Cannot modify encrypted columns directly</a:t>
                      </a:r>
                    </a:p>
                    <a:p>
                      <a:endParaRPr lang="en-US" dirty="0"/>
                    </a:p>
                  </a:txBody>
                  <a:tcPr/>
                </a:tc>
                <a:extLst>
                  <a:ext uri="{0D108BD9-81ED-4DB2-BD59-A6C34878D82A}">
                    <a16:rowId xmlns:a16="http://schemas.microsoft.com/office/drawing/2014/main" val="3417283591"/>
                  </a:ext>
                </a:extLst>
              </a:tr>
            </a:tbl>
          </a:graphicData>
        </a:graphic>
      </p:graphicFrame>
    </p:spTree>
    <p:extLst>
      <p:ext uri="{BB962C8B-B14F-4D97-AF65-F5344CB8AC3E}">
        <p14:creationId xmlns:p14="http://schemas.microsoft.com/office/powerpoint/2010/main" val="968187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A85B-2EEB-CAE1-6BD9-4050E74D7C9B}"/>
              </a:ext>
            </a:extLst>
          </p:cNvPr>
          <p:cNvSpPr>
            <a:spLocks noGrp="1"/>
          </p:cNvSpPr>
          <p:nvPr>
            <p:ph type="title"/>
          </p:nvPr>
        </p:nvSpPr>
        <p:spPr/>
        <p:txBody>
          <a:bodyPr vert="horz" lIns="91440" tIns="45720" rIns="91440" bIns="45720" rtlCol="0" anchor="ctr">
            <a:normAutofit/>
          </a:bodyPr>
          <a:lstStyle/>
          <a:p>
            <a:r>
              <a:rPr lang="en-US" dirty="0"/>
              <a:t>Security documentation (3 of 3)</a:t>
            </a:r>
            <a:endParaRPr lang="en-IN" dirty="0"/>
          </a:p>
        </p:txBody>
      </p:sp>
      <p:sp>
        <p:nvSpPr>
          <p:cNvPr id="3" name="Content Placeholder 2">
            <a:extLst>
              <a:ext uri="{FF2B5EF4-FFF2-40B4-BE49-F238E27FC236}">
                <a16:creationId xmlns:a16="http://schemas.microsoft.com/office/drawing/2014/main" id="{E315FA32-BA56-27CF-2F10-6EA9E0E5B245}"/>
              </a:ext>
            </a:extLst>
          </p:cNvPr>
          <p:cNvSpPr>
            <a:spLocks noGrp="1"/>
          </p:cNvSpPr>
          <p:nvPr>
            <p:ph idx="1"/>
          </p:nvPr>
        </p:nvSpPr>
        <p:spPr/>
        <p:txBody>
          <a:bodyPr>
            <a:normAutofit fontScale="85000" lnSpcReduction="20000"/>
          </a:bodyPr>
          <a:lstStyle/>
          <a:p>
            <a:pPr rtl="0">
              <a:spcBef>
                <a:spcPts val="1400"/>
              </a:spcBef>
              <a:spcAft>
                <a:spcPts val="400"/>
              </a:spcAft>
              <a:buNone/>
            </a:pPr>
            <a:r>
              <a:rPr lang="en-US" sz="2600" b="1" i="0" u="none" strike="noStrike" dirty="0">
                <a:solidFill>
                  <a:srgbClr val="000000"/>
                </a:solidFill>
                <a:effectLst/>
                <a:latin typeface="Arial" panose="020B0604020202020204" pitchFamily="34" charset="0"/>
              </a:rPr>
              <a:t>Step‑by‑Step Procedure</a:t>
            </a:r>
            <a:endParaRPr lang="en-US" sz="2600" b="1" dirty="0">
              <a:effectLst/>
            </a:endParaRPr>
          </a:p>
          <a:p>
            <a:pPr rtl="0" fontAlgn="base">
              <a:spcBef>
                <a:spcPts val="1200"/>
              </a:spcBef>
              <a:buFont typeface="+mj-lt"/>
              <a:buAutoNum type="arabicPeriod"/>
            </a:pPr>
            <a:r>
              <a:rPr lang="en-US" sz="2400" b="1" i="0" u="none" strike="noStrike" dirty="0">
                <a:solidFill>
                  <a:srgbClr val="000000"/>
                </a:solidFill>
                <a:effectLst/>
                <a:latin typeface="Arial" panose="020B0604020202020204" pitchFamily="34" charset="0"/>
              </a:rPr>
              <a:t>Create Role</a:t>
            </a:r>
            <a:br>
              <a:rPr lang="en-US" sz="2400" b="1" i="0" u="none" strike="noStrike" dirty="0">
                <a:solidFill>
                  <a:srgbClr val="000000"/>
                </a:solidFill>
                <a:effectLst/>
                <a:latin typeface="Arial" panose="020B0604020202020204" pitchFamily="34" charset="0"/>
              </a:rPr>
            </a:br>
            <a:r>
              <a:rPr lang="en-US" sz="2400" b="0" i="0" u="none" strike="noStrike" dirty="0">
                <a:solidFill>
                  <a:srgbClr val="188038"/>
                </a:solidFill>
                <a:effectLst/>
                <a:latin typeface="Roboto Mono" panose="00000009000000000000" pitchFamily="49" charset="0"/>
              </a:rPr>
              <a:t>CREATE ROLE fin_manager;</a:t>
            </a:r>
            <a:endParaRPr lang="en-US" sz="2400" b="0" i="0" u="none" strike="noStrike" dirty="0">
              <a:solidFill>
                <a:srgbClr val="000000"/>
              </a:solidFill>
              <a:effectLst/>
              <a:latin typeface="Arial" panose="020B0604020202020204" pitchFamily="34" charset="0"/>
            </a:endParaRPr>
          </a:p>
          <a:p>
            <a:pPr rtl="0" fontAlgn="base">
              <a:buFont typeface="+mj-lt"/>
              <a:buAutoNum type="arabicPeriod"/>
            </a:pPr>
            <a:r>
              <a:rPr lang="en-US" sz="2400" b="1" i="0" u="none" strike="noStrike" dirty="0">
                <a:solidFill>
                  <a:srgbClr val="000000"/>
                </a:solidFill>
                <a:effectLst/>
                <a:latin typeface="Arial" panose="020B0604020202020204" pitchFamily="34" charset="0"/>
              </a:rPr>
              <a:t>Grant Read Access</a:t>
            </a:r>
            <a:br>
              <a:rPr lang="en-US" sz="2400" b="1" i="0" u="none" strike="noStrike" dirty="0">
                <a:solidFill>
                  <a:srgbClr val="000000"/>
                </a:solidFill>
                <a:effectLst/>
                <a:latin typeface="Arial" panose="020B0604020202020204" pitchFamily="34" charset="0"/>
              </a:rPr>
            </a:br>
            <a:r>
              <a:rPr lang="en-US" sz="2400" b="0" i="0" u="none" strike="noStrike" dirty="0">
                <a:solidFill>
                  <a:srgbClr val="188038"/>
                </a:solidFill>
                <a:effectLst/>
                <a:latin typeface="Roboto Mono" panose="00000009000000000000" pitchFamily="49" charset="0"/>
              </a:rPr>
              <a:t>GRANT SELECT ON ALL TABLES IN SCHEMA public TO fin_manager;</a:t>
            </a:r>
            <a:endParaRPr lang="en-US" sz="2400" b="0" i="0" u="none" strike="noStrike" dirty="0">
              <a:solidFill>
                <a:srgbClr val="000000"/>
              </a:solidFill>
              <a:effectLst/>
              <a:latin typeface="Arial" panose="020B0604020202020204" pitchFamily="34" charset="0"/>
            </a:endParaRPr>
          </a:p>
          <a:p>
            <a:pPr rtl="0" fontAlgn="base">
              <a:buFont typeface="+mj-lt"/>
              <a:buAutoNum type="arabicPeriod"/>
            </a:pPr>
            <a:r>
              <a:rPr lang="en-US" sz="2400" b="1" i="0" u="none" strike="noStrike" dirty="0">
                <a:solidFill>
                  <a:srgbClr val="000000"/>
                </a:solidFill>
                <a:effectLst/>
                <a:latin typeface="Arial" panose="020B0604020202020204" pitchFamily="34" charset="0"/>
              </a:rPr>
              <a:t>Grant Limited Write Access</a:t>
            </a:r>
            <a:br>
              <a:rPr lang="en-US" sz="2400" b="1" i="0" u="none" strike="noStrike" dirty="0">
                <a:solidFill>
                  <a:srgbClr val="000000"/>
                </a:solidFill>
                <a:effectLst/>
                <a:latin typeface="Arial" panose="020B0604020202020204" pitchFamily="34" charset="0"/>
              </a:rPr>
            </a:br>
            <a:r>
              <a:rPr lang="en-US" sz="2400" b="0" i="0" u="none" strike="noStrike" dirty="0">
                <a:solidFill>
                  <a:srgbClr val="188038"/>
                </a:solidFill>
                <a:effectLst/>
                <a:latin typeface="Roboto Mono" panose="00000009000000000000" pitchFamily="49" charset="0"/>
              </a:rPr>
              <a:t>GRANT INSERT, UPDATE ON </a:t>
            </a:r>
            <a:r>
              <a:rPr lang="en-US" sz="2400" b="0" i="0" u="none" strike="noStrike" dirty="0" err="1">
                <a:solidFill>
                  <a:srgbClr val="188038"/>
                </a:solidFill>
                <a:effectLst/>
                <a:latin typeface="Roboto Mono" panose="00000009000000000000" pitchFamily="49" charset="0"/>
              </a:rPr>
              <a:t>finproFactTransactions</a:t>
            </a:r>
            <a:r>
              <a:rPr lang="en-US" sz="2400" b="0" i="0" u="none" strike="noStrike" dirty="0">
                <a:solidFill>
                  <a:srgbClr val="188038"/>
                </a:solidFill>
                <a:effectLst/>
                <a:latin typeface="Roboto Mono" panose="00000009000000000000" pitchFamily="49" charset="0"/>
              </a:rPr>
              <a:t> TO fin_manager;</a:t>
            </a:r>
            <a:endParaRPr lang="en-US" sz="2400" b="0" i="0" u="none" strike="noStrike" dirty="0">
              <a:solidFill>
                <a:srgbClr val="000000"/>
              </a:solidFill>
              <a:effectLst/>
              <a:latin typeface="Arial" panose="020B0604020202020204" pitchFamily="34" charset="0"/>
            </a:endParaRPr>
          </a:p>
          <a:p>
            <a:pPr rtl="0" fontAlgn="base">
              <a:buFont typeface="+mj-lt"/>
              <a:buAutoNum type="arabicPeriod"/>
            </a:pPr>
            <a:r>
              <a:rPr lang="en-US" sz="2400" b="1" i="0" u="none" strike="noStrike" dirty="0">
                <a:solidFill>
                  <a:srgbClr val="000000"/>
                </a:solidFill>
                <a:effectLst/>
                <a:latin typeface="Arial" panose="020B0604020202020204" pitchFamily="34" charset="0"/>
              </a:rPr>
              <a:t>Restrict Sensitive Tables</a:t>
            </a:r>
            <a:br>
              <a:rPr lang="en-US" sz="2400" b="1" i="0" u="none" strike="noStrike" dirty="0">
                <a:solidFill>
                  <a:srgbClr val="000000"/>
                </a:solidFill>
                <a:effectLst/>
                <a:latin typeface="Arial" panose="020B0604020202020204" pitchFamily="34" charset="0"/>
              </a:rPr>
            </a:br>
            <a:r>
              <a:rPr lang="en-US" sz="2400" b="0" i="0" u="none" strike="noStrike" dirty="0">
                <a:solidFill>
                  <a:srgbClr val="188038"/>
                </a:solidFill>
                <a:effectLst/>
                <a:latin typeface="Roboto Mono" panose="00000009000000000000" pitchFamily="49" charset="0"/>
              </a:rPr>
              <a:t>REVOKE SELECT ON </a:t>
            </a:r>
            <a:r>
              <a:rPr lang="en-US" sz="2400" b="0" i="0" u="none" strike="noStrike" dirty="0" err="1">
                <a:solidFill>
                  <a:srgbClr val="188038"/>
                </a:solidFill>
                <a:effectLst/>
                <a:latin typeface="Roboto Mono" panose="00000009000000000000" pitchFamily="49" charset="0"/>
              </a:rPr>
              <a:t>encrypted_columns</a:t>
            </a:r>
            <a:r>
              <a:rPr lang="en-US" sz="2400" b="0" i="0" u="none" strike="noStrike" dirty="0">
                <a:solidFill>
                  <a:srgbClr val="188038"/>
                </a:solidFill>
                <a:effectLst/>
                <a:latin typeface="Roboto Mono" panose="00000009000000000000" pitchFamily="49" charset="0"/>
              </a:rPr>
              <a:t> FROM fin_manager;</a:t>
            </a:r>
            <a:endParaRPr lang="en-US" sz="2400" b="0" i="0" u="none" strike="noStrike" dirty="0">
              <a:solidFill>
                <a:srgbClr val="000000"/>
              </a:solidFill>
              <a:effectLst/>
              <a:latin typeface="Arial" panose="020B0604020202020204" pitchFamily="34" charset="0"/>
            </a:endParaRPr>
          </a:p>
          <a:p>
            <a:pPr rtl="0" fontAlgn="base">
              <a:spcAft>
                <a:spcPts val="1200"/>
              </a:spcAft>
              <a:buFont typeface="+mj-lt"/>
              <a:buAutoNum type="arabicPeriod"/>
            </a:pPr>
            <a:r>
              <a:rPr lang="en-US" sz="2400" b="1" i="0" u="none" strike="noStrike" dirty="0">
                <a:solidFill>
                  <a:srgbClr val="000000"/>
                </a:solidFill>
                <a:effectLst/>
                <a:latin typeface="Arial" panose="020B0604020202020204" pitchFamily="34" charset="0"/>
              </a:rPr>
              <a:t>Test Permissions</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Ensure fin_manager cannot delete or alter tables.</a:t>
            </a:r>
          </a:p>
          <a:p>
            <a:pPr rtl="0">
              <a:spcBef>
                <a:spcPts val="1400"/>
              </a:spcBef>
              <a:spcAft>
                <a:spcPts val="400"/>
              </a:spcAft>
              <a:buNone/>
            </a:pPr>
            <a:r>
              <a:rPr lang="en-US" sz="2600" i="1" u="sng" strike="noStrike" dirty="0">
                <a:solidFill>
                  <a:srgbClr val="000000"/>
                </a:solidFill>
                <a:effectLst/>
                <a:latin typeface="Arial" panose="020B0604020202020204" pitchFamily="34" charset="0"/>
              </a:rPr>
              <a:t>Examples</a:t>
            </a:r>
            <a:endParaRPr lang="en-US" sz="2600" i="1" u="sng" dirty="0">
              <a:effectLst/>
            </a:endParaRPr>
          </a:p>
          <a:p>
            <a:pPr rtl="0" fontAlgn="base">
              <a:spcBef>
                <a:spcPts val="1200"/>
              </a:spcBef>
              <a:buFont typeface="Arial" panose="020B0604020202020204" pitchFamily="34" charset="0"/>
              <a:buChar char="•"/>
            </a:pPr>
            <a:r>
              <a:rPr lang="en-US" sz="2400" b="1" i="0" u="none" strike="noStrike" dirty="0">
                <a:solidFill>
                  <a:srgbClr val="000000"/>
                </a:solidFill>
                <a:effectLst/>
                <a:latin typeface="Arial" panose="020B0604020202020204" pitchFamily="34" charset="0"/>
              </a:rPr>
              <a:t>Granted:</a:t>
            </a:r>
            <a:r>
              <a:rPr lang="en-US" sz="2400" b="0" i="0" u="none" strike="noStrike" dirty="0">
                <a:solidFill>
                  <a:srgbClr val="000000"/>
                </a:solidFill>
                <a:effectLst/>
                <a:latin typeface="Arial" panose="020B0604020202020204" pitchFamily="34" charset="0"/>
              </a:rPr>
              <a:t> SELECT on customers, branches, countries</a:t>
            </a:r>
          </a:p>
          <a:p>
            <a:pPr rtl="0" fontAlgn="base">
              <a:spcAft>
                <a:spcPts val="1200"/>
              </a:spcAft>
              <a:buFont typeface="Arial" panose="020B0604020202020204" pitchFamily="34" charset="0"/>
              <a:buChar char="•"/>
            </a:pPr>
            <a:r>
              <a:rPr lang="en-US" sz="2400" b="1" i="0" u="none" strike="noStrike" dirty="0">
                <a:solidFill>
                  <a:srgbClr val="000000"/>
                </a:solidFill>
                <a:effectLst/>
                <a:latin typeface="Arial" panose="020B0604020202020204" pitchFamily="34" charset="0"/>
              </a:rPr>
              <a:t>Restricted:</a:t>
            </a:r>
            <a:r>
              <a:rPr lang="en-US" sz="2400" b="0" i="0" u="none" strike="noStrike" dirty="0">
                <a:solidFill>
                  <a:srgbClr val="000000"/>
                </a:solidFill>
                <a:effectLst/>
                <a:latin typeface="Arial" panose="020B0604020202020204" pitchFamily="34" charset="0"/>
              </a:rPr>
              <a:t> DELETE on fact tables, ALTER TABLE, access to encrypted fields</a:t>
            </a:r>
          </a:p>
          <a:p>
            <a:endParaRPr lang="en-IN" dirty="0"/>
          </a:p>
          <a:p>
            <a:endParaRPr lang="en-IN" dirty="0"/>
          </a:p>
        </p:txBody>
      </p:sp>
      <p:graphicFrame>
        <p:nvGraphicFramePr>
          <p:cNvPr id="4" name="Table 3">
            <a:extLst>
              <a:ext uri="{FF2B5EF4-FFF2-40B4-BE49-F238E27FC236}">
                <a16:creationId xmlns:a16="http://schemas.microsoft.com/office/drawing/2014/main" id="{7BF4D583-6E08-3676-297F-85BC508470CE}"/>
              </a:ext>
            </a:extLst>
          </p:cNvPr>
          <p:cNvGraphicFramePr>
            <a:graphicFrameLocks noGrp="1"/>
          </p:cNvGraphicFramePr>
          <p:nvPr>
            <p:extLst>
              <p:ext uri="{D42A27DB-BD31-4B8C-83A1-F6EECF244321}">
                <p14:modId xmlns:p14="http://schemas.microsoft.com/office/powerpoint/2010/main" val="1917950127"/>
              </p:ext>
            </p:extLst>
          </p:nvPr>
        </p:nvGraphicFramePr>
        <p:xfrm>
          <a:off x="7665027" y="4003916"/>
          <a:ext cx="2268683" cy="1508760"/>
        </p:xfrm>
        <a:graphic>
          <a:graphicData uri="http://schemas.openxmlformats.org/drawingml/2006/table">
            <a:tbl>
              <a:tblPr firstRow="1" bandRow="1">
                <a:tableStyleId>{5C22544A-7EE6-4342-B048-85BDC9FD1C3A}</a:tableStyleId>
              </a:tblPr>
              <a:tblGrid>
                <a:gridCol w="2268683">
                  <a:extLst>
                    <a:ext uri="{9D8B030D-6E8A-4147-A177-3AD203B41FA5}">
                      <a16:colId xmlns:a16="http://schemas.microsoft.com/office/drawing/2014/main" val="4031512269"/>
                    </a:ext>
                  </a:extLst>
                </a:gridCol>
              </a:tblGrid>
              <a:tr h="3127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chemeClr val="bg1"/>
                          </a:solidFill>
                          <a:effectLst/>
                          <a:latin typeface="Arial" panose="020B0604020202020204" pitchFamily="34" charset="0"/>
                        </a:rPr>
                        <a:t>Outcome</a:t>
                      </a:r>
                      <a:endParaRPr lang="en-US" sz="1050" b="1" dirty="0">
                        <a:solidFill>
                          <a:schemeClr val="bg1"/>
                        </a:solidFill>
                        <a:effectLst/>
                      </a:endParaRPr>
                    </a:p>
                  </a:txBody>
                  <a:tcPr/>
                </a:tc>
                <a:extLst>
                  <a:ext uri="{0D108BD9-81ED-4DB2-BD59-A6C34878D82A}">
                    <a16:rowId xmlns:a16="http://schemas.microsoft.com/office/drawing/2014/main" val="1773260090"/>
                  </a:ext>
                </a:extLst>
              </a:tr>
              <a:tr h="977377">
                <a:tc>
                  <a:txBody>
                    <a:bodyPr/>
                    <a:lstStyle/>
                    <a:p>
                      <a:pPr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Controlled access</a:t>
                      </a:r>
                    </a:p>
                    <a:p>
                      <a:pPr rtl="0" fontAlgn="base">
                        <a:spcBef>
                          <a:spcPts val="600"/>
                        </a:spcBef>
                        <a:spcAft>
                          <a:spcPts val="6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Reduced risk</a:t>
                      </a:r>
                    </a:p>
                    <a:p>
                      <a:pPr rtl="0" fontAlgn="base">
                        <a:spcBef>
                          <a:spcPts val="600"/>
                        </a:spcBef>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Clear audit trail</a:t>
                      </a:r>
                    </a:p>
                  </a:txBody>
                  <a:tcPr/>
                </a:tc>
                <a:extLst>
                  <a:ext uri="{0D108BD9-81ED-4DB2-BD59-A6C34878D82A}">
                    <a16:rowId xmlns:a16="http://schemas.microsoft.com/office/drawing/2014/main" val="1073226170"/>
                  </a:ext>
                </a:extLst>
              </a:tr>
            </a:tbl>
          </a:graphicData>
        </a:graphic>
      </p:graphicFrame>
    </p:spTree>
    <p:extLst>
      <p:ext uri="{BB962C8B-B14F-4D97-AF65-F5344CB8AC3E}">
        <p14:creationId xmlns:p14="http://schemas.microsoft.com/office/powerpoint/2010/main" val="1952376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a:bodyPr>
          <a:lstStyle/>
          <a:p>
            <a:pPr algn="ctr"/>
            <a:r>
              <a:rPr lang="en-US" dirty="0"/>
              <a:t>Data reporting</a:t>
            </a:r>
          </a:p>
        </p:txBody>
      </p:sp>
    </p:spTree>
    <p:extLst>
      <p:ext uri="{BB962C8B-B14F-4D97-AF65-F5344CB8AC3E}">
        <p14:creationId xmlns:p14="http://schemas.microsoft.com/office/powerpoint/2010/main" val="1955060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t>Report specifications (1 of 6)</a:t>
            </a:r>
          </a:p>
        </p:txBody>
      </p:sp>
      <p:sp>
        <p:nvSpPr>
          <p:cNvPr id="6" name="Content Placeholder 5">
            <a:extLst>
              <a:ext uri="{FF2B5EF4-FFF2-40B4-BE49-F238E27FC236}">
                <a16:creationId xmlns:a16="http://schemas.microsoft.com/office/drawing/2014/main" id="{6E62E306-D7A4-708A-FA48-5667344BECB5}"/>
              </a:ext>
            </a:extLst>
          </p:cNvPr>
          <p:cNvSpPr>
            <a:spLocks noGrp="1"/>
          </p:cNvSpPr>
          <p:nvPr>
            <p:ph idx="1"/>
          </p:nvPr>
        </p:nvSpPr>
        <p:spPr>
          <a:xfrm>
            <a:off x="838200" y="1153391"/>
            <a:ext cx="10515600" cy="4992399"/>
          </a:xfrm>
        </p:spPr>
        <p:txBody>
          <a:bodyPr>
            <a:normAutofit fontScale="25000" lnSpcReduction="20000"/>
          </a:bodyPr>
          <a:lstStyle/>
          <a:p>
            <a:pPr rtl="0">
              <a:spcBef>
                <a:spcPts val="1400"/>
              </a:spcBef>
              <a:spcAft>
                <a:spcPts val="400"/>
              </a:spcAft>
              <a:buNone/>
            </a:pPr>
            <a:r>
              <a:rPr lang="en-US" sz="8800" b="1" i="0" u="none" strike="noStrike" dirty="0">
                <a:solidFill>
                  <a:srgbClr val="000000"/>
                </a:solidFill>
                <a:effectLst/>
                <a:latin typeface="Arial" panose="020B0604020202020204" pitchFamily="34" charset="0"/>
              </a:rPr>
              <a:t>Data Sources Imported into Tableau</a:t>
            </a:r>
            <a:endParaRPr lang="en-US" sz="8800" b="1" dirty="0">
              <a:effectLst/>
            </a:endParaRPr>
          </a:p>
          <a:p>
            <a:pPr rtl="0" fontAlgn="base">
              <a:spcBef>
                <a:spcPts val="1200"/>
              </a:spcBef>
              <a:buFont typeface="Arial" panose="020B0604020202020204" pitchFamily="34" charset="0"/>
              <a:buChar char="•"/>
            </a:pPr>
            <a:r>
              <a:rPr lang="en-US" sz="5600" i="0" u="none" strike="noStrike" dirty="0">
                <a:solidFill>
                  <a:srgbClr val="000000"/>
                </a:solidFill>
                <a:effectLst/>
                <a:latin typeface="Arial" panose="020B0604020202020204" pitchFamily="34" charset="0"/>
              </a:rPr>
              <a:t>Account_Type.csv</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Contains account type categories used for customer segmentation and filtering.</a:t>
            </a:r>
          </a:p>
          <a:p>
            <a:pPr rtl="0" fontAlgn="base">
              <a:buFont typeface="Arial" panose="020B0604020202020204" pitchFamily="34" charset="0"/>
              <a:buChar char="•"/>
            </a:pPr>
            <a:r>
              <a:rPr lang="en-US" sz="5600" i="0" u="none" strike="noStrike" dirty="0">
                <a:solidFill>
                  <a:srgbClr val="000000"/>
                </a:solidFill>
                <a:effectLst/>
                <a:latin typeface="Arial" panose="020B0604020202020204" pitchFamily="34" charset="0"/>
              </a:rPr>
              <a:t>Branches.csv</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Includes branch codes, branch names, and geographic identifiers used for branch‑wise reporting.</a:t>
            </a:r>
          </a:p>
          <a:p>
            <a:pPr rtl="0" fontAlgn="base">
              <a:buFont typeface="Arial" panose="020B0604020202020204" pitchFamily="34" charset="0"/>
              <a:buChar char="•"/>
            </a:pPr>
            <a:r>
              <a:rPr lang="en-US" sz="5600" i="0" u="none" strike="noStrike" dirty="0">
                <a:solidFill>
                  <a:srgbClr val="000000"/>
                </a:solidFill>
                <a:effectLst/>
                <a:latin typeface="Arial" panose="020B0604020202020204" pitchFamily="34" charset="0"/>
              </a:rPr>
              <a:t>Countries.csv</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Provides country names and codes used for country‑wise transaction analysis and map visualizations.</a:t>
            </a:r>
          </a:p>
          <a:p>
            <a:pPr rtl="0" fontAlgn="base">
              <a:buFont typeface="Arial" panose="020B0604020202020204" pitchFamily="34" charset="0"/>
              <a:buChar char="•"/>
            </a:pPr>
            <a:r>
              <a:rPr lang="en-US" sz="5600" i="0" u="none" strike="noStrike" dirty="0">
                <a:solidFill>
                  <a:srgbClr val="000000"/>
                </a:solidFill>
                <a:effectLst/>
                <a:latin typeface="Arial" panose="020B0604020202020204" pitchFamily="34" charset="0"/>
              </a:rPr>
              <a:t>Customer_Data.xlsx</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Contains customer demographics, DOB (for age calculation), account type, and branch mapping.</a:t>
            </a:r>
          </a:p>
          <a:p>
            <a:pPr rtl="0" fontAlgn="base">
              <a:buFont typeface="Arial" panose="020B0604020202020204" pitchFamily="34" charset="0"/>
              <a:buChar char="•"/>
            </a:pPr>
            <a:r>
              <a:rPr lang="en-US" sz="5600" i="0" u="none" strike="noStrike" dirty="0">
                <a:solidFill>
                  <a:srgbClr val="000000"/>
                </a:solidFill>
                <a:effectLst/>
                <a:latin typeface="Arial" panose="020B0604020202020204" pitchFamily="34" charset="0"/>
              </a:rPr>
              <a:t>Transaction_Data.xlsx</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Stores transaction amounts, transaction types, dates, and customer IDs — the core source for closing balance and transaction count reports.</a:t>
            </a:r>
          </a:p>
          <a:p>
            <a:pPr rtl="0" fontAlgn="base">
              <a:spcAft>
                <a:spcPts val="1200"/>
              </a:spcAft>
              <a:buFont typeface="Arial" panose="020B0604020202020204" pitchFamily="34" charset="0"/>
              <a:buChar char="•"/>
            </a:pPr>
            <a:r>
              <a:rPr lang="en-US" sz="5600" i="0" u="none" strike="noStrike" dirty="0">
                <a:solidFill>
                  <a:srgbClr val="000000"/>
                </a:solidFill>
                <a:effectLst/>
                <a:latin typeface="Arial" panose="020B0604020202020204" pitchFamily="34" charset="0"/>
              </a:rPr>
              <a:t>US_Cities.csv</a:t>
            </a:r>
            <a:br>
              <a:rPr lang="en-US" sz="5600" b="1" i="0" u="none" strike="noStrike" dirty="0">
                <a:solidFill>
                  <a:srgbClr val="000000"/>
                </a:solidFill>
                <a:effectLst/>
                <a:latin typeface="Arial" panose="020B0604020202020204" pitchFamily="34" charset="0"/>
              </a:rPr>
            </a:br>
            <a:r>
              <a:rPr lang="en-US" sz="5600" b="0" i="0" u="none" strike="noStrike" dirty="0">
                <a:solidFill>
                  <a:srgbClr val="000000"/>
                </a:solidFill>
                <a:effectLst/>
                <a:latin typeface="Arial" panose="020B0604020202020204" pitchFamily="34" charset="0"/>
              </a:rPr>
              <a:t>Provides city‑level geographic information used for branch/city mapping where applicable.</a:t>
            </a:r>
          </a:p>
          <a:p>
            <a:pPr rtl="0">
              <a:spcBef>
                <a:spcPts val="1400"/>
              </a:spcBef>
              <a:spcAft>
                <a:spcPts val="400"/>
              </a:spcAft>
              <a:buNone/>
            </a:pPr>
            <a:r>
              <a:rPr lang="en-US" sz="6200" i="0" u="none" strike="noStrike" dirty="0">
                <a:solidFill>
                  <a:srgbClr val="000000"/>
                </a:solidFill>
                <a:effectLst/>
                <a:latin typeface="Arial" panose="020B0604020202020204" pitchFamily="34" charset="0"/>
              </a:rPr>
              <a:t>Relevance to Tableau Reports</a:t>
            </a:r>
            <a:endParaRPr lang="en-US" sz="6200" dirty="0">
              <a:effectLst/>
            </a:endParaRPr>
          </a:p>
          <a:p>
            <a:pPr rtl="0" fontAlgn="base">
              <a:spcBef>
                <a:spcPts val="1200"/>
              </a:spcBef>
              <a:buFont typeface="Arial" panose="020B0604020202020204" pitchFamily="34" charset="0"/>
              <a:buChar char="•"/>
            </a:pPr>
            <a:r>
              <a:rPr lang="en-US" sz="5500" b="0" i="0" u="none" strike="noStrike" dirty="0">
                <a:solidFill>
                  <a:srgbClr val="000000"/>
                </a:solidFill>
                <a:effectLst/>
                <a:latin typeface="Arial" panose="020B0604020202020204" pitchFamily="34" charset="0"/>
              </a:rPr>
              <a:t>Customer‑wise closing balance</a:t>
            </a:r>
          </a:p>
          <a:p>
            <a:pPr rtl="0" fontAlgn="base">
              <a:buFont typeface="Arial" panose="020B0604020202020204" pitchFamily="34" charset="0"/>
              <a:buChar char="•"/>
            </a:pPr>
            <a:r>
              <a:rPr lang="en-US" sz="5500" b="0" i="0" u="none" strike="noStrike" dirty="0">
                <a:solidFill>
                  <a:srgbClr val="000000"/>
                </a:solidFill>
                <a:effectLst/>
                <a:latin typeface="Arial" panose="020B0604020202020204" pitchFamily="34" charset="0"/>
              </a:rPr>
              <a:t>Branch‑wise closing balance</a:t>
            </a:r>
          </a:p>
          <a:p>
            <a:pPr rtl="0" fontAlgn="base">
              <a:buFont typeface="Arial" panose="020B0604020202020204" pitchFamily="34" charset="0"/>
              <a:buChar char="•"/>
            </a:pPr>
            <a:r>
              <a:rPr lang="en-US" sz="5500" b="0" i="0" u="none" strike="noStrike" dirty="0">
                <a:solidFill>
                  <a:srgbClr val="000000"/>
                </a:solidFill>
                <a:effectLst/>
                <a:latin typeface="Arial" panose="020B0604020202020204" pitchFamily="34" charset="0"/>
              </a:rPr>
              <a:t>Country‑wise transaction count</a:t>
            </a:r>
          </a:p>
          <a:p>
            <a:pPr rtl="0" fontAlgn="base">
              <a:buFont typeface="Arial" panose="020B0604020202020204" pitchFamily="34" charset="0"/>
              <a:buChar char="•"/>
            </a:pPr>
            <a:r>
              <a:rPr lang="en-US" sz="5500" b="0" i="0" u="none" strike="noStrike" dirty="0">
                <a:solidFill>
                  <a:srgbClr val="000000"/>
                </a:solidFill>
                <a:effectLst/>
                <a:latin typeface="Arial" panose="020B0604020202020204" pitchFamily="34" charset="0"/>
              </a:rPr>
              <a:t>Customer‑wise average age</a:t>
            </a:r>
          </a:p>
          <a:p>
            <a:pPr rtl="0" fontAlgn="base">
              <a:spcAft>
                <a:spcPts val="1200"/>
              </a:spcAft>
              <a:buFont typeface="Arial" panose="020B0604020202020204" pitchFamily="34" charset="0"/>
              <a:buChar char="•"/>
            </a:pPr>
            <a:r>
              <a:rPr lang="en-US" sz="5500" b="0" i="0" u="none" strike="noStrike" dirty="0">
                <a:solidFill>
                  <a:srgbClr val="000000"/>
                </a:solidFill>
                <a:effectLst/>
                <a:latin typeface="Arial" panose="020B0604020202020204" pitchFamily="34" charset="0"/>
              </a:rPr>
              <a:t>Dashboard and story creation</a:t>
            </a:r>
            <a:r>
              <a:rPr lang="en-US" sz="5500" dirty="0"/>
              <a:t>.</a:t>
            </a:r>
          </a:p>
        </p:txBody>
      </p:sp>
    </p:spTree>
    <p:extLst>
      <p:ext uri="{BB962C8B-B14F-4D97-AF65-F5344CB8AC3E}">
        <p14:creationId xmlns:p14="http://schemas.microsoft.com/office/powerpoint/2010/main" val="16751227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t>Report specifications (2 of 6)</a:t>
            </a:r>
          </a:p>
        </p:txBody>
      </p:sp>
      <p:sp>
        <p:nvSpPr>
          <p:cNvPr id="6" name="Content Placeholder 5">
            <a:extLst>
              <a:ext uri="{FF2B5EF4-FFF2-40B4-BE49-F238E27FC236}">
                <a16:creationId xmlns:a16="http://schemas.microsoft.com/office/drawing/2014/main" id="{6E62E306-D7A4-708A-FA48-5667344BECB5}"/>
              </a:ext>
            </a:extLst>
          </p:cNvPr>
          <p:cNvSpPr>
            <a:spLocks noGrp="1"/>
          </p:cNvSpPr>
          <p:nvPr>
            <p:ph idx="1"/>
          </p:nvPr>
        </p:nvSpPr>
        <p:spPr/>
        <p:txBody>
          <a:bodyPr>
            <a:normAutofit/>
          </a:bodyPr>
          <a:lstStyle/>
          <a:p>
            <a:pPr marL="0" indent="0">
              <a:buNone/>
            </a:pPr>
            <a:r>
              <a:rPr lang="en-US" sz="2200" b="1" dirty="0"/>
              <a:t>Filters &amp; Calculated Fields</a:t>
            </a:r>
          </a:p>
          <a:p>
            <a:pPr marL="0" indent="0">
              <a:buNone/>
            </a:pPr>
            <a:r>
              <a:rPr lang="en-US" sz="2200" dirty="0"/>
              <a:t>Key Filters</a:t>
            </a:r>
          </a:p>
          <a:p>
            <a:pPr lvl="1" fontAlgn="base"/>
            <a:r>
              <a:rPr lang="en-US" sz="1800" dirty="0"/>
              <a:t>Branch Filter → isolate performance by branch</a:t>
            </a:r>
          </a:p>
          <a:p>
            <a:pPr lvl="1" fontAlgn="base"/>
            <a:r>
              <a:rPr lang="en-US" sz="1800" dirty="0"/>
              <a:t>Country Filter → geographic segmentation</a:t>
            </a:r>
          </a:p>
          <a:p>
            <a:pPr lvl="1" fontAlgn="base"/>
            <a:r>
              <a:rPr lang="en-US" sz="1800" dirty="0"/>
              <a:t>Transaction Type Filter → deposits vs withdrawals</a:t>
            </a:r>
          </a:p>
          <a:p>
            <a:pPr lvl="1" fontAlgn="base"/>
            <a:r>
              <a:rPr lang="en-US" sz="1800" dirty="0"/>
              <a:t>Date Filter → year, quarter, month</a:t>
            </a:r>
          </a:p>
          <a:p>
            <a:pPr marL="0" indent="0">
              <a:buNone/>
            </a:pPr>
            <a:r>
              <a:rPr lang="en-US" sz="2200" dirty="0"/>
              <a:t>Key Calculated Fields (These fields power all customer‑wise, branch‑wise, and country‑wise dashboards</a:t>
            </a:r>
            <a:r>
              <a:rPr lang="en-US" dirty="0"/>
              <a:t>.</a:t>
            </a:r>
            <a:r>
              <a:rPr lang="en-US" sz="2200" dirty="0"/>
              <a:t>)</a:t>
            </a:r>
          </a:p>
        </p:txBody>
      </p:sp>
      <p:graphicFrame>
        <p:nvGraphicFramePr>
          <p:cNvPr id="3" name="Table 2">
            <a:extLst>
              <a:ext uri="{FF2B5EF4-FFF2-40B4-BE49-F238E27FC236}">
                <a16:creationId xmlns:a16="http://schemas.microsoft.com/office/drawing/2014/main" id="{DA1DC30A-77E0-7831-3C45-15115B27276C}"/>
              </a:ext>
            </a:extLst>
          </p:cNvPr>
          <p:cNvGraphicFramePr>
            <a:graphicFrameLocks noGrp="1"/>
          </p:cNvGraphicFramePr>
          <p:nvPr>
            <p:extLst>
              <p:ext uri="{D42A27DB-BD31-4B8C-83A1-F6EECF244321}">
                <p14:modId xmlns:p14="http://schemas.microsoft.com/office/powerpoint/2010/main" val="1507342841"/>
              </p:ext>
            </p:extLst>
          </p:nvPr>
        </p:nvGraphicFramePr>
        <p:xfrm>
          <a:off x="1356591" y="4159059"/>
          <a:ext cx="9055100" cy="1976120"/>
        </p:xfrm>
        <a:graphic>
          <a:graphicData uri="http://schemas.openxmlformats.org/drawingml/2006/table">
            <a:tbl>
              <a:tblPr firstRow="1" bandRow="1">
                <a:tableStyleId>{D7AC3CCA-C797-4891-BE02-D94E43425B78}</a:tableStyleId>
              </a:tblPr>
              <a:tblGrid>
                <a:gridCol w="2656077">
                  <a:extLst>
                    <a:ext uri="{9D8B030D-6E8A-4147-A177-3AD203B41FA5}">
                      <a16:colId xmlns:a16="http://schemas.microsoft.com/office/drawing/2014/main" val="3443555048"/>
                    </a:ext>
                  </a:extLst>
                </a:gridCol>
                <a:gridCol w="6399023">
                  <a:extLst>
                    <a:ext uri="{9D8B030D-6E8A-4147-A177-3AD203B41FA5}">
                      <a16:colId xmlns:a16="http://schemas.microsoft.com/office/drawing/2014/main" val="2777765729"/>
                    </a:ext>
                  </a:extLst>
                </a:gridCol>
              </a:tblGrid>
              <a:tr h="370840">
                <a:tc>
                  <a:txBody>
                    <a:bodyPr/>
                    <a:lstStyle/>
                    <a:p>
                      <a:r>
                        <a:rPr lang="en-US" b="0" dirty="0"/>
                        <a:t>Closing Balance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[Balance]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IF [Transaction Type] = 'Deposit'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   THEN [Transaction Amount]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   ELSE -[Transaction Amount]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dirty="0">
                          <a:solidFill>
                            <a:srgbClr val="00B050"/>
                          </a:solidFill>
                        </a:rPr>
                        <a:t>END</a:t>
                      </a:r>
                      <a:endParaRPr lang="en-US" sz="1500" b="0" dirty="0">
                        <a:solidFill>
                          <a:srgbClr val="00B050"/>
                        </a:solidFill>
                        <a:latin typeface="Roboto Mono" panose="00000009000000000000" pitchFamily="49" charset="0"/>
                        <a:ea typeface="Roboto Mono" panose="00000009000000000000" pitchFamily="49" charset="0"/>
                      </a:endParaRPr>
                    </a:p>
                  </a:txBody>
                  <a:tcPr/>
                </a:tc>
                <a:extLst>
                  <a:ext uri="{0D108BD9-81ED-4DB2-BD59-A6C34878D82A}">
                    <a16:rowId xmlns:a16="http://schemas.microsoft.com/office/drawing/2014/main" val="3582397293"/>
                  </a:ext>
                </a:extLst>
              </a:tr>
              <a:tr h="370840">
                <a:tc>
                  <a:txBody>
                    <a:bodyPr/>
                    <a:lstStyle/>
                    <a:p>
                      <a:r>
                        <a:rPr lang="en-US" dirty="0"/>
                        <a:t>Age</a:t>
                      </a:r>
                    </a:p>
                  </a:txBody>
                  <a:tcPr/>
                </a:tc>
                <a:tc>
                  <a:txBody>
                    <a:bodyPr/>
                    <a:lstStyle/>
                    <a:p>
                      <a:r>
                        <a:rPr lang="en-US" sz="1500" dirty="0">
                          <a:solidFill>
                            <a:srgbClr val="00B050"/>
                          </a:solidFill>
                        </a:rPr>
                        <a:t>DATEDIFF('year', [Date of Birth], TODAY())</a:t>
                      </a:r>
                      <a:endParaRPr lang="en-US" sz="1500" dirty="0">
                        <a:solidFill>
                          <a:srgbClr val="00B050"/>
                        </a:solidFill>
                        <a:latin typeface="Roboto Mono" panose="00000009000000000000" pitchFamily="49" charset="0"/>
                        <a:ea typeface="Roboto Mono" panose="00000009000000000000" pitchFamily="49" charset="0"/>
                      </a:endParaRPr>
                    </a:p>
                  </a:txBody>
                  <a:tcPr/>
                </a:tc>
                <a:extLst>
                  <a:ext uri="{0D108BD9-81ED-4DB2-BD59-A6C34878D82A}">
                    <a16:rowId xmlns:a16="http://schemas.microsoft.com/office/drawing/2014/main" val="3584803823"/>
                  </a:ext>
                </a:extLst>
              </a:tr>
              <a:tr h="370840">
                <a:tc>
                  <a:txBody>
                    <a:bodyPr/>
                    <a:lstStyle/>
                    <a:p>
                      <a:r>
                        <a:rPr lang="en-US" dirty="0"/>
                        <a:t>Rounded Average Age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solidFill>
                            <a:srgbClr val="00B050"/>
                          </a:solidFill>
                        </a:rPr>
                        <a:t>ROUND(AVG([Age]))</a:t>
                      </a:r>
                      <a:endParaRPr lang="en-US" sz="1500" dirty="0">
                        <a:solidFill>
                          <a:srgbClr val="00B050"/>
                        </a:solidFill>
                        <a:latin typeface="Roboto Mono" panose="00000009000000000000" pitchFamily="49" charset="0"/>
                        <a:ea typeface="Roboto Mono" panose="00000009000000000000" pitchFamily="49" charset="0"/>
                      </a:endParaRPr>
                    </a:p>
                  </a:txBody>
                  <a:tcPr/>
                </a:tc>
                <a:extLst>
                  <a:ext uri="{0D108BD9-81ED-4DB2-BD59-A6C34878D82A}">
                    <a16:rowId xmlns:a16="http://schemas.microsoft.com/office/drawing/2014/main" val="2394253799"/>
                  </a:ext>
                </a:extLst>
              </a:tr>
            </a:tbl>
          </a:graphicData>
        </a:graphic>
      </p:graphicFrame>
    </p:spTree>
    <p:extLst>
      <p:ext uri="{BB962C8B-B14F-4D97-AF65-F5344CB8AC3E}">
        <p14:creationId xmlns:p14="http://schemas.microsoft.com/office/powerpoint/2010/main" val="23812595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a:xfrm>
            <a:off x="838200" y="365125"/>
            <a:ext cx="10515600" cy="685909"/>
          </a:xfrm>
        </p:spPr>
        <p:txBody>
          <a:bodyPr anchor="ctr">
            <a:normAutofit/>
          </a:bodyPr>
          <a:lstStyle/>
          <a:p>
            <a:r>
              <a:rPr lang="en-IN" dirty="0"/>
              <a:t>Report specifications (3 of 6)</a:t>
            </a:r>
          </a:p>
        </p:txBody>
      </p:sp>
      <p:pic>
        <p:nvPicPr>
          <p:cNvPr id="7" name="Picture 6">
            <a:extLst>
              <a:ext uri="{FF2B5EF4-FFF2-40B4-BE49-F238E27FC236}">
                <a16:creationId xmlns:a16="http://schemas.microsoft.com/office/drawing/2014/main" id="{E04B51C9-AF94-95CB-6623-4FDBAE86DCF4}"/>
              </a:ext>
            </a:extLst>
          </p:cNvPr>
          <p:cNvPicPr>
            <a:picLocks noChangeAspect="1"/>
          </p:cNvPicPr>
          <p:nvPr/>
        </p:nvPicPr>
        <p:blipFill>
          <a:blip r:embed="rId2"/>
          <a:srcRect r="-1" b="5668"/>
          <a:stretch>
            <a:fillRect/>
          </a:stretch>
        </p:blipFill>
        <p:spPr>
          <a:xfrm>
            <a:off x="838200" y="1163789"/>
            <a:ext cx="5181600" cy="5013174"/>
          </a:xfrm>
          <a:prstGeom prst="rect">
            <a:avLst/>
          </a:prstGeom>
          <a:noFill/>
        </p:spPr>
      </p:pic>
      <p:sp>
        <p:nvSpPr>
          <p:cNvPr id="6" name="Content Placeholder 5">
            <a:extLst>
              <a:ext uri="{FF2B5EF4-FFF2-40B4-BE49-F238E27FC236}">
                <a16:creationId xmlns:a16="http://schemas.microsoft.com/office/drawing/2014/main" id="{6E62E306-D7A4-708A-FA48-5667344BECB5}"/>
              </a:ext>
            </a:extLst>
          </p:cNvPr>
          <p:cNvSpPr>
            <a:spLocks noGrp="1"/>
          </p:cNvSpPr>
          <p:nvPr>
            <p:ph sz="half" idx="2"/>
          </p:nvPr>
        </p:nvSpPr>
        <p:spPr>
          <a:xfrm>
            <a:off x="6172200" y="1163789"/>
            <a:ext cx="5181600" cy="5013174"/>
          </a:xfrm>
        </p:spPr>
        <p:txBody>
          <a:bodyPr>
            <a:normAutofit fontScale="92500" lnSpcReduction="10000"/>
          </a:bodyPr>
          <a:lstStyle/>
          <a:p>
            <a:pPr rtl="0">
              <a:spcBef>
                <a:spcPts val="2400"/>
              </a:spcBef>
              <a:spcAft>
                <a:spcPts val="600"/>
              </a:spcAft>
              <a:buNone/>
            </a:pPr>
            <a:r>
              <a:rPr lang="en-US" sz="1400" b="1" i="0" u="none" strike="noStrike" dirty="0">
                <a:effectLst/>
              </a:rPr>
              <a:t>Customer‑Wise Closing Balance Report (Tableau)</a:t>
            </a:r>
            <a:endParaRPr lang="en-US" sz="1400" b="0" dirty="0">
              <a:effectLst/>
            </a:endParaRPr>
          </a:p>
          <a:p>
            <a:pPr rtl="0">
              <a:spcBef>
                <a:spcPts val="1400"/>
              </a:spcBef>
              <a:spcAft>
                <a:spcPts val="400"/>
              </a:spcAft>
              <a:buNone/>
            </a:pPr>
            <a:r>
              <a:rPr lang="en-US" sz="1400" i="0" u="none" strike="noStrike" dirty="0">
                <a:effectLst/>
              </a:rPr>
              <a:t>Purpose</a:t>
            </a:r>
            <a:endParaRPr lang="en-US" sz="1400" dirty="0">
              <a:effectLst/>
            </a:endParaRPr>
          </a:p>
          <a:p>
            <a:pPr rtl="0">
              <a:spcBef>
                <a:spcPts val="1200"/>
              </a:spcBef>
              <a:spcAft>
                <a:spcPts val="1200"/>
              </a:spcAft>
              <a:buNone/>
            </a:pPr>
            <a:r>
              <a:rPr lang="en-US" sz="1400" b="0" i="0" u="none" strike="noStrike" dirty="0">
                <a:effectLst/>
              </a:rPr>
              <a:t>Shows each customer’s final balance after all transactions — used for customer segmentation and risk assessment.</a:t>
            </a:r>
            <a:endParaRPr lang="en-US" sz="1400" b="0" dirty="0">
              <a:effectLst/>
            </a:endParaRPr>
          </a:p>
          <a:p>
            <a:pPr rtl="0">
              <a:spcBef>
                <a:spcPts val="1400"/>
              </a:spcBef>
              <a:spcAft>
                <a:spcPts val="400"/>
              </a:spcAft>
              <a:buNone/>
            </a:pPr>
            <a:r>
              <a:rPr lang="en-US" sz="1400" i="0" u="none" strike="noStrike" dirty="0">
                <a:effectLst/>
              </a:rPr>
              <a:t>How It Was Built in Tableau</a:t>
            </a:r>
            <a:endParaRPr lang="en-US" sz="1400" dirty="0">
              <a:effectLst/>
            </a:endParaRPr>
          </a:p>
          <a:p>
            <a:pPr rtl="0" fontAlgn="base">
              <a:spcBef>
                <a:spcPts val="1200"/>
              </a:spcBef>
              <a:buFont typeface="Arial" panose="020B0604020202020204" pitchFamily="34" charset="0"/>
              <a:buChar char="•"/>
            </a:pPr>
            <a:r>
              <a:rPr lang="en-US" sz="1400" b="0" i="0" u="none" strike="noStrike" dirty="0">
                <a:effectLst/>
              </a:rPr>
              <a:t>Connected </a:t>
            </a:r>
            <a:r>
              <a:rPr lang="en-US" sz="1400" b="1" i="0" u="none" strike="noStrike" dirty="0">
                <a:effectLst/>
              </a:rPr>
              <a:t>fact + customer dimension</a:t>
            </a:r>
            <a:endParaRPr lang="en-US" sz="1400" b="0" i="0" u="none" strike="noStrike" dirty="0">
              <a:effectLst/>
            </a:endParaRPr>
          </a:p>
          <a:p>
            <a:pPr rtl="0" fontAlgn="base">
              <a:buFont typeface="Arial" panose="020B0604020202020204" pitchFamily="34" charset="0"/>
              <a:buChar char="•"/>
            </a:pPr>
            <a:r>
              <a:rPr lang="en-US" sz="1400" b="0" i="0" u="none" strike="noStrike" dirty="0">
                <a:effectLst/>
              </a:rPr>
              <a:t>Created </a:t>
            </a:r>
            <a:r>
              <a:rPr lang="en-US" sz="1400" b="1" i="0" u="none" strike="noStrike" dirty="0">
                <a:effectLst/>
              </a:rPr>
              <a:t>Closing Balance</a:t>
            </a:r>
            <a:r>
              <a:rPr lang="en-US" sz="1400" b="0" i="0" u="none" strike="noStrike" dirty="0">
                <a:effectLst/>
              </a:rPr>
              <a:t> calculated field</a:t>
            </a:r>
          </a:p>
          <a:p>
            <a:pPr rtl="0" fontAlgn="base">
              <a:buFont typeface="Arial" panose="020B0604020202020204" pitchFamily="34" charset="0"/>
              <a:buChar char="•"/>
            </a:pPr>
            <a:r>
              <a:rPr lang="en-US" sz="1400" b="0" i="0" u="none" strike="noStrike" dirty="0">
                <a:effectLst/>
              </a:rPr>
              <a:t>Used </a:t>
            </a:r>
            <a:r>
              <a:rPr lang="en-US" sz="1400" b="1" i="0" u="none" strike="noStrike" dirty="0">
                <a:effectLst/>
              </a:rPr>
              <a:t>SUM(Closing Balance)</a:t>
            </a:r>
            <a:r>
              <a:rPr lang="en-US" sz="1400" b="0" i="0" u="none" strike="noStrike" dirty="0">
                <a:effectLst/>
              </a:rPr>
              <a:t> as measure</a:t>
            </a:r>
          </a:p>
          <a:p>
            <a:pPr rtl="0" fontAlgn="base">
              <a:buFont typeface="Arial" panose="020B0604020202020204" pitchFamily="34" charset="0"/>
              <a:buChar char="•"/>
            </a:pPr>
            <a:r>
              <a:rPr lang="en-US" sz="1400" b="0" i="0" u="none" strike="noStrike" dirty="0">
                <a:effectLst/>
              </a:rPr>
              <a:t>Placed </a:t>
            </a:r>
            <a:r>
              <a:rPr lang="en-US" sz="1400" b="1" i="0" u="none" strike="noStrike" dirty="0">
                <a:effectLst/>
              </a:rPr>
              <a:t>Customer Name</a:t>
            </a:r>
            <a:r>
              <a:rPr lang="en-US" sz="1400" b="0" i="0" u="none" strike="noStrike" dirty="0">
                <a:effectLst/>
              </a:rPr>
              <a:t> on Rows</a:t>
            </a:r>
          </a:p>
          <a:p>
            <a:pPr rtl="0" fontAlgn="base">
              <a:buFont typeface="Arial" panose="020B0604020202020204" pitchFamily="34" charset="0"/>
              <a:buChar char="•"/>
            </a:pPr>
            <a:r>
              <a:rPr lang="en-US" sz="1400" b="0" i="0" u="none" strike="noStrike" dirty="0">
                <a:effectLst/>
              </a:rPr>
              <a:t>Sorted descending by balance</a:t>
            </a:r>
          </a:p>
          <a:p>
            <a:pPr rtl="0" fontAlgn="base">
              <a:buFont typeface="Arial" panose="020B0604020202020204" pitchFamily="34" charset="0"/>
              <a:buChar char="•"/>
            </a:pPr>
            <a:r>
              <a:rPr lang="en-US" sz="1400" b="0" i="0" u="none" strike="noStrike" dirty="0">
                <a:effectLst/>
              </a:rPr>
              <a:t>Added </a:t>
            </a:r>
            <a:r>
              <a:rPr lang="en-US" sz="1400" b="1" i="0" u="none" strike="noStrike" dirty="0">
                <a:effectLst/>
              </a:rPr>
              <a:t>Branch</a:t>
            </a:r>
            <a:r>
              <a:rPr lang="en-US" sz="1400" b="0" i="0" u="none" strike="noStrike" dirty="0">
                <a:effectLst/>
              </a:rPr>
              <a:t> and </a:t>
            </a:r>
            <a:r>
              <a:rPr lang="en-US" sz="1400" b="1" i="0" u="none" strike="noStrike" dirty="0">
                <a:effectLst/>
              </a:rPr>
              <a:t>Country</a:t>
            </a:r>
            <a:r>
              <a:rPr lang="en-US" sz="1400" b="0" i="0" u="none" strike="noStrike" dirty="0">
                <a:effectLst/>
              </a:rPr>
              <a:t> filters</a:t>
            </a:r>
          </a:p>
          <a:p>
            <a:pPr rtl="0" fontAlgn="base">
              <a:spcAft>
                <a:spcPts val="1200"/>
              </a:spcAft>
              <a:buFont typeface="Arial" panose="020B0604020202020204" pitchFamily="34" charset="0"/>
              <a:buChar char="•"/>
            </a:pPr>
            <a:r>
              <a:rPr lang="en-US" sz="1400" b="0" i="0" u="none" strike="noStrike" dirty="0">
                <a:effectLst/>
              </a:rPr>
              <a:t>Formatted as a </a:t>
            </a:r>
            <a:r>
              <a:rPr lang="en-US" sz="1400" b="1" i="0" u="none" strike="noStrike" dirty="0">
                <a:effectLst/>
              </a:rPr>
              <a:t>bar chart</a:t>
            </a:r>
            <a:r>
              <a:rPr lang="en-US" sz="1400" b="0" i="0" u="none" strike="noStrike" dirty="0">
                <a:effectLst/>
              </a:rPr>
              <a:t> for clarity</a:t>
            </a:r>
          </a:p>
          <a:p>
            <a:pPr rtl="0">
              <a:spcBef>
                <a:spcPts val="1400"/>
              </a:spcBef>
              <a:spcAft>
                <a:spcPts val="400"/>
              </a:spcAft>
              <a:buNone/>
            </a:pPr>
            <a:r>
              <a:rPr lang="en-US" sz="1400" i="0" u="none" strike="noStrike" dirty="0">
                <a:effectLst/>
              </a:rPr>
              <a:t>Relevance</a:t>
            </a:r>
            <a:endParaRPr lang="en-US" sz="1400" dirty="0">
              <a:effectLst/>
            </a:endParaRPr>
          </a:p>
          <a:p>
            <a:pPr rtl="0">
              <a:spcBef>
                <a:spcPts val="1200"/>
              </a:spcBef>
              <a:spcAft>
                <a:spcPts val="1200"/>
              </a:spcAft>
              <a:buNone/>
            </a:pPr>
            <a:r>
              <a:rPr lang="en-US" sz="1400" b="0" i="0" u="none" strike="noStrike" dirty="0">
                <a:effectLst/>
              </a:rPr>
              <a:t>Identifies high‑value customers and accounts with negative balances.</a:t>
            </a:r>
            <a:br>
              <a:rPr lang="en-US" sz="1100" dirty="0"/>
            </a:br>
            <a:endParaRPr lang="en-IN" sz="1100" dirty="0"/>
          </a:p>
        </p:txBody>
      </p:sp>
    </p:spTree>
    <p:extLst>
      <p:ext uri="{BB962C8B-B14F-4D97-AF65-F5344CB8AC3E}">
        <p14:creationId xmlns:p14="http://schemas.microsoft.com/office/powerpoint/2010/main" val="3831829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a:xfrm>
            <a:off x="838200" y="365125"/>
            <a:ext cx="10515600" cy="685909"/>
          </a:xfrm>
        </p:spPr>
        <p:txBody>
          <a:bodyPr anchor="ctr">
            <a:normAutofit/>
          </a:bodyPr>
          <a:lstStyle/>
          <a:p>
            <a:r>
              <a:rPr lang="en-IN" dirty="0"/>
              <a:t>Report specifications (4 of 6)</a:t>
            </a:r>
          </a:p>
        </p:txBody>
      </p:sp>
      <p:pic>
        <p:nvPicPr>
          <p:cNvPr id="4" name="Picture 3">
            <a:extLst>
              <a:ext uri="{FF2B5EF4-FFF2-40B4-BE49-F238E27FC236}">
                <a16:creationId xmlns:a16="http://schemas.microsoft.com/office/drawing/2014/main" id="{EE84D575-6CC7-C4D2-A317-F46F75367D76}"/>
              </a:ext>
            </a:extLst>
          </p:cNvPr>
          <p:cNvPicPr>
            <a:picLocks noChangeAspect="1"/>
          </p:cNvPicPr>
          <p:nvPr/>
        </p:nvPicPr>
        <p:blipFill>
          <a:blip r:embed="rId2"/>
          <a:srcRect l="23849" r="23955" b="1"/>
          <a:stretch>
            <a:fillRect/>
          </a:stretch>
        </p:blipFill>
        <p:spPr>
          <a:xfrm>
            <a:off x="838204" y="1163789"/>
            <a:ext cx="5181592" cy="5013174"/>
          </a:xfrm>
          <a:prstGeom prst="rect">
            <a:avLst/>
          </a:prstGeom>
          <a:noFill/>
        </p:spPr>
      </p:pic>
      <p:sp>
        <p:nvSpPr>
          <p:cNvPr id="6" name="Content Placeholder 5">
            <a:extLst>
              <a:ext uri="{FF2B5EF4-FFF2-40B4-BE49-F238E27FC236}">
                <a16:creationId xmlns:a16="http://schemas.microsoft.com/office/drawing/2014/main" id="{6E62E306-D7A4-708A-FA48-5667344BECB5}"/>
              </a:ext>
            </a:extLst>
          </p:cNvPr>
          <p:cNvSpPr>
            <a:spLocks noGrp="1"/>
          </p:cNvSpPr>
          <p:nvPr>
            <p:ph sz="half" idx="2"/>
          </p:nvPr>
        </p:nvSpPr>
        <p:spPr>
          <a:xfrm>
            <a:off x="6172200" y="1163789"/>
            <a:ext cx="5181600" cy="5013174"/>
          </a:xfrm>
        </p:spPr>
        <p:txBody>
          <a:bodyPr>
            <a:normAutofit/>
          </a:bodyPr>
          <a:lstStyle/>
          <a:p>
            <a:pPr rtl="0">
              <a:spcBef>
                <a:spcPts val="2400"/>
              </a:spcBef>
              <a:spcAft>
                <a:spcPts val="600"/>
              </a:spcAft>
              <a:buNone/>
            </a:pPr>
            <a:r>
              <a:rPr lang="en-US" sz="1300" b="1" i="0" u="none" strike="noStrike" dirty="0">
                <a:effectLst/>
              </a:rPr>
              <a:t>Branch‑Wise Closing Balance Report (Tableau)</a:t>
            </a:r>
            <a:endParaRPr lang="en-US" sz="1300" b="1" dirty="0">
              <a:effectLst/>
            </a:endParaRPr>
          </a:p>
          <a:p>
            <a:pPr rtl="0">
              <a:spcBef>
                <a:spcPts val="1200"/>
              </a:spcBef>
              <a:spcAft>
                <a:spcPts val="1200"/>
              </a:spcAft>
              <a:buNone/>
            </a:pPr>
            <a:r>
              <a:rPr lang="en-US" sz="1300" i="0" u="none" strike="noStrike" dirty="0">
                <a:effectLst/>
              </a:rPr>
              <a:t>Purpose</a:t>
            </a:r>
            <a:endParaRPr lang="en-US" sz="1300" dirty="0">
              <a:effectLst/>
            </a:endParaRPr>
          </a:p>
          <a:p>
            <a:pPr rtl="0">
              <a:spcBef>
                <a:spcPts val="1200"/>
              </a:spcBef>
              <a:spcAft>
                <a:spcPts val="1200"/>
              </a:spcAft>
              <a:buNone/>
            </a:pPr>
            <a:r>
              <a:rPr lang="en-US" sz="1300" b="0" i="0" u="none" strike="noStrike" dirty="0">
                <a:effectLst/>
              </a:rPr>
              <a:t>Shows total closing balance per branch — used for branch performance evaluation.</a:t>
            </a:r>
            <a:endParaRPr lang="en-US" sz="1300" b="0" dirty="0">
              <a:effectLst/>
            </a:endParaRPr>
          </a:p>
          <a:p>
            <a:pPr rtl="0">
              <a:spcBef>
                <a:spcPts val="1400"/>
              </a:spcBef>
              <a:spcAft>
                <a:spcPts val="400"/>
              </a:spcAft>
              <a:buNone/>
            </a:pPr>
            <a:r>
              <a:rPr lang="en-US" sz="1300" i="0" u="none" strike="noStrike" dirty="0">
                <a:effectLst/>
              </a:rPr>
              <a:t>How It Was Built</a:t>
            </a:r>
            <a:endParaRPr lang="en-US" sz="1300" dirty="0">
              <a:effectLst/>
            </a:endParaRPr>
          </a:p>
          <a:p>
            <a:pPr rtl="0" fontAlgn="base">
              <a:spcBef>
                <a:spcPts val="1200"/>
              </a:spcBef>
              <a:buFont typeface="Arial" panose="020B0604020202020204" pitchFamily="34" charset="0"/>
              <a:buChar char="•"/>
            </a:pPr>
            <a:r>
              <a:rPr lang="en-US" sz="1300" b="0" i="0" u="none" strike="noStrike" dirty="0">
                <a:effectLst/>
              </a:rPr>
              <a:t>Aggregated </a:t>
            </a:r>
            <a:r>
              <a:rPr lang="en-US" sz="1300" b="1" i="0" u="none" strike="noStrike" dirty="0">
                <a:effectLst/>
              </a:rPr>
              <a:t>SUM(Closing Balance)</a:t>
            </a:r>
            <a:r>
              <a:rPr lang="en-US" sz="1300" b="0" i="0" u="none" strike="noStrike" dirty="0">
                <a:effectLst/>
              </a:rPr>
              <a:t> by </a:t>
            </a:r>
            <a:r>
              <a:rPr lang="en-US" sz="1300" b="1" i="0" u="none" strike="noStrike" dirty="0">
                <a:effectLst/>
              </a:rPr>
              <a:t>Branch Code</a:t>
            </a:r>
            <a:endParaRPr lang="en-US" sz="1300" b="0" i="0" u="none" strike="noStrike" dirty="0">
              <a:effectLst/>
            </a:endParaRPr>
          </a:p>
          <a:p>
            <a:pPr rtl="0" fontAlgn="base">
              <a:buFont typeface="Arial" panose="020B0604020202020204" pitchFamily="34" charset="0"/>
              <a:buChar char="•"/>
            </a:pPr>
            <a:r>
              <a:rPr lang="en-US" sz="1300" b="0" i="0" u="none" strike="noStrike" dirty="0">
                <a:effectLst/>
              </a:rPr>
              <a:t>Used </a:t>
            </a:r>
            <a:r>
              <a:rPr lang="en-US" sz="1300" b="1" i="0" u="none" strike="noStrike" dirty="0">
                <a:effectLst/>
              </a:rPr>
              <a:t>Bar Chart</a:t>
            </a:r>
            <a:r>
              <a:rPr lang="en-US" sz="1300" b="0" i="0" u="none" strike="noStrike" dirty="0">
                <a:effectLst/>
              </a:rPr>
              <a:t> for comparison</a:t>
            </a:r>
          </a:p>
          <a:p>
            <a:pPr rtl="0" fontAlgn="base">
              <a:buFont typeface="Arial" panose="020B0604020202020204" pitchFamily="34" charset="0"/>
              <a:buChar char="•"/>
            </a:pPr>
            <a:r>
              <a:rPr lang="en-US" sz="1300" b="0" i="0" u="none" strike="noStrike" dirty="0">
                <a:effectLst/>
              </a:rPr>
              <a:t>Added </a:t>
            </a:r>
            <a:r>
              <a:rPr lang="en-US" sz="1300" b="1" i="0" u="none" strike="noStrike" dirty="0">
                <a:effectLst/>
              </a:rPr>
              <a:t>Branch Filter</a:t>
            </a:r>
            <a:endParaRPr lang="en-US" sz="1300" b="0" i="0" u="none" strike="noStrike" dirty="0">
              <a:effectLst/>
            </a:endParaRPr>
          </a:p>
          <a:p>
            <a:pPr rtl="0" fontAlgn="base">
              <a:buFont typeface="Arial" panose="020B0604020202020204" pitchFamily="34" charset="0"/>
              <a:buChar char="•"/>
            </a:pPr>
            <a:r>
              <a:rPr lang="en-US" sz="1300" b="0" i="0" u="none" strike="noStrike" dirty="0">
                <a:effectLst/>
              </a:rPr>
              <a:t>Applied color encoding for high vs low balance</a:t>
            </a:r>
          </a:p>
          <a:p>
            <a:pPr rtl="0" fontAlgn="base">
              <a:spcAft>
                <a:spcPts val="1200"/>
              </a:spcAft>
              <a:buFont typeface="Arial" panose="020B0604020202020204" pitchFamily="34" charset="0"/>
              <a:buChar char="•"/>
            </a:pPr>
            <a:r>
              <a:rPr lang="en-US" sz="1300" b="0" i="0" u="none" strike="noStrike" dirty="0">
                <a:effectLst/>
              </a:rPr>
              <a:t>Used </a:t>
            </a:r>
            <a:r>
              <a:rPr lang="en-US" sz="1300" b="1" i="0" u="none" strike="noStrike" dirty="0">
                <a:effectLst/>
              </a:rPr>
              <a:t>Label Marks</a:t>
            </a:r>
            <a:r>
              <a:rPr lang="en-US" sz="1300" b="0" i="0" u="none" strike="noStrike" dirty="0">
                <a:effectLst/>
              </a:rPr>
              <a:t> for readability</a:t>
            </a:r>
          </a:p>
          <a:p>
            <a:pPr rtl="0">
              <a:spcBef>
                <a:spcPts val="1400"/>
              </a:spcBef>
              <a:spcAft>
                <a:spcPts val="400"/>
              </a:spcAft>
              <a:buNone/>
            </a:pPr>
            <a:r>
              <a:rPr lang="en-US" sz="1300" i="0" u="none" strike="noStrike" dirty="0">
                <a:effectLst/>
              </a:rPr>
              <a:t>Relevance</a:t>
            </a:r>
            <a:endParaRPr lang="en-US" sz="1300" dirty="0">
              <a:effectLst/>
            </a:endParaRPr>
          </a:p>
          <a:p>
            <a:pPr rtl="0">
              <a:spcBef>
                <a:spcPts val="1200"/>
              </a:spcBef>
              <a:spcAft>
                <a:spcPts val="1200"/>
              </a:spcAft>
              <a:buNone/>
            </a:pPr>
            <a:r>
              <a:rPr lang="en-US" sz="1300" b="0" i="0" u="none" strike="noStrike" dirty="0">
                <a:effectLst/>
              </a:rPr>
              <a:t>Supports regional performance reviews and resource allocation.</a:t>
            </a:r>
            <a:endParaRPr lang="en-US" sz="1300" b="0" dirty="0">
              <a:effectLst/>
            </a:endParaRPr>
          </a:p>
          <a:p>
            <a:pPr>
              <a:buNone/>
            </a:pPr>
            <a:br>
              <a:rPr lang="en-US" sz="1300" dirty="0"/>
            </a:br>
            <a:endParaRPr lang="en-IN" sz="1300" dirty="0"/>
          </a:p>
        </p:txBody>
      </p:sp>
    </p:spTree>
    <p:extLst>
      <p:ext uri="{BB962C8B-B14F-4D97-AF65-F5344CB8AC3E}">
        <p14:creationId xmlns:p14="http://schemas.microsoft.com/office/powerpoint/2010/main" val="2855793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a:xfrm>
            <a:off x="838200" y="365125"/>
            <a:ext cx="10515600" cy="685909"/>
          </a:xfrm>
        </p:spPr>
        <p:txBody>
          <a:bodyPr anchor="ctr">
            <a:normAutofit/>
          </a:bodyPr>
          <a:lstStyle/>
          <a:p>
            <a:r>
              <a:rPr lang="en-IN" dirty="0"/>
              <a:t>Report specifications (5 of 6)</a:t>
            </a:r>
          </a:p>
        </p:txBody>
      </p:sp>
      <p:pic>
        <p:nvPicPr>
          <p:cNvPr id="4" name="Picture 3">
            <a:extLst>
              <a:ext uri="{FF2B5EF4-FFF2-40B4-BE49-F238E27FC236}">
                <a16:creationId xmlns:a16="http://schemas.microsoft.com/office/drawing/2014/main" id="{823FEDE9-F6BE-89C9-AAC3-442DDB0AA469}"/>
              </a:ext>
            </a:extLst>
          </p:cNvPr>
          <p:cNvPicPr>
            <a:picLocks noChangeAspect="1"/>
          </p:cNvPicPr>
          <p:nvPr/>
        </p:nvPicPr>
        <p:blipFill>
          <a:blip r:embed="rId2"/>
          <a:srcRect l="28681" r="17830" b="-1"/>
          <a:stretch>
            <a:fillRect/>
          </a:stretch>
        </p:blipFill>
        <p:spPr>
          <a:xfrm>
            <a:off x="838200" y="1163789"/>
            <a:ext cx="5181600" cy="5013174"/>
          </a:xfrm>
          <a:prstGeom prst="rect">
            <a:avLst/>
          </a:prstGeom>
          <a:noFill/>
        </p:spPr>
      </p:pic>
      <p:sp>
        <p:nvSpPr>
          <p:cNvPr id="6" name="Content Placeholder 5">
            <a:extLst>
              <a:ext uri="{FF2B5EF4-FFF2-40B4-BE49-F238E27FC236}">
                <a16:creationId xmlns:a16="http://schemas.microsoft.com/office/drawing/2014/main" id="{6E62E306-D7A4-708A-FA48-5667344BECB5}"/>
              </a:ext>
            </a:extLst>
          </p:cNvPr>
          <p:cNvSpPr>
            <a:spLocks noGrp="1"/>
          </p:cNvSpPr>
          <p:nvPr>
            <p:ph sz="half" idx="2"/>
          </p:nvPr>
        </p:nvSpPr>
        <p:spPr>
          <a:xfrm>
            <a:off x="6172200" y="1163789"/>
            <a:ext cx="5181600" cy="5013174"/>
          </a:xfrm>
        </p:spPr>
        <p:txBody>
          <a:bodyPr>
            <a:normAutofit/>
          </a:bodyPr>
          <a:lstStyle/>
          <a:p>
            <a:pPr rtl="0">
              <a:spcBef>
                <a:spcPts val="2400"/>
              </a:spcBef>
              <a:spcAft>
                <a:spcPts val="600"/>
              </a:spcAft>
              <a:buNone/>
            </a:pPr>
            <a:r>
              <a:rPr lang="en-US" sz="1500" b="1" i="0" u="none" strike="noStrike" dirty="0">
                <a:effectLst/>
              </a:rPr>
              <a:t>Country‑Wise Transaction Count Report (Tableau)</a:t>
            </a:r>
            <a:endParaRPr lang="en-US" sz="1500" b="1" dirty="0">
              <a:effectLst/>
            </a:endParaRPr>
          </a:p>
          <a:p>
            <a:pPr rtl="0">
              <a:spcBef>
                <a:spcPts val="1400"/>
              </a:spcBef>
              <a:spcAft>
                <a:spcPts val="400"/>
              </a:spcAft>
              <a:buNone/>
            </a:pPr>
            <a:r>
              <a:rPr lang="en-US" sz="1500" i="0" u="none" strike="noStrike" dirty="0">
                <a:effectLst/>
              </a:rPr>
              <a:t>Purpose</a:t>
            </a:r>
            <a:endParaRPr lang="en-US" sz="1500" dirty="0">
              <a:effectLst/>
            </a:endParaRPr>
          </a:p>
          <a:p>
            <a:pPr rtl="0">
              <a:spcBef>
                <a:spcPts val="1200"/>
              </a:spcBef>
              <a:spcAft>
                <a:spcPts val="1200"/>
              </a:spcAft>
              <a:buNone/>
            </a:pPr>
            <a:r>
              <a:rPr lang="en-US" sz="1500" b="0" i="0" u="none" strike="noStrike" dirty="0">
                <a:effectLst/>
              </a:rPr>
              <a:t>Shows total number of transactions per country — used for geographic insights.</a:t>
            </a:r>
            <a:endParaRPr lang="en-US" sz="1500" b="0" dirty="0">
              <a:effectLst/>
            </a:endParaRPr>
          </a:p>
          <a:p>
            <a:pPr rtl="0">
              <a:spcBef>
                <a:spcPts val="1400"/>
              </a:spcBef>
              <a:spcAft>
                <a:spcPts val="400"/>
              </a:spcAft>
              <a:buNone/>
            </a:pPr>
            <a:r>
              <a:rPr lang="en-US" sz="1500" i="0" u="none" strike="noStrike" dirty="0">
                <a:effectLst/>
              </a:rPr>
              <a:t>How It Was Built</a:t>
            </a:r>
            <a:endParaRPr lang="en-US" sz="1500" dirty="0">
              <a:effectLst/>
            </a:endParaRPr>
          </a:p>
          <a:p>
            <a:pPr rtl="0" fontAlgn="base">
              <a:spcBef>
                <a:spcPts val="1200"/>
              </a:spcBef>
              <a:buFont typeface="Arial" panose="020B0604020202020204" pitchFamily="34" charset="0"/>
              <a:buChar char="•"/>
            </a:pPr>
            <a:r>
              <a:rPr lang="en-US" sz="1500" b="0" i="0" u="none" strike="noStrike" dirty="0">
                <a:effectLst/>
              </a:rPr>
              <a:t>Joined </a:t>
            </a:r>
            <a:r>
              <a:rPr lang="en-US" sz="1500" b="1" i="0" u="none" strike="noStrike" dirty="0">
                <a:effectLst/>
              </a:rPr>
              <a:t>fact table</a:t>
            </a:r>
            <a:r>
              <a:rPr lang="en-US" sz="1500" b="0" i="0" u="none" strike="noStrike" dirty="0">
                <a:effectLst/>
              </a:rPr>
              <a:t> with </a:t>
            </a:r>
            <a:r>
              <a:rPr lang="en-US" sz="1500" b="1" i="0" u="none" strike="noStrike" dirty="0">
                <a:effectLst/>
              </a:rPr>
              <a:t>country dimension</a:t>
            </a:r>
            <a:endParaRPr lang="en-US" sz="1500" b="0" i="0" u="none" strike="noStrike" dirty="0">
              <a:effectLst/>
            </a:endParaRPr>
          </a:p>
          <a:p>
            <a:pPr rtl="0" fontAlgn="base">
              <a:buFont typeface="Arial" panose="020B0604020202020204" pitchFamily="34" charset="0"/>
              <a:buChar char="•"/>
            </a:pPr>
            <a:r>
              <a:rPr lang="en-US" sz="1500" b="0" i="0" u="none" strike="noStrike" dirty="0">
                <a:effectLst/>
              </a:rPr>
              <a:t>Used </a:t>
            </a:r>
            <a:r>
              <a:rPr lang="en-US" sz="1500" b="1" i="0" u="none" strike="noStrike" dirty="0">
                <a:effectLst/>
              </a:rPr>
              <a:t>COUNT(</a:t>
            </a:r>
            <a:r>
              <a:rPr lang="en-US" sz="1500" b="1" i="0" u="none" strike="noStrike" dirty="0" err="1">
                <a:effectLst/>
              </a:rPr>
              <a:t>TransactionID</a:t>
            </a:r>
            <a:r>
              <a:rPr lang="en-US" sz="1500" b="1" i="0" u="none" strike="noStrike" dirty="0">
                <a:effectLst/>
              </a:rPr>
              <a:t>)</a:t>
            </a:r>
            <a:endParaRPr lang="en-US" sz="1500" b="0" i="0" u="none" strike="noStrike" dirty="0">
              <a:effectLst/>
            </a:endParaRPr>
          </a:p>
          <a:p>
            <a:pPr rtl="0" fontAlgn="base">
              <a:buFont typeface="Arial" panose="020B0604020202020204" pitchFamily="34" charset="0"/>
              <a:buChar char="•"/>
            </a:pPr>
            <a:r>
              <a:rPr lang="en-US" sz="1500" b="0" i="0" u="none" strike="noStrike" dirty="0">
                <a:effectLst/>
              </a:rPr>
              <a:t>Built a </a:t>
            </a:r>
            <a:r>
              <a:rPr lang="en-US" sz="1500" b="1" i="0" u="none" strike="noStrike" dirty="0">
                <a:effectLst/>
              </a:rPr>
              <a:t>filled map</a:t>
            </a:r>
            <a:r>
              <a:rPr lang="en-US" sz="1500" b="0" i="0" u="none" strike="noStrike" dirty="0">
                <a:effectLst/>
              </a:rPr>
              <a:t> visualization</a:t>
            </a:r>
          </a:p>
          <a:p>
            <a:pPr rtl="0" fontAlgn="base">
              <a:buFont typeface="Arial" panose="020B0604020202020204" pitchFamily="34" charset="0"/>
              <a:buChar char="•"/>
            </a:pPr>
            <a:r>
              <a:rPr lang="en-US" sz="1500" b="0" i="0" u="none" strike="noStrike" dirty="0">
                <a:effectLst/>
              </a:rPr>
              <a:t>Applied </a:t>
            </a:r>
            <a:r>
              <a:rPr lang="en-US" sz="1500" b="1" i="0" u="none" strike="noStrike" dirty="0">
                <a:effectLst/>
              </a:rPr>
              <a:t>Country Filter</a:t>
            </a:r>
            <a:endParaRPr lang="en-US" sz="1500" b="0" i="0" u="none" strike="noStrike" dirty="0">
              <a:effectLst/>
            </a:endParaRPr>
          </a:p>
          <a:p>
            <a:pPr rtl="0" fontAlgn="base">
              <a:spcAft>
                <a:spcPts val="1200"/>
              </a:spcAft>
              <a:buFont typeface="Arial" panose="020B0604020202020204" pitchFamily="34" charset="0"/>
              <a:buChar char="•"/>
            </a:pPr>
            <a:r>
              <a:rPr lang="en-US" sz="1500" b="0" i="0" u="none" strike="noStrike" dirty="0">
                <a:effectLst/>
              </a:rPr>
              <a:t>Used color intensity to show transaction volume</a:t>
            </a:r>
          </a:p>
          <a:p>
            <a:pPr rtl="0">
              <a:spcBef>
                <a:spcPts val="1400"/>
              </a:spcBef>
              <a:spcAft>
                <a:spcPts val="400"/>
              </a:spcAft>
              <a:buNone/>
            </a:pPr>
            <a:r>
              <a:rPr lang="en-US" sz="1500" i="0" u="none" strike="noStrike" dirty="0">
                <a:effectLst/>
              </a:rPr>
              <a:t>Relevance</a:t>
            </a:r>
            <a:endParaRPr lang="en-US" sz="1500" dirty="0">
              <a:effectLst/>
            </a:endParaRPr>
          </a:p>
          <a:p>
            <a:pPr rtl="0">
              <a:spcBef>
                <a:spcPts val="1200"/>
              </a:spcBef>
              <a:spcAft>
                <a:spcPts val="1200"/>
              </a:spcAft>
              <a:buNone/>
            </a:pPr>
            <a:r>
              <a:rPr lang="en-US" sz="1500" b="0" i="0" u="none" strike="noStrike" dirty="0">
                <a:effectLst/>
              </a:rPr>
              <a:t>Highlights high‑activity regions and potential growth markets.</a:t>
            </a:r>
            <a:endParaRPr lang="en-US" sz="1500" b="0" dirty="0">
              <a:effectLst/>
            </a:endParaRPr>
          </a:p>
          <a:p>
            <a:pPr>
              <a:buNone/>
            </a:pPr>
            <a:endParaRPr lang="en-IN" sz="1500" dirty="0"/>
          </a:p>
        </p:txBody>
      </p:sp>
    </p:spTree>
    <p:extLst>
      <p:ext uri="{BB962C8B-B14F-4D97-AF65-F5344CB8AC3E}">
        <p14:creationId xmlns:p14="http://schemas.microsoft.com/office/powerpoint/2010/main" val="33067122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a:xfrm>
            <a:off x="838200" y="365125"/>
            <a:ext cx="10515600" cy="685909"/>
          </a:xfrm>
        </p:spPr>
        <p:txBody>
          <a:bodyPr anchor="ctr">
            <a:normAutofit/>
          </a:bodyPr>
          <a:lstStyle/>
          <a:p>
            <a:r>
              <a:rPr lang="en-IN" dirty="0"/>
              <a:t>Report specifications (6 of 6)</a:t>
            </a:r>
          </a:p>
        </p:txBody>
      </p:sp>
      <p:pic>
        <p:nvPicPr>
          <p:cNvPr id="4" name="Picture 3">
            <a:extLst>
              <a:ext uri="{FF2B5EF4-FFF2-40B4-BE49-F238E27FC236}">
                <a16:creationId xmlns:a16="http://schemas.microsoft.com/office/drawing/2014/main" id="{0BC941AC-3E06-E944-FC47-2EF747407FCF}"/>
              </a:ext>
            </a:extLst>
          </p:cNvPr>
          <p:cNvPicPr>
            <a:picLocks noChangeAspect="1"/>
          </p:cNvPicPr>
          <p:nvPr/>
        </p:nvPicPr>
        <p:blipFill>
          <a:blip r:embed="rId2"/>
          <a:srcRect l="34190" r="14906" b="2"/>
          <a:stretch>
            <a:fillRect/>
          </a:stretch>
        </p:blipFill>
        <p:spPr>
          <a:xfrm>
            <a:off x="838200" y="1163789"/>
            <a:ext cx="5181600" cy="5013174"/>
          </a:xfrm>
          <a:prstGeom prst="rect">
            <a:avLst/>
          </a:prstGeom>
          <a:noFill/>
        </p:spPr>
      </p:pic>
      <p:sp>
        <p:nvSpPr>
          <p:cNvPr id="6" name="Content Placeholder 5">
            <a:extLst>
              <a:ext uri="{FF2B5EF4-FFF2-40B4-BE49-F238E27FC236}">
                <a16:creationId xmlns:a16="http://schemas.microsoft.com/office/drawing/2014/main" id="{6E62E306-D7A4-708A-FA48-5667344BECB5}"/>
              </a:ext>
            </a:extLst>
          </p:cNvPr>
          <p:cNvSpPr>
            <a:spLocks noGrp="1"/>
          </p:cNvSpPr>
          <p:nvPr>
            <p:ph sz="half" idx="2"/>
          </p:nvPr>
        </p:nvSpPr>
        <p:spPr>
          <a:xfrm>
            <a:off x="6172200" y="1163789"/>
            <a:ext cx="5181600" cy="5013174"/>
          </a:xfrm>
        </p:spPr>
        <p:txBody>
          <a:bodyPr>
            <a:normAutofit/>
          </a:bodyPr>
          <a:lstStyle/>
          <a:p>
            <a:pPr rtl="0">
              <a:spcBef>
                <a:spcPts val="2400"/>
              </a:spcBef>
              <a:spcAft>
                <a:spcPts val="600"/>
              </a:spcAft>
              <a:buNone/>
            </a:pPr>
            <a:r>
              <a:rPr lang="en-US" sz="1300" b="1" i="0" u="none" strike="noStrike">
                <a:effectLst/>
              </a:rPr>
              <a:t>Customer‑Wise Average Age Report (Tableau)</a:t>
            </a:r>
            <a:endParaRPr lang="en-US" sz="1300" b="1">
              <a:effectLst/>
            </a:endParaRPr>
          </a:p>
          <a:p>
            <a:pPr rtl="0">
              <a:spcBef>
                <a:spcPts val="1200"/>
              </a:spcBef>
              <a:spcAft>
                <a:spcPts val="1200"/>
              </a:spcAft>
              <a:buNone/>
            </a:pPr>
            <a:r>
              <a:rPr lang="en-US" sz="1300" i="0" u="none" strike="noStrike">
                <a:effectLst/>
              </a:rPr>
              <a:t>Purpose</a:t>
            </a:r>
            <a:endParaRPr lang="en-US" sz="1300">
              <a:effectLst/>
            </a:endParaRPr>
          </a:p>
          <a:p>
            <a:pPr rtl="0">
              <a:spcBef>
                <a:spcPts val="1200"/>
              </a:spcBef>
              <a:spcAft>
                <a:spcPts val="1200"/>
              </a:spcAft>
              <a:buNone/>
            </a:pPr>
            <a:r>
              <a:rPr lang="en-US" sz="1300" b="0" i="0" u="none" strike="noStrike">
                <a:effectLst/>
              </a:rPr>
              <a:t>Shows average customer age per branch or country — used for demographic segmentation.</a:t>
            </a:r>
            <a:endParaRPr lang="en-US" sz="1300" b="0">
              <a:effectLst/>
            </a:endParaRPr>
          </a:p>
          <a:p>
            <a:pPr rtl="0">
              <a:spcBef>
                <a:spcPts val="1400"/>
              </a:spcBef>
              <a:spcAft>
                <a:spcPts val="400"/>
              </a:spcAft>
              <a:buNone/>
            </a:pPr>
            <a:r>
              <a:rPr lang="en-US" sz="1300" i="0" u="none" strike="noStrike">
                <a:effectLst/>
              </a:rPr>
              <a:t>How It Was Built</a:t>
            </a:r>
            <a:endParaRPr lang="en-US" sz="1300">
              <a:effectLst/>
            </a:endParaRPr>
          </a:p>
          <a:p>
            <a:pPr rtl="0" fontAlgn="base">
              <a:spcBef>
                <a:spcPts val="1200"/>
              </a:spcBef>
              <a:buFont typeface="Arial" panose="020B0604020202020204" pitchFamily="34" charset="0"/>
              <a:buChar char="•"/>
            </a:pPr>
            <a:r>
              <a:rPr lang="en-US" sz="1300" b="0" i="0" u="none" strike="noStrike">
                <a:effectLst/>
              </a:rPr>
              <a:t>Created </a:t>
            </a:r>
            <a:r>
              <a:rPr lang="en-US" sz="1300" b="1" i="0" u="none" strike="noStrike">
                <a:effectLst/>
              </a:rPr>
              <a:t>Age</a:t>
            </a:r>
            <a:r>
              <a:rPr lang="en-US" sz="1300" b="0" i="0" u="none" strike="noStrike">
                <a:effectLst/>
              </a:rPr>
              <a:t> and </a:t>
            </a:r>
            <a:r>
              <a:rPr lang="en-US" sz="1300" b="1" i="0" u="none" strike="noStrike">
                <a:effectLst/>
              </a:rPr>
              <a:t>Rounded Average Age</a:t>
            </a:r>
            <a:r>
              <a:rPr lang="en-US" sz="1300" b="0" i="0" u="none" strike="noStrike">
                <a:effectLst/>
              </a:rPr>
              <a:t> fields</a:t>
            </a:r>
          </a:p>
          <a:p>
            <a:pPr rtl="0" fontAlgn="base">
              <a:buFont typeface="Arial" panose="020B0604020202020204" pitchFamily="34" charset="0"/>
              <a:buChar char="•"/>
            </a:pPr>
            <a:r>
              <a:rPr lang="en-US" sz="1300" b="0" i="0" u="none" strike="noStrike">
                <a:effectLst/>
              </a:rPr>
              <a:t>Grouped by </a:t>
            </a:r>
            <a:r>
              <a:rPr lang="en-US" sz="1300" b="1" i="0" u="none" strike="noStrike">
                <a:effectLst/>
              </a:rPr>
              <a:t>Customer</a:t>
            </a:r>
            <a:r>
              <a:rPr lang="en-US" sz="1300" b="0" i="0" u="none" strike="noStrike">
                <a:effectLst/>
              </a:rPr>
              <a:t> or </a:t>
            </a:r>
            <a:r>
              <a:rPr lang="en-US" sz="1300" b="1" i="0" u="none" strike="noStrike">
                <a:effectLst/>
              </a:rPr>
              <a:t>Branch</a:t>
            </a:r>
            <a:endParaRPr lang="en-US" sz="1300" b="0" i="0" u="none" strike="noStrike">
              <a:effectLst/>
            </a:endParaRPr>
          </a:p>
          <a:p>
            <a:pPr rtl="0" fontAlgn="base">
              <a:buFont typeface="Arial" panose="020B0604020202020204" pitchFamily="34" charset="0"/>
              <a:buChar char="•"/>
            </a:pPr>
            <a:r>
              <a:rPr lang="en-US" sz="1300" b="0" i="0" u="none" strike="noStrike">
                <a:effectLst/>
              </a:rPr>
              <a:t>Used </a:t>
            </a:r>
            <a:r>
              <a:rPr lang="en-US" sz="1300" b="1" i="0" u="none" strike="noStrike">
                <a:effectLst/>
              </a:rPr>
              <a:t>Bar Chart</a:t>
            </a:r>
            <a:endParaRPr lang="en-US" sz="1300" b="0" i="0" u="none" strike="noStrike">
              <a:effectLst/>
            </a:endParaRPr>
          </a:p>
          <a:p>
            <a:pPr rtl="0" fontAlgn="base">
              <a:spcAft>
                <a:spcPts val="1200"/>
              </a:spcAft>
              <a:buFont typeface="Arial" panose="020B0604020202020204" pitchFamily="34" charset="0"/>
              <a:buChar char="•"/>
            </a:pPr>
            <a:r>
              <a:rPr lang="en-US" sz="1300" b="0" i="0" u="none" strike="noStrike">
                <a:effectLst/>
              </a:rPr>
              <a:t>Added filter for </a:t>
            </a:r>
            <a:r>
              <a:rPr lang="en-US" sz="1300" b="1" i="0" u="none" strike="noStrike">
                <a:effectLst/>
              </a:rPr>
              <a:t>Average Age</a:t>
            </a:r>
            <a:endParaRPr lang="en-US" sz="1300" b="0" i="0" u="none" strike="noStrike">
              <a:effectLst/>
            </a:endParaRPr>
          </a:p>
          <a:p>
            <a:pPr rtl="0">
              <a:spcBef>
                <a:spcPts val="1400"/>
              </a:spcBef>
              <a:spcAft>
                <a:spcPts val="400"/>
              </a:spcAft>
              <a:buNone/>
            </a:pPr>
            <a:r>
              <a:rPr lang="en-US" sz="1300" i="0" u="none" strike="noStrike">
                <a:effectLst/>
              </a:rPr>
              <a:t>Relevance</a:t>
            </a:r>
            <a:endParaRPr lang="en-US" sz="1300">
              <a:effectLst/>
            </a:endParaRPr>
          </a:p>
          <a:p>
            <a:pPr rtl="0">
              <a:spcBef>
                <a:spcPts val="1200"/>
              </a:spcBef>
              <a:spcAft>
                <a:spcPts val="1200"/>
              </a:spcAft>
              <a:buNone/>
            </a:pPr>
            <a:r>
              <a:rPr lang="en-US" sz="1300" b="0" i="0" u="none" strike="noStrike">
                <a:effectLst/>
              </a:rPr>
              <a:t>Supports targeted marketing and customer profiling.</a:t>
            </a:r>
            <a:endParaRPr lang="en-US" sz="1300" b="0">
              <a:effectLst/>
            </a:endParaRPr>
          </a:p>
          <a:p>
            <a:pPr>
              <a:buNone/>
            </a:pPr>
            <a:br>
              <a:rPr lang="en-US" sz="1300"/>
            </a:br>
            <a:endParaRPr lang="en-IN" sz="1300"/>
          </a:p>
        </p:txBody>
      </p:sp>
    </p:spTree>
    <p:extLst>
      <p:ext uri="{BB962C8B-B14F-4D97-AF65-F5344CB8AC3E}">
        <p14:creationId xmlns:p14="http://schemas.microsoft.com/office/powerpoint/2010/main" val="39978150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1E7F-544C-5090-EF63-5C7F6D6D1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82733-EB4F-7585-AC93-D22460A317C3}"/>
              </a:ext>
            </a:extLst>
          </p:cNvPr>
          <p:cNvSpPr>
            <a:spLocks noGrp="1"/>
          </p:cNvSpPr>
          <p:nvPr>
            <p:ph type="title"/>
          </p:nvPr>
        </p:nvSpPr>
        <p:spPr/>
        <p:txBody>
          <a:bodyPr/>
          <a:lstStyle/>
          <a:p>
            <a:r>
              <a:rPr lang="en-IN" dirty="0"/>
              <a:t>Performance analysis guidelines (1 of 3)</a:t>
            </a:r>
          </a:p>
        </p:txBody>
      </p:sp>
      <p:sp>
        <p:nvSpPr>
          <p:cNvPr id="6" name="Content Placeholder 5">
            <a:extLst>
              <a:ext uri="{FF2B5EF4-FFF2-40B4-BE49-F238E27FC236}">
                <a16:creationId xmlns:a16="http://schemas.microsoft.com/office/drawing/2014/main" id="{2D40017C-47B7-EC98-13E8-B9FBD19881AB}"/>
              </a:ext>
            </a:extLst>
          </p:cNvPr>
          <p:cNvSpPr>
            <a:spLocks noGrp="1"/>
          </p:cNvSpPr>
          <p:nvPr>
            <p:ph idx="1"/>
          </p:nvPr>
        </p:nvSpPr>
        <p:spPr/>
        <p:txBody>
          <a:bodyPr>
            <a:normAutofit lnSpcReduction="10000"/>
          </a:bodyPr>
          <a:lstStyle/>
          <a:p>
            <a:pPr rtl="0">
              <a:spcBef>
                <a:spcPts val="2400"/>
              </a:spcBef>
              <a:spcAft>
                <a:spcPts val="600"/>
              </a:spcAft>
              <a:buNone/>
            </a:pPr>
            <a:r>
              <a:rPr lang="en-US" sz="2600" b="1" i="0" u="none" strike="noStrike" dirty="0">
                <a:solidFill>
                  <a:srgbClr val="000000"/>
                </a:solidFill>
                <a:effectLst/>
                <a:latin typeface="Arial" panose="020B0604020202020204" pitchFamily="34" charset="0"/>
              </a:rPr>
              <a:t>KPIs for Performance Analysis</a:t>
            </a:r>
            <a:endParaRPr lang="en-US" sz="2600" b="1" dirty="0">
              <a:effectLst/>
            </a:endParaRPr>
          </a:p>
          <a:p>
            <a:pPr rtl="0">
              <a:spcBef>
                <a:spcPts val="1400"/>
              </a:spcBef>
              <a:spcAft>
                <a:spcPts val="400"/>
              </a:spcAft>
              <a:buNone/>
            </a:pPr>
            <a:r>
              <a:rPr lang="en-US" sz="2200" i="0" u="none" strike="noStrike" dirty="0">
                <a:solidFill>
                  <a:srgbClr val="000000"/>
                </a:solidFill>
                <a:effectLst/>
                <a:latin typeface="Arial" panose="020B0604020202020204" pitchFamily="34" charset="0"/>
              </a:rPr>
              <a:t>Key KPIs Used</a:t>
            </a:r>
            <a:endParaRPr lang="en-US" sz="2200" dirty="0">
              <a:effectLst/>
            </a:endParaRPr>
          </a:p>
          <a:p>
            <a:pPr rtl="0" fontAlgn="base">
              <a:spcBef>
                <a:spcPts val="1200"/>
              </a:spcBef>
              <a:buFont typeface="Arial" panose="020B0604020202020204" pitchFamily="34" charset="0"/>
              <a:buChar char="•"/>
            </a:pPr>
            <a:r>
              <a:rPr lang="en-US" sz="1900" i="1" u="none" strike="noStrike" dirty="0">
                <a:solidFill>
                  <a:srgbClr val="000000"/>
                </a:solidFill>
                <a:effectLst/>
                <a:latin typeface="Arial" panose="020B0604020202020204" pitchFamily="34" charset="0"/>
              </a:rPr>
              <a:t>Total Transactions</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COUNT(</a:t>
            </a:r>
            <a:r>
              <a:rPr lang="en-US" sz="1900" b="0" i="0" u="none" strike="noStrike" dirty="0" err="1">
                <a:solidFill>
                  <a:srgbClr val="00B050"/>
                </a:solidFill>
                <a:effectLst/>
                <a:latin typeface="Arial" panose="020B0604020202020204" pitchFamily="34" charset="0"/>
              </a:rPr>
              <a:t>TransactionID</a:t>
            </a:r>
            <a:r>
              <a:rPr lang="en-US" sz="1900" b="0" i="0" u="none" strike="noStrike" dirty="0">
                <a:solidFill>
                  <a:srgbClr val="00B050"/>
                </a:solidFill>
                <a:effectLst/>
                <a:latin typeface="Arial" panose="020B0604020202020204" pitchFamily="34" charset="0"/>
              </a:rPr>
              <a:t>)</a:t>
            </a:r>
          </a:p>
          <a:p>
            <a:pPr rtl="0" fontAlgn="base">
              <a:buFont typeface="Arial" panose="020B0604020202020204" pitchFamily="34" charset="0"/>
              <a:buChar char="•"/>
            </a:pPr>
            <a:r>
              <a:rPr lang="en-US" sz="1900" i="1" u="none" strike="noStrike" dirty="0">
                <a:solidFill>
                  <a:srgbClr val="000000"/>
                </a:solidFill>
                <a:effectLst/>
                <a:latin typeface="Arial" panose="020B0604020202020204" pitchFamily="34" charset="0"/>
              </a:rPr>
              <a:t>Closing Balance</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SUM(Closing Balance)</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Average Transaction Amount</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SUM(Transaction Amount) / COUNT(</a:t>
            </a:r>
            <a:r>
              <a:rPr lang="en-US" sz="1900" b="0" i="0" u="none" strike="noStrike" dirty="0" err="1">
                <a:solidFill>
                  <a:srgbClr val="00B050"/>
                </a:solidFill>
                <a:effectLst/>
                <a:latin typeface="Arial" panose="020B0604020202020204" pitchFamily="34" charset="0"/>
              </a:rPr>
              <a:t>TransactionID</a:t>
            </a:r>
            <a:r>
              <a:rPr lang="en-US" sz="1900" b="0" i="0" u="none" strike="noStrike" dirty="0">
                <a:solidFill>
                  <a:srgbClr val="00B050"/>
                </a:solidFill>
                <a:effectLst/>
                <a:latin typeface="Arial" panose="020B0604020202020204" pitchFamily="34" charset="0"/>
              </a:rPr>
              <a:t>)</a:t>
            </a:r>
          </a:p>
          <a:p>
            <a:pPr rtl="0" fontAlgn="base">
              <a:buFont typeface="Arial" panose="020B0604020202020204" pitchFamily="34" charset="0"/>
              <a:buChar char="•"/>
            </a:pPr>
            <a:r>
              <a:rPr lang="en-US" sz="1900" i="1" u="none" strike="noStrike" dirty="0">
                <a:solidFill>
                  <a:srgbClr val="000000"/>
                </a:solidFill>
                <a:effectLst/>
                <a:latin typeface="Arial" panose="020B0604020202020204" pitchFamily="34" charset="0"/>
              </a:rPr>
              <a:t>Deposit vs Withdrawal Ratio</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Deposits ÷ Withdrawals</a:t>
            </a:r>
          </a:p>
          <a:p>
            <a:pPr rtl="0" fontAlgn="base">
              <a:buFont typeface="Arial" panose="020B0604020202020204" pitchFamily="34" charset="0"/>
              <a:buChar char="•"/>
            </a:pPr>
            <a:r>
              <a:rPr lang="en-US" sz="1900" i="1" u="none" strike="noStrike" dirty="0">
                <a:solidFill>
                  <a:srgbClr val="000000"/>
                </a:solidFill>
                <a:effectLst/>
                <a:latin typeface="Arial" panose="020B0604020202020204" pitchFamily="34" charset="0"/>
              </a:rPr>
              <a:t>Branch Performance Score</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Weighted score using balance + transaction count</a:t>
            </a:r>
          </a:p>
          <a:p>
            <a:pPr rtl="0" fontAlgn="base">
              <a:spcAft>
                <a:spcPts val="1200"/>
              </a:spcAft>
              <a:buFont typeface="Arial" panose="020B0604020202020204" pitchFamily="34" charset="0"/>
              <a:buChar char="•"/>
            </a:pPr>
            <a:r>
              <a:rPr lang="en-US" sz="1900" i="0" u="none" strike="noStrike" dirty="0">
                <a:solidFill>
                  <a:srgbClr val="000000"/>
                </a:solidFill>
                <a:effectLst/>
                <a:latin typeface="Arial" panose="020B0604020202020204" pitchFamily="34" charset="0"/>
              </a:rPr>
              <a:t>Customer Average Age</a:t>
            </a:r>
            <a:br>
              <a:rPr lang="en-US" sz="1900" b="1" i="0" u="none" strike="noStrike" dirty="0">
                <a:solidFill>
                  <a:srgbClr val="000000"/>
                </a:solidFill>
                <a:effectLst/>
                <a:latin typeface="Arial" panose="020B0604020202020204" pitchFamily="34" charset="0"/>
              </a:rPr>
            </a:br>
            <a:r>
              <a:rPr lang="en-US" sz="1900" b="0" i="0" u="none" strike="noStrike" dirty="0">
                <a:solidFill>
                  <a:srgbClr val="00B050"/>
                </a:solidFill>
                <a:effectLst/>
                <a:latin typeface="Arial" panose="020B0604020202020204" pitchFamily="34" charset="0"/>
              </a:rPr>
              <a:t>AVG(Age)</a:t>
            </a:r>
          </a:p>
        </p:txBody>
      </p:sp>
      <p:graphicFrame>
        <p:nvGraphicFramePr>
          <p:cNvPr id="5" name="Table 4">
            <a:extLst>
              <a:ext uri="{FF2B5EF4-FFF2-40B4-BE49-F238E27FC236}">
                <a16:creationId xmlns:a16="http://schemas.microsoft.com/office/drawing/2014/main" id="{5585C5AE-A7F6-D044-3E50-71331C881D36}"/>
              </a:ext>
            </a:extLst>
          </p:cNvPr>
          <p:cNvGraphicFramePr>
            <a:graphicFrameLocks noGrp="1"/>
          </p:cNvGraphicFramePr>
          <p:nvPr>
            <p:extLst>
              <p:ext uri="{D42A27DB-BD31-4B8C-83A1-F6EECF244321}">
                <p14:modId xmlns:p14="http://schemas.microsoft.com/office/powerpoint/2010/main" val="1358310599"/>
              </p:ext>
            </p:extLst>
          </p:nvPr>
        </p:nvGraphicFramePr>
        <p:xfrm>
          <a:off x="6473537" y="1444335"/>
          <a:ext cx="4880264" cy="1984665"/>
        </p:xfrm>
        <a:graphic>
          <a:graphicData uri="http://schemas.openxmlformats.org/drawingml/2006/table">
            <a:tbl>
              <a:tblPr firstRow="1" bandRow="1">
                <a:tableStyleId>{5C22544A-7EE6-4342-B048-85BDC9FD1C3A}</a:tableStyleId>
              </a:tblPr>
              <a:tblGrid>
                <a:gridCol w="4880264">
                  <a:extLst>
                    <a:ext uri="{9D8B030D-6E8A-4147-A177-3AD203B41FA5}">
                      <a16:colId xmlns:a16="http://schemas.microsoft.com/office/drawing/2014/main" val="1596771138"/>
                    </a:ext>
                  </a:extLst>
                </a:gridCol>
              </a:tblGrid>
              <a:tr h="4013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i="0" u="none" strike="noStrike" dirty="0">
                          <a:solidFill>
                            <a:schemeClr val="bg1"/>
                          </a:solidFill>
                          <a:effectLst/>
                          <a:latin typeface="Arial" panose="020B0604020202020204" pitchFamily="34" charset="0"/>
                        </a:rPr>
                        <a:t>Role in Decision‑Making</a:t>
                      </a:r>
                      <a:endParaRPr lang="en-US" dirty="0">
                        <a:solidFill>
                          <a:schemeClr val="bg1"/>
                        </a:solidFill>
                        <a:effectLst/>
                      </a:endParaRPr>
                    </a:p>
                  </a:txBody>
                  <a:tcPr/>
                </a:tc>
                <a:extLst>
                  <a:ext uri="{0D108BD9-81ED-4DB2-BD59-A6C34878D82A}">
                    <a16:rowId xmlns:a16="http://schemas.microsoft.com/office/drawing/2014/main" val="2554483894"/>
                  </a:ext>
                </a:extLst>
              </a:tr>
              <a:tr h="1583334">
                <a:tc>
                  <a:txBody>
                    <a:bodyPr/>
                    <a:lstStyle/>
                    <a:p>
                      <a:pPr algn="r" rtl="0" fontAlgn="base">
                        <a:spcBef>
                          <a:spcPts val="1200"/>
                        </a:spcBef>
                        <a:buFont typeface="Arial" panose="020B0604020202020204" pitchFamily="34" charset="0"/>
                        <a:buChar char="•"/>
                      </a:pPr>
                      <a:r>
                        <a:rPr lang="en-US" sz="1800" b="0" i="0" u="none" strike="noStrike" dirty="0">
                          <a:solidFill>
                            <a:srgbClr val="000000"/>
                          </a:solidFill>
                          <a:effectLst/>
                          <a:latin typeface="Arial" panose="020B0604020202020204" pitchFamily="34" charset="0"/>
                        </a:rPr>
                        <a:t>Identifies high‑value customers</a:t>
                      </a:r>
                    </a:p>
                    <a:p>
                      <a:pPr algn="r"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Highlights strong and weak branches</a:t>
                      </a:r>
                    </a:p>
                    <a:p>
                      <a:pPr algn="r" rtl="0" fontAlgn="base">
                        <a:buFont typeface="Arial" panose="020B0604020202020204" pitchFamily="34" charset="0"/>
                        <a:buChar char="•"/>
                      </a:pPr>
                      <a:r>
                        <a:rPr lang="en-US" sz="1800" b="0" i="0" u="none" strike="noStrike" dirty="0">
                          <a:solidFill>
                            <a:srgbClr val="000000"/>
                          </a:solidFill>
                          <a:effectLst/>
                          <a:latin typeface="Arial" panose="020B0604020202020204" pitchFamily="34" charset="0"/>
                        </a:rPr>
                        <a:t>Supports marketing and retention strategies</a:t>
                      </a:r>
                    </a:p>
                    <a:p>
                      <a:pPr algn="r" rtl="0" fontAlgn="base">
                        <a:spcAft>
                          <a:spcPts val="120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Helps detect anomalies or risk patterns</a:t>
                      </a:r>
                    </a:p>
                  </a:txBody>
                  <a:tcPr/>
                </a:tc>
                <a:extLst>
                  <a:ext uri="{0D108BD9-81ED-4DB2-BD59-A6C34878D82A}">
                    <a16:rowId xmlns:a16="http://schemas.microsoft.com/office/drawing/2014/main" val="3986170002"/>
                  </a:ext>
                </a:extLst>
              </a:tr>
            </a:tbl>
          </a:graphicData>
        </a:graphic>
      </p:graphicFrame>
    </p:spTree>
    <p:extLst>
      <p:ext uri="{BB962C8B-B14F-4D97-AF65-F5344CB8AC3E}">
        <p14:creationId xmlns:p14="http://schemas.microsoft.com/office/powerpoint/2010/main" val="41299310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1E7F-544C-5090-EF63-5C7F6D6D1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82733-EB4F-7585-AC93-D22460A317C3}"/>
              </a:ext>
            </a:extLst>
          </p:cNvPr>
          <p:cNvSpPr>
            <a:spLocks noGrp="1"/>
          </p:cNvSpPr>
          <p:nvPr>
            <p:ph type="title"/>
          </p:nvPr>
        </p:nvSpPr>
        <p:spPr>
          <a:xfrm>
            <a:off x="838200" y="365125"/>
            <a:ext cx="10515600" cy="685909"/>
          </a:xfrm>
        </p:spPr>
        <p:txBody>
          <a:bodyPr anchor="ctr">
            <a:normAutofit/>
          </a:bodyPr>
          <a:lstStyle/>
          <a:p>
            <a:r>
              <a:rPr lang="en-IN" dirty="0"/>
              <a:t>Performance analysis guidelines (2 of 3)</a:t>
            </a:r>
          </a:p>
        </p:txBody>
      </p:sp>
      <p:pic>
        <p:nvPicPr>
          <p:cNvPr id="4" name="Picture 3">
            <a:extLst>
              <a:ext uri="{FF2B5EF4-FFF2-40B4-BE49-F238E27FC236}">
                <a16:creationId xmlns:a16="http://schemas.microsoft.com/office/drawing/2014/main" id="{DA3B0964-8816-D95E-1C9D-942137A5BE86}"/>
              </a:ext>
            </a:extLst>
          </p:cNvPr>
          <p:cNvPicPr>
            <a:picLocks noChangeAspect="1"/>
          </p:cNvPicPr>
          <p:nvPr/>
        </p:nvPicPr>
        <p:blipFill>
          <a:blip r:embed="rId2"/>
          <a:srcRect l="20761" r="2751" b="-2"/>
          <a:stretch>
            <a:fillRect/>
          </a:stretch>
        </p:blipFill>
        <p:spPr>
          <a:xfrm>
            <a:off x="838200" y="1163789"/>
            <a:ext cx="5181600" cy="5013174"/>
          </a:xfrm>
          <a:prstGeom prst="rect">
            <a:avLst/>
          </a:prstGeom>
          <a:noFill/>
        </p:spPr>
      </p:pic>
      <p:sp>
        <p:nvSpPr>
          <p:cNvPr id="6" name="Content Placeholder 5">
            <a:extLst>
              <a:ext uri="{FF2B5EF4-FFF2-40B4-BE49-F238E27FC236}">
                <a16:creationId xmlns:a16="http://schemas.microsoft.com/office/drawing/2014/main" id="{2D40017C-47B7-EC98-13E8-B9FBD19881AB}"/>
              </a:ext>
            </a:extLst>
          </p:cNvPr>
          <p:cNvSpPr>
            <a:spLocks noGrp="1"/>
          </p:cNvSpPr>
          <p:nvPr>
            <p:ph sz="half" idx="2"/>
          </p:nvPr>
        </p:nvSpPr>
        <p:spPr>
          <a:xfrm>
            <a:off x="6172200" y="1163789"/>
            <a:ext cx="5181600" cy="5013174"/>
          </a:xfrm>
        </p:spPr>
        <p:txBody>
          <a:bodyPr>
            <a:normAutofit/>
          </a:bodyPr>
          <a:lstStyle/>
          <a:p>
            <a:pPr rtl="0">
              <a:spcBef>
                <a:spcPts val="2400"/>
              </a:spcBef>
              <a:spcAft>
                <a:spcPts val="600"/>
              </a:spcAft>
              <a:buNone/>
            </a:pPr>
            <a:r>
              <a:rPr lang="en-US" sz="2000" b="1" i="0" u="none" strike="noStrike">
                <a:effectLst/>
              </a:rPr>
              <a:t>Dashboard, Story &amp; Maintenance Steps</a:t>
            </a:r>
            <a:endParaRPr lang="en-US" sz="2000" b="1">
              <a:effectLst/>
            </a:endParaRPr>
          </a:p>
          <a:p>
            <a:pPr rtl="0">
              <a:spcBef>
                <a:spcPts val="1200"/>
              </a:spcBef>
              <a:spcAft>
                <a:spcPts val="1200"/>
              </a:spcAft>
              <a:buNone/>
            </a:pPr>
            <a:r>
              <a:rPr lang="en-US" sz="2000" i="0" u="none" strike="noStrike">
                <a:effectLst/>
              </a:rPr>
              <a:t>Dashboard Purpose</a:t>
            </a:r>
            <a:endParaRPr lang="en-US" sz="2000">
              <a:effectLst/>
            </a:endParaRPr>
          </a:p>
          <a:p>
            <a:pPr rtl="0" fontAlgn="base">
              <a:spcBef>
                <a:spcPts val="1200"/>
              </a:spcBef>
              <a:buFont typeface="Arial" panose="020B0604020202020204" pitchFamily="34" charset="0"/>
              <a:buChar char="•"/>
            </a:pPr>
            <a:r>
              <a:rPr lang="en-US" sz="2000" b="0" i="0" u="none" strike="noStrike">
                <a:effectLst/>
              </a:rPr>
              <a:t>Combines customer, branch, and country insights</a:t>
            </a:r>
          </a:p>
          <a:p>
            <a:pPr rtl="0" fontAlgn="base">
              <a:buFont typeface="Arial" panose="020B0604020202020204" pitchFamily="34" charset="0"/>
              <a:buChar char="•"/>
            </a:pPr>
            <a:r>
              <a:rPr lang="en-US" sz="2000" b="0" i="0" u="none" strike="noStrike">
                <a:effectLst/>
              </a:rPr>
              <a:t>Enables interactive filtering and drill‑down</a:t>
            </a:r>
          </a:p>
          <a:p>
            <a:pPr rtl="0" fontAlgn="base">
              <a:spcAft>
                <a:spcPts val="1200"/>
              </a:spcAft>
              <a:buFont typeface="Arial" panose="020B0604020202020204" pitchFamily="34" charset="0"/>
              <a:buChar char="•"/>
            </a:pPr>
            <a:r>
              <a:rPr lang="en-US" sz="2000" b="0" i="0" u="none" strike="noStrike">
                <a:effectLst/>
              </a:rPr>
              <a:t>Provides a single view for decision‑makers</a:t>
            </a:r>
          </a:p>
          <a:p>
            <a:pPr rtl="0">
              <a:spcBef>
                <a:spcPts val="1400"/>
              </a:spcBef>
              <a:spcAft>
                <a:spcPts val="400"/>
              </a:spcAft>
              <a:buNone/>
            </a:pPr>
            <a:r>
              <a:rPr lang="en-US" sz="2000" i="0" u="none" strike="noStrike">
                <a:effectLst/>
              </a:rPr>
              <a:t>Story Purpose</a:t>
            </a:r>
            <a:endParaRPr lang="en-US" sz="2000">
              <a:effectLst/>
            </a:endParaRPr>
          </a:p>
          <a:p>
            <a:pPr rtl="0" fontAlgn="base">
              <a:spcBef>
                <a:spcPts val="1200"/>
              </a:spcBef>
              <a:buFont typeface="Arial" panose="020B0604020202020204" pitchFamily="34" charset="0"/>
              <a:buChar char="•"/>
            </a:pPr>
            <a:r>
              <a:rPr lang="en-US" sz="2000" b="0" i="0" u="none" strike="noStrike">
                <a:effectLst/>
              </a:rPr>
              <a:t>Presents insights in a narrative sequence</a:t>
            </a:r>
          </a:p>
          <a:p>
            <a:pPr rtl="0" fontAlgn="base">
              <a:spcAft>
                <a:spcPts val="1200"/>
              </a:spcAft>
              <a:buFont typeface="Arial" panose="020B0604020202020204" pitchFamily="34" charset="0"/>
              <a:buChar char="•"/>
            </a:pPr>
            <a:r>
              <a:rPr lang="en-US" sz="2000" b="0" i="0" u="none" strike="noStrike">
                <a:effectLst/>
              </a:rPr>
              <a:t>Highlights key findings from OLTP + OLAP analysis</a:t>
            </a:r>
          </a:p>
          <a:p>
            <a:endParaRPr lang="en-IN" sz="2000"/>
          </a:p>
        </p:txBody>
      </p:sp>
    </p:spTree>
    <p:extLst>
      <p:ext uri="{BB962C8B-B14F-4D97-AF65-F5344CB8AC3E}">
        <p14:creationId xmlns:p14="http://schemas.microsoft.com/office/powerpoint/2010/main" val="36118098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1E7F-544C-5090-EF63-5C7F6D6D1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82733-EB4F-7585-AC93-D22460A317C3}"/>
              </a:ext>
            </a:extLst>
          </p:cNvPr>
          <p:cNvSpPr>
            <a:spLocks noGrp="1"/>
          </p:cNvSpPr>
          <p:nvPr>
            <p:ph type="title"/>
          </p:nvPr>
        </p:nvSpPr>
        <p:spPr>
          <a:xfrm>
            <a:off x="838200" y="365125"/>
            <a:ext cx="10515600" cy="685909"/>
          </a:xfrm>
        </p:spPr>
        <p:txBody>
          <a:bodyPr anchor="ctr">
            <a:normAutofit/>
          </a:bodyPr>
          <a:lstStyle/>
          <a:p>
            <a:r>
              <a:rPr lang="en-IN" dirty="0"/>
              <a:t>Performance analysis guidelines (3 of 3)</a:t>
            </a:r>
          </a:p>
        </p:txBody>
      </p:sp>
      <p:pic>
        <p:nvPicPr>
          <p:cNvPr id="9" name="Picture 8">
            <a:extLst>
              <a:ext uri="{FF2B5EF4-FFF2-40B4-BE49-F238E27FC236}">
                <a16:creationId xmlns:a16="http://schemas.microsoft.com/office/drawing/2014/main" id="{D20991AB-5963-0C9D-67C1-5A25728A397F}"/>
              </a:ext>
            </a:extLst>
          </p:cNvPr>
          <p:cNvPicPr>
            <a:picLocks noChangeAspect="1"/>
          </p:cNvPicPr>
          <p:nvPr/>
        </p:nvPicPr>
        <p:blipFill>
          <a:blip r:embed="rId2"/>
          <a:stretch>
            <a:fillRect/>
          </a:stretch>
        </p:blipFill>
        <p:spPr>
          <a:xfrm>
            <a:off x="838200" y="1720799"/>
            <a:ext cx="5181600" cy="3899153"/>
          </a:xfrm>
          <a:prstGeom prst="rect">
            <a:avLst/>
          </a:prstGeom>
          <a:noFill/>
        </p:spPr>
      </p:pic>
      <p:sp>
        <p:nvSpPr>
          <p:cNvPr id="6" name="Content Placeholder 5">
            <a:extLst>
              <a:ext uri="{FF2B5EF4-FFF2-40B4-BE49-F238E27FC236}">
                <a16:creationId xmlns:a16="http://schemas.microsoft.com/office/drawing/2014/main" id="{2D40017C-47B7-EC98-13E8-B9FBD19881AB}"/>
              </a:ext>
            </a:extLst>
          </p:cNvPr>
          <p:cNvSpPr>
            <a:spLocks noGrp="1"/>
          </p:cNvSpPr>
          <p:nvPr>
            <p:ph sz="half" idx="2"/>
          </p:nvPr>
        </p:nvSpPr>
        <p:spPr>
          <a:xfrm>
            <a:off x="6172200" y="1163789"/>
            <a:ext cx="5181600" cy="5013174"/>
          </a:xfrm>
        </p:spPr>
        <p:txBody>
          <a:bodyPr>
            <a:normAutofit/>
          </a:bodyPr>
          <a:lstStyle/>
          <a:p>
            <a:pPr marL="0" indent="0">
              <a:buNone/>
            </a:pPr>
            <a:r>
              <a:rPr lang="en-US" sz="2200" b="1" dirty="0"/>
              <a:t>Maintenance Steps</a:t>
            </a:r>
          </a:p>
          <a:p>
            <a:pPr fontAlgn="base"/>
            <a:r>
              <a:rPr lang="en-US" sz="2200"/>
              <a:t>Refresh data sources (CSV → SQL → Tableau)</a:t>
            </a:r>
          </a:p>
          <a:p>
            <a:pPr fontAlgn="base"/>
            <a:r>
              <a:rPr lang="en-US" sz="2200"/>
              <a:t>Re‑run ETL/ELT scripts</a:t>
            </a:r>
          </a:p>
          <a:p>
            <a:pPr fontAlgn="base"/>
            <a:r>
              <a:rPr lang="en-US" sz="2200"/>
              <a:t>Update calculated fields if schema changes</a:t>
            </a:r>
          </a:p>
          <a:p>
            <a:pPr fontAlgn="base"/>
            <a:r>
              <a:rPr lang="en-US" sz="2200"/>
              <a:t>Add/remove KPIs based on business needs</a:t>
            </a:r>
          </a:p>
          <a:p>
            <a:pPr fontAlgn="base"/>
            <a:r>
              <a:rPr lang="en-US" sz="2200"/>
              <a:t>Optimize performance by:</a:t>
            </a:r>
          </a:p>
          <a:p>
            <a:pPr lvl="1" fontAlgn="base"/>
            <a:r>
              <a:rPr lang="en-US" sz="2200"/>
              <a:t>Using extracts</a:t>
            </a:r>
          </a:p>
          <a:p>
            <a:pPr lvl="1" fontAlgn="base"/>
            <a:r>
              <a:rPr lang="en-US" sz="2200"/>
              <a:t>Removing unused fields</a:t>
            </a:r>
          </a:p>
          <a:p>
            <a:pPr lvl="1" fontAlgn="base"/>
            <a:r>
              <a:rPr lang="en-US" sz="2200"/>
              <a:t>Aggregating data where possible</a:t>
            </a:r>
          </a:p>
        </p:txBody>
      </p:sp>
    </p:spTree>
    <p:extLst>
      <p:ext uri="{BB962C8B-B14F-4D97-AF65-F5344CB8AC3E}">
        <p14:creationId xmlns:p14="http://schemas.microsoft.com/office/powerpoint/2010/main" val="3221779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fontScale="90000"/>
          </a:bodyPr>
          <a:lstStyle/>
          <a:p>
            <a:pPr algn="ctr"/>
            <a:r>
              <a:rPr lang="en-IN" dirty="0">
                <a:latin typeface="Arial"/>
                <a:cs typeface="Arial"/>
              </a:rPr>
              <a:t>General handover documentation</a:t>
            </a:r>
            <a:endParaRPr lang="en-US" dirty="0"/>
          </a:p>
        </p:txBody>
      </p:sp>
    </p:spTree>
    <p:extLst>
      <p:ext uri="{BB962C8B-B14F-4D97-AF65-F5344CB8AC3E}">
        <p14:creationId xmlns:p14="http://schemas.microsoft.com/office/powerpoint/2010/main" val="2370217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latin typeface="Arial"/>
                <a:cs typeface="Arial"/>
              </a:rPr>
              <a:t>Role and key responsibilities</a:t>
            </a:r>
            <a:endParaRPr lang="en-IN" dirty="0"/>
          </a:p>
        </p:txBody>
      </p:sp>
      <p:sp>
        <p:nvSpPr>
          <p:cNvPr id="3" name="Content Placeholder 2">
            <a:extLst>
              <a:ext uri="{FF2B5EF4-FFF2-40B4-BE49-F238E27FC236}">
                <a16:creationId xmlns:a16="http://schemas.microsoft.com/office/drawing/2014/main" id="{951DF861-C031-409A-1FD9-FAC239C53F78}"/>
              </a:ext>
            </a:extLst>
          </p:cNvPr>
          <p:cNvSpPr>
            <a:spLocks noGrp="1"/>
          </p:cNvSpPr>
          <p:nvPr>
            <p:ph idx="1"/>
          </p:nvPr>
        </p:nvSpPr>
        <p:spPr/>
        <p:txBody>
          <a:bodyPr>
            <a:normAutofit fontScale="85000" lnSpcReduction="20000"/>
          </a:bodyPr>
          <a:lstStyle/>
          <a:p>
            <a:pPr rtl="0">
              <a:spcBef>
                <a:spcPts val="1400"/>
              </a:spcBef>
              <a:spcAft>
                <a:spcPts val="400"/>
              </a:spcAft>
              <a:buNone/>
            </a:pPr>
            <a:r>
              <a:rPr lang="en-US" b="1" i="0" u="none" strike="noStrike" dirty="0">
                <a:solidFill>
                  <a:srgbClr val="000000"/>
                </a:solidFill>
                <a:effectLst/>
                <a:latin typeface="Arial" panose="020B0604020202020204" pitchFamily="34" charset="0"/>
              </a:rPr>
              <a:t>Role Summary</a:t>
            </a:r>
            <a:endParaRPr lang="en-US" b="1" dirty="0">
              <a:effectLst/>
            </a:endParaRPr>
          </a:p>
          <a:p>
            <a:pPr rtl="0">
              <a:spcBef>
                <a:spcPts val="1200"/>
              </a:spcBef>
              <a:spcAft>
                <a:spcPts val="1200"/>
              </a:spcAft>
              <a:buNone/>
            </a:pPr>
            <a:r>
              <a:rPr lang="en-US" sz="1900" b="0" i="0" u="none" strike="noStrike" dirty="0">
                <a:solidFill>
                  <a:srgbClr val="000000"/>
                </a:solidFill>
                <a:effectLst/>
                <a:latin typeface="Arial" panose="020B0604020202020204" pitchFamily="34" charset="0"/>
              </a:rPr>
              <a:t>As the </a:t>
            </a:r>
            <a:r>
              <a:rPr lang="en-US" sz="1900" b="1" i="0" u="none" strike="noStrike" dirty="0">
                <a:solidFill>
                  <a:srgbClr val="000000"/>
                </a:solidFill>
                <a:effectLst/>
                <a:latin typeface="Arial" panose="020B0604020202020204" pitchFamily="34" charset="0"/>
              </a:rPr>
              <a:t>Data Engineer / Data Manager</a:t>
            </a:r>
            <a:r>
              <a:rPr lang="en-US" sz="1900" b="0" i="0" u="none" strike="noStrike" dirty="0">
                <a:solidFill>
                  <a:srgbClr val="000000"/>
                </a:solidFill>
                <a:effectLst/>
                <a:latin typeface="Arial" panose="020B0604020202020204" pitchFamily="34" charset="0"/>
              </a:rPr>
              <a:t> for the </a:t>
            </a:r>
            <a:r>
              <a:rPr lang="en-US" sz="1900" b="0" i="0" u="none" strike="noStrike" dirty="0" err="1">
                <a:solidFill>
                  <a:srgbClr val="000000"/>
                </a:solidFill>
                <a:effectLst/>
                <a:latin typeface="Arial" panose="020B0604020202020204" pitchFamily="34" charset="0"/>
              </a:rPr>
              <a:t>FinPro</a:t>
            </a:r>
            <a:r>
              <a:rPr lang="en-US" sz="1900" b="0" i="0" u="none" strike="noStrike" dirty="0">
                <a:solidFill>
                  <a:srgbClr val="000000"/>
                </a:solidFill>
                <a:effectLst/>
                <a:latin typeface="Arial" panose="020B0604020202020204" pitchFamily="34" charset="0"/>
              </a:rPr>
              <a:t> Bank Capstone Project, I was responsible for designing, integrating, securing, and operationalizing the full data lifecycle — from ingestion to reporting.</a:t>
            </a:r>
            <a:endParaRPr lang="en-US" sz="1900" b="0" dirty="0">
              <a:effectLst/>
            </a:endParaRPr>
          </a:p>
          <a:p>
            <a:pPr rtl="0">
              <a:spcBef>
                <a:spcPts val="1400"/>
              </a:spcBef>
              <a:spcAft>
                <a:spcPts val="400"/>
              </a:spcAft>
              <a:buNone/>
            </a:pPr>
            <a:r>
              <a:rPr lang="en-US" sz="2100" i="0" u="none" strike="noStrike" dirty="0">
                <a:solidFill>
                  <a:srgbClr val="000000"/>
                </a:solidFill>
                <a:effectLst/>
                <a:latin typeface="Arial" panose="020B0604020202020204" pitchFamily="34" charset="0"/>
              </a:rPr>
              <a:t>Key Responsibilities</a:t>
            </a:r>
            <a:endParaRPr lang="en-US" sz="2100" dirty="0">
              <a:effectLst/>
            </a:endParaRPr>
          </a:p>
          <a:p>
            <a:pPr rtl="0" fontAlgn="base">
              <a:spcBef>
                <a:spcPts val="1200"/>
              </a:spcBef>
              <a:buFont typeface="Arial" panose="020B0604020202020204" pitchFamily="34" charset="0"/>
              <a:buChar char="•"/>
            </a:pPr>
            <a:r>
              <a:rPr lang="en-US" sz="1900" i="0" u="none" strike="noStrike" dirty="0">
                <a:solidFill>
                  <a:srgbClr val="000000"/>
                </a:solidFill>
                <a:effectLst/>
                <a:latin typeface="Arial" panose="020B0604020202020204" pitchFamily="34" charset="0"/>
              </a:rPr>
              <a:t>Data Ingestion &amp; Integration</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OLTP &amp; OLAP Data Modeling</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SQL Development</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Tableau BI Development</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Data Quality &amp; Governance</a:t>
            </a:r>
          </a:p>
          <a:p>
            <a:pPr rtl="0" fontAlgn="base">
              <a:buFont typeface="Arial" panose="020B0604020202020204" pitchFamily="34" charset="0"/>
              <a:buChar char="•"/>
            </a:pPr>
            <a:r>
              <a:rPr lang="en-US" sz="1900" i="0" u="none" strike="noStrike" dirty="0">
                <a:solidFill>
                  <a:srgbClr val="000000"/>
                </a:solidFill>
                <a:effectLst/>
                <a:latin typeface="Arial" panose="020B0604020202020204" pitchFamily="34" charset="0"/>
              </a:rPr>
              <a:t>Security &amp; Access Control</a:t>
            </a:r>
            <a:br>
              <a:rPr lang="en-US" sz="1900" b="1" i="0" u="none" strike="noStrike" dirty="0">
                <a:solidFill>
                  <a:srgbClr val="000000"/>
                </a:solidFill>
                <a:effectLst/>
                <a:latin typeface="Arial" panose="020B0604020202020204" pitchFamily="34" charset="0"/>
              </a:rPr>
            </a:br>
            <a:br>
              <a:rPr lang="en-US" sz="1900" b="1" i="0" u="none" strike="noStrike" dirty="0">
                <a:solidFill>
                  <a:srgbClr val="000000"/>
                </a:solidFill>
                <a:effectLst/>
                <a:latin typeface="Arial" panose="020B0604020202020204" pitchFamily="34" charset="0"/>
              </a:rPr>
            </a:br>
            <a:endParaRPr lang="en-US" sz="1900" b="0" i="0" u="none" strike="noStrike" dirty="0">
              <a:solidFill>
                <a:srgbClr val="000000"/>
              </a:solidFill>
              <a:effectLst/>
              <a:latin typeface="Arial" panose="020B0604020202020204" pitchFamily="34" charset="0"/>
            </a:endParaRPr>
          </a:p>
          <a:p>
            <a:pPr rtl="0">
              <a:spcBef>
                <a:spcPts val="1400"/>
              </a:spcBef>
              <a:spcAft>
                <a:spcPts val="400"/>
              </a:spcAft>
              <a:buNone/>
            </a:pPr>
            <a:r>
              <a:rPr lang="en-US" sz="2100" i="0" u="none" strike="noStrike" dirty="0">
                <a:solidFill>
                  <a:srgbClr val="000000"/>
                </a:solidFill>
                <a:effectLst/>
                <a:latin typeface="Arial" panose="020B0604020202020204" pitchFamily="34" charset="0"/>
              </a:rPr>
              <a:t>Contribution to Project Goals</a:t>
            </a:r>
            <a:endParaRPr lang="en-US" sz="2100" dirty="0">
              <a:effectLst/>
            </a:endParaRPr>
          </a:p>
          <a:p>
            <a:pPr rtl="0">
              <a:spcBef>
                <a:spcPts val="1200"/>
              </a:spcBef>
              <a:spcAft>
                <a:spcPts val="1200"/>
              </a:spcAft>
              <a:buNone/>
            </a:pPr>
            <a:r>
              <a:rPr lang="en-US" sz="1900" b="0" i="0" u="none" strike="noStrike" dirty="0">
                <a:solidFill>
                  <a:srgbClr val="000000"/>
                </a:solidFill>
                <a:effectLst/>
                <a:latin typeface="Arial" panose="020B0604020202020204" pitchFamily="34" charset="0"/>
              </a:rPr>
              <a:t>Delivered a secure, integrated, analytics‑ready data environment enabling accurate reporting, faster insights, and reliable decision‑making for </a:t>
            </a:r>
            <a:r>
              <a:rPr lang="en-US" sz="1900" b="0" i="0" u="none" strike="noStrike" dirty="0" err="1">
                <a:solidFill>
                  <a:srgbClr val="000000"/>
                </a:solidFill>
                <a:effectLst/>
                <a:latin typeface="Arial" panose="020B0604020202020204" pitchFamily="34" charset="0"/>
              </a:rPr>
              <a:t>FinPro</a:t>
            </a:r>
            <a:r>
              <a:rPr lang="en-US" sz="1900" b="0" i="0" u="none" strike="noStrike" dirty="0">
                <a:solidFill>
                  <a:srgbClr val="000000"/>
                </a:solidFill>
                <a:effectLst/>
                <a:latin typeface="Arial" panose="020B0604020202020204" pitchFamily="34" charset="0"/>
              </a:rPr>
              <a:t> Bank.</a:t>
            </a:r>
            <a:endParaRPr lang="en-IN" sz="1900" dirty="0"/>
          </a:p>
          <a:p>
            <a:endParaRPr lang="en-IN" dirty="0"/>
          </a:p>
        </p:txBody>
      </p:sp>
    </p:spTree>
    <p:extLst>
      <p:ext uri="{BB962C8B-B14F-4D97-AF65-F5344CB8AC3E}">
        <p14:creationId xmlns:p14="http://schemas.microsoft.com/office/powerpoint/2010/main" val="21373817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latin typeface="Arial"/>
                <a:cs typeface="Arial"/>
              </a:rPr>
              <a:t>System architecture diagram - </a:t>
            </a:r>
            <a:r>
              <a:rPr lang="en-IN" dirty="0" err="1">
                <a:latin typeface="Arial"/>
                <a:cs typeface="Arial"/>
              </a:rPr>
              <a:t>i</a:t>
            </a:r>
            <a:endParaRPr lang="en-IN" dirty="0"/>
          </a:p>
        </p:txBody>
      </p:sp>
      <p:sp>
        <p:nvSpPr>
          <p:cNvPr id="3" name="Content Placeholder 2">
            <a:extLst>
              <a:ext uri="{FF2B5EF4-FFF2-40B4-BE49-F238E27FC236}">
                <a16:creationId xmlns:a16="http://schemas.microsoft.com/office/drawing/2014/main" id="{951DF861-C031-409A-1FD9-FAC239C53F78}"/>
              </a:ext>
            </a:extLst>
          </p:cNvPr>
          <p:cNvSpPr>
            <a:spLocks noGrp="1"/>
          </p:cNvSpPr>
          <p:nvPr>
            <p:ph idx="1"/>
          </p:nvPr>
        </p:nvSpPr>
        <p:spPr/>
        <p:txBody>
          <a:bodyPr>
            <a:normAutofit fontScale="85000" lnSpcReduction="20000"/>
          </a:bodyPr>
          <a:lstStyle/>
          <a:p>
            <a:pPr rtl="0">
              <a:spcBef>
                <a:spcPts val="1400"/>
              </a:spcBef>
              <a:spcAft>
                <a:spcPts val="400"/>
              </a:spcAft>
              <a:buNone/>
            </a:pPr>
            <a:r>
              <a:rPr lang="en-US" sz="3200" b="1" i="0" u="none" strike="noStrike" dirty="0">
                <a:solidFill>
                  <a:srgbClr val="000000"/>
                </a:solidFill>
                <a:effectLst/>
                <a:latin typeface="Arial" panose="020B0604020202020204" pitchFamily="34" charset="0"/>
              </a:rPr>
              <a:t>High‑Level Architecture (Data Engineer View)</a:t>
            </a:r>
            <a:endParaRPr lang="en-US" sz="1600" b="1" dirty="0">
              <a:effectLst/>
            </a:endParaRPr>
          </a:p>
          <a:p>
            <a:pPr rtl="0">
              <a:buNone/>
            </a:pPr>
            <a:r>
              <a:rPr lang="en-US" sz="2400" b="0" i="0" u="none" strike="noStrike" dirty="0">
                <a:solidFill>
                  <a:srgbClr val="000000"/>
                </a:solidFill>
                <a:effectLst/>
                <a:latin typeface="Arial" panose="020B0604020202020204" pitchFamily="34" charset="0"/>
              </a:rPr>
              <a:t>               Source Files (CSV / Excel)</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Data Cleaning &amp; Validation</a:t>
            </a:r>
            <a:endParaRPr lang="en-US" sz="1600" b="0" dirty="0">
              <a:effectLst/>
            </a:endParaRPr>
          </a:p>
          <a:p>
            <a:pPr>
              <a:buNone/>
            </a:pPr>
            <a:br>
              <a:rPr lang="en-US" sz="1600" b="0" dirty="0">
                <a:effectLst/>
              </a:rPr>
            </a:b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OLTP Layer (SQL Database)</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Cleaned tables, PK/FK enforcement,</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inserts/updates/deletes, operational queries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Transformation &amp; Aggregation</a:t>
            </a:r>
            <a:br>
              <a:rPr lang="en-US" sz="1600" dirty="0"/>
            </a:br>
            <a:endParaRPr lang="en-IN" dirty="0"/>
          </a:p>
          <a:p>
            <a:endParaRPr lang="en-IN" dirty="0"/>
          </a:p>
        </p:txBody>
      </p:sp>
    </p:spTree>
    <p:extLst>
      <p:ext uri="{BB962C8B-B14F-4D97-AF65-F5344CB8AC3E}">
        <p14:creationId xmlns:p14="http://schemas.microsoft.com/office/powerpoint/2010/main" val="36821560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BA004-0DB5-CF79-F90E-0C545F640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34C4C-3F75-5696-6217-B23FA1932C50}"/>
              </a:ext>
            </a:extLst>
          </p:cNvPr>
          <p:cNvSpPr>
            <a:spLocks noGrp="1"/>
          </p:cNvSpPr>
          <p:nvPr>
            <p:ph type="title"/>
          </p:nvPr>
        </p:nvSpPr>
        <p:spPr/>
        <p:txBody>
          <a:bodyPr/>
          <a:lstStyle/>
          <a:p>
            <a:r>
              <a:rPr lang="en-IN" dirty="0">
                <a:latin typeface="Arial"/>
                <a:cs typeface="Arial"/>
              </a:rPr>
              <a:t>System architecture diagram - ii</a:t>
            </a:r>
            <a:endParaRPr lang="en-IN" dirty="0"/>
          </a:p>
        </p:txBody>
      </p:sp>
      <p:sp>
        <p:nvSpPr>
          <p:cNvPr id="3" name="Content Placeholder 2">
            <a:extLst>
              <a:ext uri="{FF2B5EF4-FFF2-40B4-BE49-F238E27FC236}">
                <a16:creationId xmlns:a16="http://schemas.microsoft.com/office/drawing/2014/main" id="{A28AA044-1AB5-5D5D-A682-2B8A2E5254E7}"/>
              </a:ext>
            </a:extLst>
          </p:cNvPr>
          <p:cNvSpPr>
            <a:spLocks noGrp="1"/>
          </p:cNvSpPr>
          <p:nvPr>
            <p:ph idx="1"/>
          </p:nvPr>
        </p:nvSpPr>
        <p:spPr/>
        <p:txBody>
          <a:bodyPr>
            <a:normAutofit lnSpcReduction="10000"/>
          </a:bodyPr>
          <a:lstStyle/>
          <a:p>
            <a:pPr rtl="0">
              <a:spcBef>
                <a:spcPts val="1400"/>
              </a:spcBef>
              <a:spcAft>
                <a:spcPts val="400"/>
              </a:spcAft>
              <a:buNone/>
            </a:pPr>
            <a:r>
              <a:rPr lang="en-US" sz="3200" b="1" i="0" u="none" strike="noStrike" dirty="0">
                <a:solidFill>
                  <a:srgbClr val="000000"/>
                </a:solidFill>
                <a:effectLst/>
                <a:latin typeface="Arial" panose="020B0604020202020204" pitchFamily="34" charset="0"/>
              </a:rPr>
              <a:t>High‑Level Architecture (Data Engineer View)</a:t>
            </a:r>
            <a:endParaRPr lang="en-US" sz="1600" b="1"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Transformation &amp; Aggregation</a:t>
            </a:r>
            <a:endParaRPr lang="en-US" sz="1600" b="0" dirty="0">
              <a:effectLst/>
            </a:endParaRPr>
          </a:p>
          <a:p>
            <a:pPr>
              <a:buNone/>
            </a:pPr>
            <a:br>
              <a:rPr lang="en-US" sz="1600" b="0" dirty="0">
                <a:effectLst/>
              </a:rPr>
            </a:b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OLAP Layer (Analytical SQL)</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ROLLUP, CUBE, GROUPING SETS,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Materialized Views, analytical joins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BI Consumption</a:t>
            </a:r>
            <a:br>
              <a:rPr lang="en-US" sz="1600" dirty="0"/>
            </a:br>
            <a:endParaRPr lang="en-IN" dirty="0"/>
          </a:p>
          <a:p>
            <a:endParaRPr lang="en-IN" dirty="0"/>
          </a:p>
        </p:txBody>
      </p:sp>
    </p:spTree>
    <p:extLst>
      <p:ext uri="{BB962C8B-B14F-4D97-AF65-F5344CB8AC3E}">
        <p14:creationId xmlns:p14="http://schemas.microsoft.com/office/powerpoint/2010/main" val="3674765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AB806-01E0-12EE-30A6-0603F93BB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E0614-020C-5CB6-1762-A6B9C7389E4B}"/>
              </a:ext>
            </a:extLst>
          </p:cNvPr>
          <p:cNvSpPr>
            <a:spLocks noGrp="1"/>
          </p:cNvSpPr>
          <p:nvPr>
            <p:ph type="title"/>
          </p:nvPr>
        </p:nvSpPr>
        <p:spPr/>
        <p:txBody>
          <a:bodyPr/>
          <a:lstStyle/>
          <a:p>
            <a:r>
              <a:rPr lang="en-IN" dirty="0">
                <a:latin typeface="Arial"/>
                <a:cs typeface="Arial"/>
              </a:rPr>
              <a:t>System architecture diagram- iii</a:t>
            </a:r>
            <a:endParaRPr lang="en-IN" dirty="0"/>
          </a:p>
        </p:txBody>
      </p:sp>
      <p:sp>
        <p:nvSpPr>
          <p:cNvPr id="3" name="Content Placeholder 2">
            <a:extLst>
              <a:ext uri="{FF2B5EF4-FFF2-40B4-BE49-F238E27FC236}">
                <a16:creationId xmlns:a16="http://schemas.microsoft.com/office/drawing/2014/main" id="{AE0DFAD2-E232-FE53-B214-5F80108BD9FD}"/>
              </a:ext>
            </a:extLst>
          </p:cNvPr>
          <p:cNvSpPr>
            <a:spLocks noGrp="1"/>
          </p:cNvSpPr>
          <p:nvPr>
            <p:ph idx="1"/>
          </p:nvPr>
        </p:nvSpPr>
        <p:spPr/>
        <p:txBody>
          <a:bodyPr>
            <a:normAutofit fontScale="70000" lnSpcReduction="20000"/>
          </a:bodyPr>
          <a:lstStyle/>
          <a:p>
            <a:pPr rtl="0">
              <a:spcBef>
                <a:spcPts val="1400"/>
              </a:spcBef>
              <a:spcAft>
                <a:spcPts val="400"/>
              </a:spcAft>
              <a:buNone/>
            </a:pPr>
            <a:r>
              <a:rPr lang="en-US" sz="3200" b="1" i="0" u="none" strike="noStrike" dirty="0">
                <a:solidFill>
                  <a:srgbClr val="000000"/>
                </a:solidFill>
                <a:effectLst/>
                <a:latin typeface="Arial" panose="020B0604020202020204" pitchFamily="34" charset="0"/>
              </a:rPr>
              <a:t>High‑Level Architecture (Data Engineer View)</a:t>
            </a:r>
            <a:endParaRPr lang="en-US" sz="1600" b="1"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BI Consumption</a:t>
            </a:r>
            <a:endParaRPr lang="en-US" sz="1600" b="0" dirty="0">
              <a:effectLst/>
            </a:endParaRPr>
          </a:p>
          <a:p>
            <a:pPr>
              <a:buNone/>
            </a:pPr>
            <a:br>
              <a:rPr lang="en-US" sz="1600" b="0" dirty="0">
                <a:effectLst/>
              </a:rPr>
            </a:b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Tableau Reporting Layer</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Dashboards: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Customer Closing Balance</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Branch Closing Balance</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Country Transaction Count</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 Customer Average Age</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Storyboards, KPIs, filters, calculated fields</a:t>
            </a:r>
            <a:endParaRPr lang="en-US" sz="1600" b="0" dirty="0">
              <a:effectLst/>
            </a:endParaRPr>
          </a:p>
          <a:p>
            <a:pPr rtl="0">
              <a:buNone/>
            </a:pPr>
            <a:r>
              <a:rPr lang="en-US" sz="2400" b="0" i="0" u="none" strike="noStrike" dirty="0">
                <a:solidFill>
                  <a:srgbClr val="000000"/>
                </a:solidFill>
                <a:effectLst/>
                <a:latin typeface="Arial" panose="020B0604020202020204" pitchFamily="34" charset="0"/>
              </a:rPr>
              <a:t>   --------------------------------------------------------</a:t>
            </a:r>
            <a:endParaRPr lang="en-US" sz="1600" b="0" dirty="0">
              <a:effectLst/>
            </a:endParaRPr>
          </a:p>
          <a:p>
            <a:pPr>
              <a:buNone/>
            </a:pPr>
            <a:br>
              <a:rPr lang="en-US" sz="1600" dirty="0"/>
            </a:br>
            <a:endParaRPr lang="en-IN" dirty="0"/>
          </a:p>
          <a:p>
            <a:endParaRPr lang="en-IN" dirty="0"/>
          </a:p>
        </p:txBody>
      </p:sp>
    </p:spTree>
    <p:extLst>
      <p:ext uri="{BB962C8B-B14F-4D97-AF65-F5344CB8AC3E}">
        <p14:creationId xmlns:p14="http://schemas.microsoft.com/office/powerpoint/2010/main" val="16687431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1730-4C4C-DED6-8CF2-0AA1A1B46819}"/>
              </a:ext>
            </a:extLst>
          </p:cNvPr>
          <p:cNvSpPr>
            <a:spLocks noGrp="1"/>
          </p:cNvSpPr>
          <p:nvPr>
            <p:ph type="title"/>
          </p:nvPr>
        </p:nvSpPr>
        <p:spPr/>
        <p:txBody>
          <a:bodyPr/>
          <a:lstStyle/>
          <a:p>
            <a:r>
              <a:rPr lang="en-IN" dirty="0">
                <a:latin typeface="Arial"/>
                <a:cs typeface="Arial"/>
              </a:rPr>
              <a:t>Key challenges and resolutions - </a:t>
            </a:r>
            <a:r>
              <a:rPr lang="en-IN" dirty="0" err="1">
                <a:latin typeface="Arial"/>
                <a:cs typeface="Arial"/>
              </a:rPr>
              <a:t>i</a:t>
            </a:r>
            <a:endParaRPr lang="en-IN" dirty="0"/>
          </a:p>
        </p:txBody>
      </p:sp>
      <p:sp>
        <p:nvSpPr>
          <p:cNvPr id="3" name="Content Placeholder 2">
            <a:extLst>
              <a:ext uri="{FF2B5EF4-FFF2-40B4-BE49-F238E27FC236}">
                <a16:creationId xmlns:a16="http://schemas.microsoft.com/office/drawing/2014/main" id="{951DF861-C031-409A-1FD9-FAC239C53F78}"/>
              </a:ext>
            </a:extLst>
          </p:cNvPr>
          <p:cNvSpPr>
            <a:spLocks noGrp="1"/>
          </p:cNvSpPr>
          <p:nvPr>
            <p:ph idx="1"/>
          </p:nvPr>
        </p:nvSpPr>
        <p:spPr/>
        <p:txBody>
          <a:bodyPr>
            <a:normAutofit/>
          </a:bodyPr>
          <a:lstStyle/>
          <a:p>
            <a:pPr rtl="0">
              <a:spcBef>
                <a:spcPts val="1400"/>
              </a:spcBef>
              <a:spcAft>
                <a:spcPts val="400"/>
              </a:spcAft>
              <a:buNone/>
            </a:pPr>
            <a:r>
              <a:rPr lang="en-US" sz="1800" b="1" i="0" u="none" strike="noStrike" dirty="0">
                <a:solidFill>
                  <a:srgbClr val="000000"/>
                </a:solidFill>
                <a:effectLst/>
                <a:latin typeface="Arial" panose="020B0604020202020204" pitchFamily="34" charset="0"/>
              </a:rPr>
              <a:t>1. Schema Mismatches Between Files &amp; SQL</a:t>
            </a:r>
            <a:endParaRPr lang="en-US" sz="1800" b="1" dirty="0">
              <a:effectLst/>
            </a:endParaRP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Issue</a:t>
            </a:r>
            <a:r>
              <a:rPr lang="en-US" sz="1800" b="1" i="0" u="none" strike="noStrike" dirty="0">
                <a:solidFill>
                  <a:srgbClr val="000000"/>
                </a:solidFill>
                <a:effectLst/>
                <a:latin typeface="Arial" panose="020B0604020202020204" pitchFamily="34" charset="0"/>
              </a:rPr>
              <a:t>:</a:t>
            </a:r>
            <a:r>
              <a:rPr lang="en-US" sz="1800" b="0" i="0" u="none" strike="noStrike" dirty="0">
                <a:solidFill>
                  <a:srgbClr val="000000"/>
                </a:solidFill>
                <a:effectLst/>
                <a:latin typeface="Arial" panose="020B0604020202020204" pitchFamily="34" charset="0"/>
              </a:rPr>
              <a:t> Column names and data types differed between CSV/XLSX files and SQL schema.</a:t>
            </a: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Resolution: </a:t>
            </a:r>
            <a:r>
              <a:rPr lang="en-US" sz="1800" b="0" i="0" u="none" strike="noStrike" dirty="0">
                <a:solidFill>
                  <a:srgbClr val="000000"/>
                </a:solidFill>
                <a:effectLst/>
                <a:latin typeface="Arial" panose="020B0604020202020204" pitchFamily="34" charset="0"/>
              </a:rPr>
              <a:t>Standardized naming, fixed data types, aligned join keys (</a:t>
            </a:r>
            <a:r>
              <a:rPr lang="en-US" sz="1800" b="0" i="0" u="none" strike="noStrike" dirty="0" err="1">
                <a:solidFill>
                  <a:srgbClr val="000000"/>
                </a:solidFill>
                <a:effectLst/>
                <a:latin typeface="Arial" panose="020B0604020202020204" pitchFamily="34" charset="0"/>
              </a:rPr>
              <a:t>CustomerID</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BranchCode</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CountryID</a:t>
            </a:r>
            <a:r>
              <a:rPr lang="en-US" sz="1800" b="0" i="0" u="none" strike="noStrike" dirty="0">
                <a:solidFill>
                  <a:srgbClr val="000000"/>
                </a:solidFill>
                <a:effectLst/>
                <a:latin typeface="Arial" panose="020B0604020202020204" pitchFamily="34" charset="0"/>
              </a:rPr>
              <a:t>).</a:t>
            </a:r>
            <a:endParaRPr lang="en-US" sz="1800" b="0" dirty="0">
              <a:effectLst/>
            </a:endParaRPr>
          </a:p>
          <a:p>
            <a:pPr rtl="0">
              <a:spcBef>
                <a:spcPts val="1400"/>
              </a:spcBef>
              <a:spcAft>
                <a:spcPts val="400"/>
              </a:spcAft>
              <a:buNone/>
            </a:pPr>
            <a:r>
              <a:rPr lang="en-US" sz="1800" b="1" i="0" u="none" strike="noStrike" dirty="0">
                <a:solidFill>
                  <a:srgbClr val="000000"/>
                </a:solidFill>
                <a:effectLst/>
                <a:latin typeface="Arial" panose="020B0604020202020204" pitchFamily="34" charset="0"/>
              </a:rPr>
              <a:t>2. Data Quality Issues</a:t>
            </a:r>
            <a:endParaRPr lang="en-US" sz="1800" b="1" dirty="0">
              <a:effectLst/>
            </a:endParaRP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Issue: </a:t>
            </a:r>
            <a:r>
              <a:rPr lang="en-US" sz="1800" b="0" i="0" u="none" strike="noStrike" dirty="0">
                <a:solidFill>
                  <a:srgbClr val="000000"/>
                </a:solidFill>
                <a:effectLst/>
                <a:latin typeface="Arial" panose="020B0604020202020204" pitchFamily="34" charset="0"/>
              </a:rPr>
              <a:t>Inconsistent email formats, missing DOB values, duplicate transactions, invalid dates.</a:t>
            </a: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Resolution: </a:t>
            </a:r>
            <a:r>
              <a:rPr lang="en-US" sz="1800" b="0" i="0" u="none" strike="noStrike" dirty="0">
                <a:solidFill>
                  <a:srgbClr val="000000"/>
                </a:solidFill>
                <a:effectLst/>
                <a:latin typeface="Arial" panose="020B0604020202020204" pitchFamily="34" charset="0"/>
              </a:rPr>
              <a:t>Cleaned data in Excel, applied validation rules, removed duplicates, corrected formats.</a:t>
            </a:r>
            <a:endParaRPr lang="en-US" sz="1800" b="0" dirty="0">
              <a:effectLst/>
            </a:endParaRPr>
          </a:p>
          <a:p>
            <a:pPr rtl="0">
              <a:spcBef>
                <a:spcPts val="1400"/>
              </a:spcBef>
              <a:spcAft>
                <a:spcPts val="400"/>
              </a:spcAft>
              <a:buNone/>
            </a:pPr>
            <a:r>
              <a:rPr lang="en-US" sz="1800" b="1" i="0" u="none" strike="noStrike" dirty="0">
                <a:solidFill>
                  <a:srgbClr val="000000"/>
                </a:solidFill>
                <a:effectLst/>
                <a:latin typeface="Arial" panose="020B0604020202020204" pitchFamily="34" charset="0"/>
              </a:rPr>
              <a:t>3. Tableau Join Problems</a:t>
            </a:r>
            <a:endParaRPr lang="en-US" sz="1800" b="1" dirty="0">
              <a:effectLst/>
            </a:endParaRP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Issue: </a:t>
            </a:r>
            <a:r>
              <a:rPr lang="en-US" sz="1800" b="0" i="0" u="none" strike="noStrike" dirty="0">
                <a:solidFill>
                  <a:srgbClr val="000000"/>
                </a:solidFill>
                <a:effectLst/>
                <a:latin typeface="Arial" panose="020B0604020202020204" pitchFamily="34" charset="0"/>
              </a:rPr>
              <a:t>Wrong join types caused inflated or missing values.</a:t>
            </a:r>
          </a:p>
          <a:p>
            <a:pPr rtl="0">
              <a:spcBef>
                <a:spcPts val="1200"/>
              </a:spcBef>
              <a:spcAft>
                <a:spcPts val="1200"/>
              </a:spcAft>
              <a:buNone/>
            </a:pPr>
            <a:r>
              <a:rPr lang="en-US" sz="1800" i="0" u="none" strike="noStrike" dirty="0">
                <a:solidFill>
                  <a:srgbClr val="000000"/>
                </a:solidFill>
                <a:effectLst/>
                <a:latin typeface="Arial" panose="020B0604020202020204" pitchFamily="34" charset="0"/>
              </a:rPr>
              <a:t>Resolution: </a:t>
            </a:r>
            <a:r>
              <a:rPr lang="en-US" sz="1800" b="0" i="0" u="none" strike="noStrike" dirty="0">
                <a:solidFill>
                  <a:srgbClr val="000000"/>
                </a:solidFill>
                <a:effectLst/>
                <a:latin typeface="Arial" panose="020B0604020202020204" pitchFamily="34" charset="0"/>
              </a:rPr>
              <a:t>Rebuilt relationships using correct keys; validated row counts and aggregates.</a:t>
            </a:r>
            <a:endParaRPr lang="en-IN" sz="1800" dirty="0"/>
          </a:p>
        </p:txBody>
      </p:sp>
    </p:spTree>
    <p:extLst>
      <p:ext uri="{BB962C8B-B14F-4D97-AF65-F5344CB8AC3E}">
        <p14:creationId xmlns:p14="http://schemas.microsoft.com/office/powerpoint/2010/main" val="27474424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07E1A-C3C3-3F94-CA38-87D9D0C34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6B140-A6FE-9DD9-DC0E-6F39A9735A15}"/>
              </a:ext>
            </a:extLst>
          </p:cNvPr>
          <p:cNvSpPr>
            <a:spLocks noGrp="1"/>
          </p:cNvSpPr>
          <p:nvPr>
            <p:ph type="title"/>
          </p:nvPr>
        </p:nvSpPr>
        <p:spPr/>
        <p:txBody>
          <a:bodyPr/>
          <a:lstStyle/>
          <a:p>
            <a:r>
              <a:rPr lang="en-IN" dirty="0">
                <a:latin typeface="Arial"/>
                <a:cs typeface="Arial"/>
              </a:rPr>
              <a:t>Key challenges and resolutions - ii</a:t>
            </a:r>
            <a:endParaRPr lang="en-IN" dirty="0"/>
          </a:p>
        </p:txBody>
      </p:sp>
      <p:sp>
        <p:nvSpPr>
          <p:cNvPr id="3" name="Content Placeholder 2">
            <a:extLst>
              <a:ext uri="{FF2B5EF4-FFF2-40B4-BE49-F238E27FC236}">
                <a16:creationId xmlns:a16="http://schemas.microsoft.com/office/drawing/2014/main" id="{075FAAB2-BDB2-88D8-B5D5-283C263CAF1C}"/>
              </a:ext>
            </a:extLst>
          </p:cNvPr>
          <p:cNvSpPr>
            <a:spLocks noGrp="1"/>
          </p:cNvSpPr>
          <p:nvPr>
            <p:ph idx="1"/>
          </p:nvPr>
        </p:nvSpPr>
        <p:spPr/>
        <p:txBody>
          <a:bodyPr>
            <a:normAutofit fontScale="92500"/>
          </a:bodyPr>
          <a:lstStyle/>
          <a:p>
            <a:pPr rtl="0">
              <a:spcBef>
                <a:spcPts val="1400"/>
              </a:spcBef>
              <a:spcAft>
                <a:spcPts val="400"/>
              </a:spcAft>
              <a:buNone/>
            </a:pPr>
            <a:r>
              <a:rPr lang="en-US" sz="2100" b="1" i="0" u="none" strike="noStrike" dirty="0">
                <a:solidFill>
                  <a:srgbClr val="000000"/>
                </a:solidFill>
                <a:effectLst/>
                <a:latin typeface="Arial" panose="020B0604020202020204" pitchFamily="34" charset="0"/>
              </a:rPr>
              <a:t>4. Closing Balance Calculation Errors</a:t>
            </a:r>
            <a:endParaRPr lang="en-US" sz="2100" b="1" dirty="0">
              <a:effectLst/>
            </a:endParaRPr>
          </a:p>
          <a:p>
            <a:pPr rtl="0">
              <a:spcBef>
                <a:spcPts val="1200"/>
              </a:spcBef>
              <a:spcAft>
                <a:spcPts val="1200"/>
              </a:spcAft>
              <a:buNone/>
            </a:pPr>
            <a:r>
              <a:rPr lang="en-US" sz="2100" i="0" u="none" strike="noStrike" dirty="0">
                <a:solidFill>
                  <a:srgbClr val="000000"/>
                </a:solidFill>
                <a:effectLst/>
                <a:latin typeface="Arial" panose="020B0604020202020204" pitchFamily="34" charset="0"/>
              </a:rPr>
              <a:t>Issue: </a:t>
            </a:r>
            <a:r>
              <a:rPr lang="en-US" sz="2100" b="0" i="0" u="none" strike="noStrike" dirty="0">
                <a:solidFill>
                  <a:srgbClr val="000000"/>
                </a:solidFill>
                <a:effectLst/>
                <a:latin typeface="Arial" panose="020B0604020202020204" pitchFamily="34" charset="0"/>
              </a:rPr>
              <a:t>Deposits/withdrawals not aggregating correctly.</a:t>
            </a:r>
          </a:p>
          <a:p>
            <a:pPr rtl="0">
              <a:spcBef>
                <a:spcPts val="1200"/>
              </a:spcBef>
              <a:spcAft>
                <a:spcPts val="1200"/>
              </a:spcAft>
              <a:buNone/>
            </a:pPr>
            <a:r>
              <a:rPr lang="en-US" sz="2100" i="0" u="none" strike="noStrike" dirty="0">
                <a:solidFill>
                  <a:srgbClr val="000000"/>
                </a:solidFill>
                <a:effectLst/>
                <a:latin typeface="Arial" panose="020B0604020202020204" pitchFamily="34" charset="0"/>
              </a:rPr>
              <a:t>Resolution: </a:t>
            </a:r>
            <a:r>
              <a:rPr lang="en-US" sz="2100" b="0" i="0" u="none" strike="noStrike" dirty="0">
                <a:solidFill>
                  <a:srgbClr val="000000"/>
                </a:solidFill>
                <a:effectLst/>
                <a:latin typeface="Arial" panose="020B0604020202020204" pitchFamily="34" charset="0"/>
              </a:rPr>
              <a:t>Created a robust conditional calculated field and validated against sample transactions.</a:t>
            </a:r>
            <a:endParaRPr lang="en-US" sz="2100" b="0" dirty="0">
              <a:effectLst/>
            </a:endParaRPr>
          </a:p>
          <a:p>
            <a:pPr rtl="0">
              <a:spcBef>
                <a:spcPts val="1400"/>
              </a:spcBef>
              <a:spcAft>
                <a:spcPts val="400"/>
              </a:spcAft>
              <a:buNone/>
            </a:pPr>
            <a:r>
              <a:rPr lang="en-US" sz="2100" b="1" i="0" u="none" strike="noStrike" dirty="0">
                <a:solidFill>
                  <a:srgbClr val="000000"/>
                </a:solidFill>
                <a:effectLst/>
                <a:latin typeface="Arial" panose="020B0604020202020204" pitchFamily="34" charset="0"/>
              </a:rPr>
              <a:t>5. Performance Bottlenecks</a:t>
            </a:r>
            <a:endParaRPr lang="en-US" sz="2100" b="1" dirty="0">
              <a:effectLst/>
            </a:endParaRPr>
          </a:p>
          <a:p>
            <a:pPr rtl="0">
              <a:spcBef>
                <a:spcPts val="1200"/>
              </a:spcBef>
              <a:spcAft>
                <a:spcPts val="1200"/>
              </a:spcAft>
              <a:buNone/>
            </a:pPr>
            <a:r>
              <a:rPr lang="en-US" sz="2100" i="0" u="none" strike="noStrike" dirty="0">
                <a:solidFill>
                  <a:srgbClr val="000000"/>
                </a:solidFill>
                <a:effectLst/>
                <a:latin typeface="Arial" panose="020B0604020202020204" pitchFamily="34" charset="0"/>
              </a:rPr>
              <a:t>Issue: </a:t>
            </a:r>
            <a:r>
              <a:rPr lang="en-US" sz="2100" b="0" i="0" u="none" strike="noStrike" dirty="0">
                <a:solidFill>
                  <a:srgbClr val="000000"/>
                </a:solidFill>
                <a:effectLst/>
                <a:latin typeface="Arial" panose="020B0604020202020204" pitchFamily="34" charset="0"/>
              </a:rPr>
              <a:t>Tableau dashboards slow due to large transaction data.</a:t>
            </a:r>
          </a:p>
          <a:p>
            <a:pPr rtl="0">
              <a:spcBef>
                <a:spcPts val="1200"/>
              </a:spcBef>
              <a:spcAft>
                <a:spcPts val="1200"/>
              </a:spcAft>
              <a:buNone/>
            </a:pPr>
            <a:r>
              <a:rPr lang="en-US" sz="2100" i="0" u="none" strike="noStrike" dirty="0">
                <a:solidFill>
                  <a:srgbClr val="000000"/>
                </a:solidFill>
                <a:effectLst/>
                <a:latin typeface="Arial" panose="020B0604020202020204" pitchFamily="34" charset="0"/>
              </a:rPr>
              <a:t>Resolution: </a:t>
            </a:r>
            <a:r>
              <a:rPr lang="en-US" sz="2100" b="0" i="0" u="none" strike="noStrike" dirty="0">
                <a:solidFill>
                  <a:srgbClr val="000000"/>
                </a:solidFill>
                <a:effectLst/>
                <a:latin typeface="Arial" panose="020B0604020202020204" pitchFamily="34" charset="0"/>
              </a:rPr>
              <a:t>Used extracts, removed unused fields, optimized filters, and aggregated data.</a:t>
            </a:r>
            <a:endParaRPr lang="en-US" sz="2100" b="0" dirty="0">
              <a:effectLst/>
            </a:endParaRPr>
          </a:p>
          <a:p>
            <a:pPr rtl="0">
              <a:spcBef>
                <a:spcPts val="1400"/>
              </a:spcBef>
              <a:spcAft>
                <a:spcPts val="400"/>
              </a:spcAft>
              <a:buNone/>
            </a:pPr>
            <a:r>
              <a:rPr lang="en-US" sz="2100" b="1" i="0" u="none" strike="noStrike" dirty="0">
                <a:solidFill>
                  <a:srgbClr val="000000"/>
                </a:solidFill>
                <a:effectLst/>
                <a:latin typeface="Arial" panose="020B0604020202020204" pitchFamily="34" charset="0"/>
              </a:rPr>
              <a:t>6. Security &amp; RBAC Gaps</a:t>
            </a:r>
            <a:endParaRPr lang="en-US" sz="2100" b="1" dirty="0">
              <a:effectLst/>
            </a:endParaRPr>
          </a:p>
          <a:p>
            <a:pPr>
              <a:buNone/>
            </a:pPr>
            <a:r>
              <a:rPr lang="en-US" sz="2100" i="0" u="none" strike="noStrike" dirty="0">
                <a:solidFill>
                  <a:srgbClr val="000000"/>
                </a:solidFill>
                <a:effectLst/>
                <a:latin typeface="Arial" panose="020B0604020202020204" pitchFamily="34" charset="0"/>
              </a:rPr>
              <a:t>Issue: </a:t>
            </a:r>
            <a:r>
              <a:rPr lang="en-US" sz="2100" b="0" i="0" u="none" strike="noStrike" dirty="0" err="1">
                <a:solidFill>
                  <a:srgbClr val="000000"/>
                </a:solidFill>
                <a:effectLst/>
                <a:latin typeface="Arial" panose="020B0604020202020204" pitchFamily="34" charset="0"/>
              </a:rPr>
              <a:t>fin_manager</a:t>
            </a:r>
            <a:r>
              <a:rPr lang="en-US" sz="2100" b="0" i="0" u="none" strike="noStrike" dirty="0">
                <a:solidFill>
                  <a:srgbClr val="000000"/>
                </a:solidFill>
                <a:effectLst/>
                <a:latin typeface="Arial" panose="020B0604020202020204" pitchFamily="34" charset="0"/>
              </a:rPr>
              <a:t> role lacked clear permissions.</a:t>
            </a:r>
          </a:p>
          <a:p>
            <a:pPr>
              <a:buNone/>
            </a:pPr>
            <a:r>
              <a:rPr lang="en-US" sz="2100" i="0" u="none" strike="noStrike" dirty="0">
                <a:solidFill>
                  <a:srgbClr val="000000"/>
                </a:solidFill>
                <a:effectLst/>
                <a:latin typeface="Arial" panose="020B0604020202020204" pitchFamily="34" charset="0"/>
              </a:rPr>
              <a:t>Resolution: </a:t>
            </a:r>
            <a:r>
              <a:rPr lang="en-US" sz="2100" b="0" i="0" u="none" strike="noStrike" dirty="0">
                <a:solidFill>
                  <a:srgbClr val="000000"/>
                </a:solidFill>
                <a:effectLst/>
                <a:latin typeface="Arial" panose="020B0604020202020204" pitchFamily="34" charset="0"/>
              </a:rPr>
              <a:t>Defined RBAC, restricted sensitive columns, assigned table‑specific privileges.</a:t>
            </a:r>
            <a:endParaRPr lang="en-IN" sz="2100" dirty="0"/>
          </a:p>
          <a:p>
            <a:endParaRPr lang="en-IN" dirty="0"/>
          </a:p>
        </p:txBody>
      </p:sp>
    </p:spTree>
    <p:extLst>
      <p:ext uri="{BB962C8B-B14F-4D97-AF65-F5344CB8AC3E}">
        <p14:creationId xmlns:p14="http://schemas.microsoft.com/office/powerpoint/2010/main" val="17360097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1071995" y="2216728"/>
            <a:ext cx="10048010" cy="1665291"/>
          </a:xfrm>
        </p:spPr>
        <p:txBody>
          <a:bodyPr>
            <a:normAutofit fontScale="90000"/>
          </a:bodyPr>
          <a:lstStyle/>
          <a:p>
            <a:pPr algn="ctr"/>
            <a:r>
              <a:rPr lang="en-US" dirty="0"/>
              <a:t>Insights and recommendations</a:t>
            </a:r>
          </a:p>
        </p:txBody>
      </p:sp>
    </p:spTree>
    <p:extLst>
      <p:ext uri="{BB962C8B-B14F-4D97-AF65-F5344CB8AC3E}">
        <p14:creationId xmlns:p14="http://schemas.microsoft.com/office/powerpoint/2010/main" val="35840449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Insights and recommendations - </a:t>
            </a:r>
            <a:r>
              <a:rPr lang="en-US" dirty="0" err="1"/>
              <a:t>i</a:t>
            </a:r>
            <a:endParaRPr lang="en-US" dirty="0"/>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a:bodyPr>
          <a:lstStyle/>
          <a:p>
            <a:pPr rtl="0">
              <a:spcBef>
                <a:spcPts val="1400"/>
              </a:spcBef>
              <a:spcAft>
                <a:spcPts val="400"/>
              </a:spcAft>
              <a:buNone/>
            </a:pPr>
            <a:r>
              <a:rPr lang="en-US" sz="3200" b="1" i="0" u="none" strike="noStrike" dirty="0">
                <a:solidFill>
                  <a:srgbClr val="000000"/>
                </a:solidFill>
                <a:effectLst/>
                <a:latin typeface="Arial" panose="020B0604020202020204" pitchFamily="34" charset="0"/>
              </a:rPr>
              <a:t>1. Data Quality Drives Everything</a:t>
            </a:r>
            <a:endParaRPr lang="en-US" sz="1600" b="1" dirty="0">
              <a:effectLst/>
            </a:endParaRPr>
          </a:p>
          <a:p>
            <a:pPr marL="0" indent="0" rtl="0">
              <a:spcBef>
                <a:spcPts val="1200"/>
              </a:spcBef>
              <a:spcAft>
                <a:spcPts val="1200"/>
              </a:spcAft>
              <a:buNone/>
            </a:pPr>
            <a:r>
              <a:rPr lang="en-US" sz="2400" b="0" i="0" u="none" strike="noStrike" dirty="0" err="1">
                <a:solidFill>
                  <a:srgbClr val="000000"/>
                </a:solidFill>
                <a:effectLst/>
                <a:latin typeface="Arial" panose="020B0604020202020204" pitchFamily="34" charset="0"/>
              </a:rPr>
              <a:t>FinPro’s</a:t>
            </a:r>
            <a:r>
              <a:rPr lang="en-US" sz="2400" b="0" i="0" u="none" strike="noStrike" dirty="0">
                <a:solidFill>
                  <a:srgbClr val="000000"/>
                </a:solidFill>
                <a:effectLst/>
                <a:latin typeface="Arial" panose="020B0604020202020204" pitchFamily="34" charset="0"/>
              </a:rPr>
              <a:t> source files (Customer, Transactions, Branches, Countries, Account Types, US Cities) required extensive cleaning — inconsistent emails, mismatched IDs, missing DOBs, and duplicate transactions. These issues directly affected SQL joins, OLAP aggregations, and Tableau dashboards.</a:t>
            </a:r>
          </a:p>
          <a:p>
            <a:pPr rtl="0">
              <a:spcBef>
                <a:spcPts val="1200"/>
              </a:spcBef>
              <a:spcAft>
                <a:spcPts val="1200"/>
              </a:spcAft>
              <a:buNone/>
            </a:pPr>
            <a:r>
              <a:rPr lang="en-US" sz="2400" b="1" i="0" u="none" strike="noStrike" dirty="0">
                <a:solidFill>
                  <a:srgbClr val="000000"/>
                </a:solidFill>
                <a:effectLst/>
                <a:latin typeface="Arial" panose="020B0604020202020204" pitchFamily="34" charset="0"/>
              </a:rPr>
              <a:t>Recommendation:</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Establish a repeatable data‑quality routine: validate schemas, standardize formats, enforce PK/FK relationships, and run duplicate checks before loading data into SQL or Tableau.</a:t>
            </a:r>
            <a:endParaRPr lang="en-IN" sz="1800" kern="100" dirty="0">
              <a:solidFill>
                <a:srgbClr val="000000"/>
              </a:solidFill>
              <a:ea typeface="Helvetica Neue" panose="02000503000000020004" pitchFamily="2" charset="0"/>
            </a:endParaRPr>
          </a:p>
        </p:txBody>
      </p:sp>
    </p:spTree>
    <p:extLst>
      <p:ext uri="{BB962C8B-B14F-4D97-AF65-F5344CB8AC3E}">
        <p14:creationId xmlns:p14="http://schemas.microsoft.com/office/powerpoint/2010/main" val="29715156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E96F-85DB-FC42-B78B-67D0D1E396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89AF16-A7DD-EE35-AA7F-D984A4215616}"/>
              </a:ext>
            </a:extLst>
          </p:cNvPr>
          <p:cNvSpPr>
            <a:spLocks noGrp="1"/>
          </p:cNvSpPr>
          <p:nvPr>
            <p:ph type="title"/>
          </p:nvPr>
        </p:nvSpPr>
        <p:spPr/>
        <p:txBody>
          <a:bodyPr/>
          <a:lstStyle/>
          <a:p>
            <a:r>
              <a:rPr lang="en-US" dirty="0"/>
              <a:t>Insights and recommendations - ii</a:t>
            </a:r>
          </a:p>
        </p:txBody>
      </p:sp>
      <p:sp>
        <p:nvSpPr>
          <p:cNvPr id="5" name="Content Placeholder 4">
            <a:extLst>
              <a:ext uri="{FF2B5EF4-FFF2-40B4-BE49-F238E27FC236}">
                <a16:creationId xmlns:a16="http://schemas.microsoft.com/office/drawing/2014/main" id="{2C39E737-E6A8-4D64-11B3-BCED813A1A24}"/>
              </a:ext>
            </a:extLst>
          </p:cNvPr>
          <p:cNvSpPr>
            <a:spLocks noGrp="1"/>
          </p:cNvSpPr>
          <p:nvPr>
            <p:ph idx="1"/>
          </p:nvPr>
        </p:nvSpPr>
        <p:spPr/>
        <p:txBody>
          <a:bodyPr vert="horz" lIns="91440" tIns="45720" rIns="91440" bIns="45720" rtlCol="0">
            <a:normAutofit/>
          </a:bodyPr>
          <a:lstStyle/>
          <a:p>
            <a:pPr rtl="0">
              <a:spcBef>
                <a:spcPts val="1400"/>
              </a:spcBef>
              <a:spcAft>
                <a:spcPts val="400"/>
              </a:spcAft>
              <a:buNone/>
            </a:pPr>
            <a:r>
              <a:rPr lang="en-US" sz="2200" b="1" i="0" u="none" strike="noStrike" dirty="0">
                <a:solidFill>
                  <a:srgbClr val="000000"/>
                </a:solidFill>
                <a:effectLst/>
                <a:latin typeface="Arial" panose="020B0604020202020204" pitchFamily="34" charset="0"/>
              </a:rPr>
              <a:t>2. Maintain a Clear OLTP → OLAP → Tableau Pipeline</a:t>
            </a:r>
            <a:endParaRPr lang="en-US" sz="2200" b="1" dirty="0">
              <a:effectLst/>
            </a:endParaRPr>
          </a:p>
          <a:p>
            <a:pPr rtl="0">
              <a:spcBef>
                <a:spcPts val="1200"/>
              </a:spcBef>
              <a:spcAft>
                <a:spcPts val="1200"/>
              </a:spcAft>
              <a:buNone/>
            </a:pPr>
            <a:r>
              <a:rPr lang="en-US" sz="2400" b="0" i="0" u="none" strike="noStrike" dirty="0">
                <a:solidFill>
                  <a:srgbClr val="000000"/>
                </a:solidFill>
                <a:effectLst/>
                <a:latin typeface="Arial" panose="020B0604020202020204" pitchFamily="34" charset="0"/>
              </a:rPr>
              <a:t>The project relies on a structured flow:</a:t>
            </a:r>
            <a:br>
              <a:rPr lang="en-US" sz="2400" b="0" i="0" u="none" strike="noStrike" dirty="0">
                <a:solidFill>
                  <a:srgbClr val="000000"/>
                </a:solidFill>
                <a:effectLst/>
                <a:latin typeface="Arial" panose="020B0604020202020204" pitchFamily="34" charset="0"/>
              </a:rPr>
            </a:br>
            <a:r>
              <a:rPr lang="en-US" sz="2400" b="1" i="0" u="none" strike="noStrike" dirty="0">
                <a:solidFill>
                  <a:srgbClr val="000000"/>
                </a:solidFill>
                <a:effectLst/>
                <a:latin typeface="Arial" panose="020B0604020202020204" pitchFamily="34" charset="0"/>
              </a:rPr>
              <a:t>Source Files → SQL OLTP → SQL OLAP → Tableau Dashboards</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Your closing balance logic, ROLLUP/CUBE queries, and Tableau calculated fields all depend on consistent join keys and clean transformations.</a:t>
            </a:r>
          </a:p>
          <a:p>
            <a:pPr rtl="0">
              <a:spcBef>
                <a:spcPts val="1200"/>
              </a:spcBef>
              <a:spcAft>
                <a:spcPts val="1200"/>
              </a:spcAft>
              <a:buNone/>
            </a:pPr>
            <a:r>
              <a:rPr lang="en-US" sz="2200" b="1" i="0" u="none" strike="noStrike" dirty="0">
                <a:solidFill>
                  <a:srgbClr val="000000"/>
                </a:solidFill>
                <a:effectLst/>
                <a:latin typeface="Arial" panose="020B0604020202020204" pitchFamily="34" charset="0"/>
              </a:rPr>
              <a:t>Recommendation:</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Document the integration logic, especially how closing balance is calculated, how OLAP outputs feed Tableau, and how relationships are defined. This prevents breakage when new data arrives or schemas evolve.</a:t>
            </a:r>
            <a:endParaRPr lang="en-IN" sz="1800" kern="100" dirty="0">
              <a:solidFill>
                <a:srgbClr val="000000"/>
              </a:solidFill>
              <a:ea typeface="Helvetica Neue" panose="02000503000000020004" pitchFamily="2" charset="0"/>
            </a:endParaRPr>
          </a:p>
        </p:txBody>
      </p:sp>
    </p:spTree>
    <p:extLst>
      <p:ext uri="{BB962C8B-B14F-4D97-AF65-F5344CB8AC3E}">
        <p14:creationId xmlns:p14="http://schemas.microsoft.com/office/powerpoint/2010/main" val="19455808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87A66-67D4-7EC6-F9DA-2F3D166122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AC416F-7AEE-4C91-EA94-77DE42E74102}"/>
              </a:ext>
            </a:extLst>
          </p:cNvPr>
          <p:cNvSpPr>
            <a:spLocks noGrp="1"/>
          </p:cNvSpPr>
          <p:nvPr>
            <p:ph type="title"/>
          </p:nvPr>
        </p:nvSpPr>
        <p:spPr/>
        <p:txBody>
          <a:bodyPr/>
          <a:lstStyle/>
          <a:p>
            <a:r>
              <a:rPr lang="en-US" dirty="0"/>
              <a:t>Insights and recommendations - iii</a:t>
            </a:r>
          </a:p>
        </p:txBody>
      </p:sp>
      <p:sp>
        <p:nvSpPr>
          <p:cNvPr id="5" name="Content Placeholder 4">
            <a:extLst>
              <a:ext uri="{FF2B5EF4-FFF2-40B4-BE49-F238E27FC236}">
                <a16:creationId xmlns:a16="http://schemas.microsoft.com/office/drawing/2014/main" id="{3F17D740-2047-DBF8-7208-3BAA6C309CD8}"/>
              </a:ext>
            </a:extLst>
          </p:cNvPr>
          <p:cNvSpPr>
            <a:spLocks noGrp="1"/>
          </p:cNvSpPr>
          <p:nvPr>
            <p:ph idx="1"/>
          </p:nvPr>
        </p:nvSpPr>
        <p:spPr/>
        <p:txBody>
          <a:bodyPr vert="horz" lIns="91440" tIns="45720" rIns="91440" bIns="45720" rtlCol="0">
            <a:normAutofit/>
          </a:bodyPr>
          <a:lstStyle/>
          <a:p>
            <a:pPr rtl="0">
              <a:spcBef>
                <a:spcPts val="1400"/>
              </a:spcBef>
              <a:spcAft>
                <a:spcPts val="400"/>
              </a:spcAft>
              <a:buNone/>
            </a:pPr>
            <a:r>
              <a:rPr lang="en-US" sz="2200" b="1" i="0" u="none" strike="noStrike" dirty="0">
                <a:solidFill>
                  <a:srgbClr val="000000"/>
                </a:solidFill>
                <a:effectLst/>
                <a:latin typeface="Arial" panose="020B0604020202020204" pitchFamily="34" charset="0"/>
              </a:rPr>
              <a:t>3. Strengthen Security &amp; Governance Early</a:t>
            </a:r>
            <a:endParaRPr lang="en-US" sz="2200" b="1" dirty="0">
              <a:effectLst/>
            </a:endParaRPr>
          </a:p>
          <a:p>
            <a:pPr indent="0">
              <a:buNone/>
            </a:pPr>
            <a:r>
              <a:rPr lang="en-US" sz="2400" b="0" i="0" u="none" strike="noStrike" dirty="0">
                <a:solidFill>
                  <a:srgbClr val="000000"/>
                </a:solidFill>
                <a:effectLst/>
                <a:latin typeface="Arial" panose="020B0604020202020204" pitchFamily="34" charset="0"/>
              </a:rPr>
              <a:t>The </a:t>
            </a:r>
            <a:r>
              <a:rPr lang="en-US" sz="2400" b="0" i="0" u="none" strike="noStrike" dirty="0" err="1">
                <a:solidFill>
                  <a:srgbClr val="000000"/>
                </a:solidFill>
                <a:effectLst/>
                <a:latin typeface="Arial" panose="020B0604020202020204" pitchFamily="34" charset="0"/>
              </a:rPr>
              <a:t>fin_manager</a:t>
            </a:r>
            <a:r>
              <a:rPr lang="en-US" sz="2400" b="0" i="0" u="none" strike="noStrike" dirty="0">
                <a:solidFill>
                  <a:srgbClr val="000000"/>
                </a:solidFill>
                <a:effectLst/>
                <a:latin typeface="Arial" panose="020B0604020202020204" pitchFamily="34" charset="0"/>
              </a:rPr>
              <a:t> role required careful RBAC design, column‑level encryption guidelines, and table‑specific privileges. These controls protect sensitive customer data and ensure compliance.</a:t>
            </a:r>
          </a:p>
          <a:p>
            <a:pPr>
              <a:buNone/>
            </a:pPr>
            <a:r>
              <a:rPr lang="en-US" sz="2200" b="1" i="0" u="none" strike="noStrike" dirty="0">
                <a:solidFill>
                  <a:srgbClr val="000000"/>
                </a:solidFill>
                <a:effectLst/>
                <a:latin typeface="Arial" panose="020B0604020202020204" pitchFamily="34" charset="0"/>
              </a:rPr>
              <a:t>Recommendation:</a:t>
            </a:r>
            <a:br>
              <a:rPr lang="en-US" sz="2400" b="1" i="0" u="none" strike="noStrike" dirty="0">
                <a:solidFill>
                  <a:srgbClr val="000000"/>
                </a:solidFill>
                <a:effectLst/>
                <a:latin typeface="Arial" panose="020B0604020202020204" pitchFamily="34" charset="0"/>
              </a:rPr>
            </a:br>
            <a:r>
              <a:rPr lang="en-US" sz="2400" b="0" i="0" u="none" strike="noStrike" dirty="0">
                <a:solidFill>
                  <a:srgbClr val="000000"/>
                </a:solidFill>
                <a:effectLst/>
                <a:latin typeface="Arial" panose="020B0604020202020204" pitchFamily="34" charset="0"/>
              </a:rPr>
              <a:t>Maintain a security playbook: define roles, restrict sensitive columns, outline encryption steps, and validate permissions regularly. This ensures safe, auditable access as the system grows.</a:t>
            </a:r>
            <a:endParaRPr lang="en-IN" dirty="0"/>
          </a:p>
          <a:p>
            <a:pPr marL="342900" indent="-342900">
              <a:lnSpc>
                <a:spcPct val="115000"/>
              </a:lnSpc>
              <a:buFont typeface="Symbol" pitchFamily="2" charset="2"/>
              <a:buChar char="·"/>
            </a:pPr>
            <a:endParaRPr lang="en-IN" sz="1800" kern="100" dirty="0">
              <a:solidFill>
                <a:srgbClr val="000000"/>
              </a:solidFill>
              <a:ea typeface="Helvetica Neue" panose="02000503000000020004" pitchFamily="2" charset="0"/>
            </a:endParaRPr>
          </a:p>
        </p:txBody>
      </p:sp>
    </p:spTree>
    <p:extLst>
      <p:ext uri="{BB962C8B-B14F-4D97-AF65-F5344CB8AC3E}">
        <p14:creationId xmlns:p14="http://schemas.microsoft.com/office/powerpoint/2010/main" val="20059261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Summary</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fontScale="40000" lnSpcReduction="20000"/>
          </a:bodyPr>
          <a:lstStyle/>
          <a:p>
            <a:pPr rtl="0">
              <a:spcBef>
                <a:spcPts val="1400"/>
              </a:spcBef>
              <a:spcAft>
                <a:spcPts val="400"/>
              </a:spcAft>
              <a:buNone/>
            </a:pPr>
            <a:r>
              <a:rPr lang="en-US" sz="4000" b="1" i="0" u="none" strike="noStrike" dirty="0">
                <a:solidFill>
                  <a:srgbClr val="000000"/>
                </a:solidFill>
                <a:effectLst/>
                <a:latin typeface="Arial" panose="020B0604020202020204" pitchFamily="34" charset="0"/>
              </a:rPr>
              <a:t>End‑to‑End Data Management for </a:t>
            </a:r>
            <a:r>
              <a:rPr lang="en-US" sz="4000" b="1" i="0" u="none" strike="noStrike" dirty="0" err="1">
                <a:solidFill>
                  <a:srgbClr val="000000"/>
                </a:solidFill>
                <a:effectLst/>
                <a:latin typeface="Arial" panose="020B0604020202020204" pitchFamily="34" charset="0"/>
              </a:rPr>
              <a:t>FinPro</a:t>
            </a:r>
            <a:r>
              <a:rPr lang="en-US" sz="4000" b="1" i="0" u="none" strike="noStrike" dirty="0">
                <a:solidFill>
                  <a:srgbClr val="000000"/>
                </a:solidFill>
                <a:effectLst/>
                <a:latin typeface="Arial" panose="020B0604020202020204" pitchFamily="34" charset="0"/>
              </a:rPr>
              <a:t> Bank</a:t>
            </a:r>
            <a:endParaRPr lang="en-US" sz="2400" b="1" dirty="0">
              <a:effectLst/>
            </a:endParaRPr>
          </a:p>
          <a:p>
            <a:pPr marL="0" rtl="0">
              <a:spcBef>
                <a:spcPts val="1200"/>
              </a:spcBef>
              <a:spcAft>
                <a:spcPts val="1200"/>
              </a:spcAft>
              <a:buNone/>
            </a:pPr>
            <a:r>
              <a:rPr lang="en-US" sz="3200" b="0" i="0" u="none" strike="noStrike" dirty="0">
                <a:solidFill>
                  <a:srgbClr val="000000"/>
                </a:solidFill>
                <a:effectLst/>
                <a:latin typeface="Arial" panose="020B0604020202020204" pitchFamily="34" charset="0"/>
              </a:rPr>
              <a:t>This capstone project demonstrated how a modern data pipeline transforms fragmented financial data into reliable, secure, and actionable insights. Through hands‑on work across Excel, SQL, OLTP, OLAP, security, governance, and Tableau, the project showcased the full lifecycle of data management in a banking environment.</a:t>
            </a:r>
            <a:endParaRPr lang="en-US" sz="2400" b="0" dirty="0">
              <a:effectLst/>
            </a:endParaRP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What the Project Achieved</a:t>
            </a:r>
            <a:endParaRPr lang="en-US" sz="2400" b="1" dirty="0">
              <a:effectLst/>
            </a:endParaRPr>
          </a:p>
          <a:p>
            <a:pPr rtl="0" fontAlgn="base">
              <a:spcBef>
                <a:spcPts val="1200"/>
              </a:spcBef>
              <a:buFont typeface="Arial" panose="020B0604020202020204" pitchFamily="34" charset="0"/>
              <a:buChar char="•"/>
            </a:pPr>
            <a:r>
              <a:rPr lang="en-US" sz="3200" i="0" u="none" strike="noStrike" dirty="0">
                <a:solidFill>
                  <a:srgbClr val="000000"/>
                </a:solidFill>
                <a:effectLst/>
                <a:latin typeface="Arial" panose="020B0604020202020204" pitchFamily="34" charset="0"/>
              </a:rPr>
              <a:t>Cleaned and standardized raw data from multiple CSV/XLSX sources.</a:t>
            </a:r>
          </a:p>
          <a:p>
            <a:pPr rtl="0" fontAlgn="base">
              <a:buFont typeface="Arial" panose="020B0604020202020204" pitchFamily="34" charset="0"/>
              <a:buChar char="•"/>
            </a:pPr>
            <a:r>
              <a:rPr lang="en-US" sz="3200" i="0" u="none" strike="noStrike" dirty="0">
                <a:solidFill>
                  <a:srgbClr val="000000"/>
                </a:solidFill>
                <a:effectLst/>
                <a:latin typeface="Arial" panose="020B0604020202020204" pitchFamily="34" charset="0"/>
              </a:rPr>
              <a:t>Built OLTP structures and validated operational data using SQL.</a:t>
            </a:r>
          </a:p>
          <a:p>
            <a:pPr rtl="0" fontAlgn="base">
              <a:buFont typeface="Arial" panose="020B0604020202020204" pitchFamily="34" charset="0"/>
              <a:buChar char="•"/>
            </a:pPr>
            <a:r>
              <a:rPr lang="en-US" sz="3200" i="0" u="none" strike="noStrike" dirty="0">
                <a:solidFill>
                  <a:srgbClr val="000000"/>
                </a:solidFill>
                <a:effectLst/>
                <a:latin typeface="Arial" panose="020B0604020202020204" pitchFamily="34" charset="0"/>
              </a:rPr>
              <a:t>Designed an OLAP warehouse with rollups, cubes, and materialized views.</a:t>
            </a:r>
          </a:p>
          <a:p>
            <a:pPr rtl="0" fontAlgn="base">
              <a:buFont typeface="Arial" panose="020B0604020202020204" pitchFamily="34" charset="0"/>
              <a:buChar char="•"/>
            </a:pPr>
            <a:r>
              <a:rPr lang="en-US" sz="3200" i="0" u="none" strike="noStrike" dirty="0">
                <a:solidFill>
                  <a:srgbClr val="000000"/>
                </a:solidFill>
                <a:effectLst/>
                <a:latin typeface="Arial" panose="020B0604020202020204" pitchFamily="34" charset="0"/>
              </a:rPr>
              <a:t>Integrated data across all layers, ensuring consistency from source files to analytics.</a:t>
            </a:r>
          </a:p>
          <a:p>
            <a:pPr rtl="0" fontAlgn="base">
              <a:buFont typeface="Arial" panose="020B0604020202020204" pitchFamily="34" charset="0"/>
              <a:buChar char="•"/>
            </a:pPr>
            <a:r>
              <a:rPr lang="en-US" sz="3200" i="0" u="none" strike="noStrike" dirty="0">
                <a:solidFill>
                  <a:srgbClr val="000000"/>
                </a:solidFill>
                <a:effectLst/>
                <a:latin typeface="Arial" panose="020B0604020202020204" pitchFamily="34" charset="0"/>
              </a:rPr>
              <a:t>Implemented security and governance, including RBAC, encryption guidance, and controlled privileges.</a:t>
            </a:r>
          </a:p>
          <a:p>
            <a:pPr rtl="0" fontAlgn="base">
              <a:spcAft>
                <a:spcPts val="1200"/>
              </a:spcAft>
              <a:buFont typeface="Arial" panose="020B0604020202020204" pitchFamily="34" charset="0"/>
              <a:buChar char="•"/>
            </a:pPr>
            <a:r>
              <a:rPr lang="en-US" sz="3200" i="0" u="none" strike="noStrike" dirty="0">
                <a:solidFill>
                  <a:srgbClr val="000000"/>
                </a:solidFill>
                <a:effectLst/>
                <a:latin typeface="Arial" panose="020B0604020202020204" pitchFamily="34" charset="0"/>
              </a:rPr>
              <a:t>Delivered Tableau dashboards and stories that provide clear insights into customers, branches, transactions, and demographics.</a:t>
            </a:r>
          </a:p>
          <a:p>
            <a:pPr rtl="0">
              <a:spcBef>
                <a:spcPts val="1400"/>
              </a:spcBef>
              <a:spcAft>
                <a:spcPts val="400"/>
              </a:spcAft>
              <a:buNone/>
            </a:pPr>
            <a:r>
              <a:rPr lang="en-US" sz="4000" b="1" i="0" u="none" strike="noStrike" dirty="0">
                <a:solidFill>
                  <a:srgbClr val="000000"/>
                </a:solidFill>
                <a:effectLst/>
                <a:latin typeface="Arial" panose="020B0604020202020204" pitchFamily="34" charset="0"/>
              </a:rPr>
              <a:t>Overall Impact</a:t>
            </a:r>
            <a:endParaRPr lang="en-US" sz="2400" b="1" dirty="0">
              <a:effectLst/>
            </a:endParaRPr>
          </a:p>
          <a:p>
            <a:pPr marL="0" rtl="0">
              <a:spcBef>
                <a:spcPts val="1200"/>
              </a:spcBef>
              <a:spcAft>
                <a:spcPts val="1200"/>
              </a:spcAft>
              <a:buNone/>
            </a:pPr>
            <a:r>
              <a:rPr lang="en-US" sz="3200" b="0" i="0" u="none" strike="noStrike" dirty="0">
                <a:solidFill>
                  <a:srgbClr val="000000"/>
                </a:solidFill>
                <a:effectLst/>
                <a:latin typeface="Arial" panose="020B0604020202020204" pitchFamily="34" charset="0"/>
              </a:rPr>
              <a:t>The project delivered a complete, secure, and analytics‑ready data ecosystem — enabling </a:t>
            </a:r>
            <a:r>
              <a:rPr lang="en-US" sz="3200" b="0" i="0" u="none" strike="noStrike" dirty="0" err="1">
                <a:solidFill>
                  <a:srgbClr val="000000"/>
                </a:solidFill>
                <a:effectLst/>
                <a:latin typeface="Arial" panose="020B0604020202020204" pitchFamily="34" charset="0"/>
              </a:rPr>
              <a:t>FinPro</a:t>
            </a:r>
            <a:r>
              <a:rPr lang="en-US" sz="3200" b="0" i="0" u="none" strike="noStrike" dirty="0">
                <a:solidFill>
                  <a:srgbClr val="000000"/>
                </a:solidFill>
                <a:effectLst/>
                <a:latin typeface="Arial" panose="020B0604020202020204" pitchFamily="34" charset="0"/>
              </a:rPr>
              <a:t> Bank to make faster, data‑driven decisions and demonstrating the full skill set of a modern Data Manager.</a:t>
            </a:r>
            <a:endParaRPr lang="en-US" sz="2400" b="0" dirty="0">
              <a:effectLst/>
            </a:endParaRPr>
          </a:p>
          <a:p>
            <a:pPr>
              <a:buNone/>
            </a:pPr>
            <a:br>
              <a:rPr lang="en-US" sz="2400" dirty="0"/>
            </a:b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030563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FFDDC-01E6-5016-000F-0899E7F93B20}"/>
              </a:ext>
            </a:extLst>
          </p:cNvPr>
          <p:cNvSpPr>
            <a:spLocks noGrp="1"/>
          </p:cNvSpPr>
          <p:nvPr>
            <p:ph type="title"/>
          </p:nvPr>
        </p:nvSpPr>
        <p:spPr>
          <a:xfrm>
            <a:off x="838200" y="2193064"/>
            <a:ext cx="10515599" cy="2852737"/>
          </a:xfrm>
        </p:spPr>
        <p:txBody>
          <a:bodyPr/>
          <a:lstStyle/>
          <a:p>
            <a:pPr algn="ctr"/>
            <a:r>
              <a:rPr lang="en-US" dirty="0"/>
              <a:t>Appendix</a:t>
            </a:r>
          </a:p>
        </p:txBody>
      </p:sp>
      <p:pic>
        <p:nvPicPr>
          <p:cNvPr id="10242" name="Picture 2" descr="Attached document paper outline icon. linear style sign for mobile concept and web design. Report simple line vector icon. Symbol, logo illustration. Pixel perfect vector graphics">
            <a:extLst>
              <a:ext uri="{FF2B5EF4-FFF2-40B4-BE49-F238E27FC236}">
                <a16:creationId xmlns:a16="http://schemas.microsoft.com/office/drawing/2014/main" id="{83A6373C-BF27-59D1-C81E-0BE7699BD4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778" t="24192" r="26698" b="23999"/>
          <a:stretch/>
        </p:blipFill>
        <p:spPr bwMode="auto">
          <a:xfrm>
            <a:off x="5342709" y="2090056"/>
            <a:ext cx="1815737" cy="2066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2711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A149D-7C08-699C-DD0B-A8B1D9E5F7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C5A6D1-E7B0-6649-0B90-ED3B5C5B906A}"/>
              </a:ext>
            </a:extLst>
          </p:cNvPr>
          <p:cNvSpPr>
            <a:spLocks noGrp="1"/>
          </p:cNvSpPr>
          <p:nvPr>
            <p:ph type="title"/>
          </p:nvPr>
        </p:nvSpPr>
        <p:spPr>
          <a:xfrm>
            <a:off x="838200" y="365125"/>
            <a:ext cx="10515600" cy="685909"/>
          </a:xfrm>
        </p:spPr>
        <p:txBody>
          <a:bodyPr anchor="ctr">
            <a:normAutofit/>
          </a:bodyPr>
          <a:lstStyle/>
          <a:p>
            <a:r>
              <a:rPr lang="en-US" dirty="0"/>
              <a:t>Appendix #</a:t>
            </a:r>
          </a:p>
        </p:txBody>
      </p:sp>
      <p:sp>
        <p:nvSpPr>
          <p:cNvPr id="5" name="Content Placeholder 4">
            <a:extLst>
              <a:ext uri="{FF2B5EF4-FFF2-40B4-BE49-F238E27FC236}">
                <a16:creationId xmlns:a16="http://schemas.microsoft.com/office/drawing/2014/main" id="{E52A257D-CF5C-3A00-7CD9-432FBABA3917}"/>
              </a:ext>
            </a:extLst>
          </p:cNvPr>
          <p:cNvSpPr>
            <a:spLocks noGrp="1"/>
          </p:cNvSpPr>
          <p:nvPr>
            <p:ph sz="half" idx="1"/>
          </p:nvPr>
        </p:nvSpPr>
        <p:spPr>
          <a:xfrm>
            <a:off x="838200" y="1163789"/>
            <a:ext cx="5181600" cy="5013174"/>
          </a:xfrm>
        </p:spPr>
        <p:txBody>
          <a:bodyPr vert="horz" lIns="91440" tIns="45720" rIns="91440" bIns="45720" rtlCol="0">
            <a:normAutofit/>
          </a:bodyPr>
          <a:lstStyle/>
          <a:p>
            <a:pPr marL="0" indent="0" rtl="0" fontAlgn="base">
              <a:spcBef>
                <a:spcPts val="1200"/>
              </a:spcBef>
              <a:spcAft>
                <a:spcPts val="1200"/>
              </a:spcAft>
              <a:buNone/>
            </a:pPr>
            <a:r>
              <a:rPr lang="en-US" b="1" i="0" u="none" strike="noStrike">
                <a:effectLst/>
              </a:rPr>
              <a:t>Excel Data Cleaning &amp; Transformation Worksheets</a:t>
            </a:r>
            <a:br>
              <a:rPr lang="en-US" b="1" i="0" u="none" strike="noStrike">
                <a:effectLst/>
              </a:rPr>
            </a:br>
            <a:r>
              <a:rPr lang="en-US" b="0" i="0" u="none" strike="noStrike">
                <a:effectLst/>
              </a:rPr>
              <a:t>Includes customer demographics, DOB corrections, balance categorization, age group segmentation, and validation checks performed during preprocessing.</a:t>
            </a:r>
            <a:endParaRPr lang="en-IN" kern="100"/>
          </a:p>
        </p:txBody>
      </p:sp>
      <p:pic>
        <p:nvPicPr>
          <p:cNvPr id="3" name="Picture 2">
            <a:extLst>
              <a:ext uri="{FF2B5EF4-FFF2-40B4-BE49-F238E27FC236}">
                <a16:creationId xmlns:a16="http://schemas.microsoft.com/office/drawing/2014/main" id="{8C1A32D7-1D4E-3481-CBF0-9B21634CD050}"/>
              </a:ext>
            </a:extLst>
          </p:cNvPr>
          <p:cNvPicPr>
            <a:picLocks noChangeAspect="1"/>
          </p:cNvPicPr>
          <p:nvPr/>
        </p:nvPicPr>
        <p:blipFill>
          <a:blip r:embed="rId2"/>
          <a:stretch>
            <a:fillRect/>
          </a:stretch>
        </p:blipFill>
        <p:spPr>
          <a:xfrm>
            <a:off x="5891645" y="1163789"/>
            <a:ext cx="5462155" cy="3355073"/>
          </a:xfrm>
          <a:prstGeom prst="rect">
            <a:avLst/>
          </a:prstGeom>
          <a:noFill/>
        </p:spPr>
      </p:pic>
    </p:spTree>
    <p:extLst>
      <p:ext uri="{BB962C8B-B14F-4D97-AF65-F5344CB8AC3E}">
        <p14:creationId xmlns:p14="http://schemas.microsoft.com/office/powerpoint/2010/main" val="16981076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C2DD-53EF-AD02-C14D-F3F37423A3C2}"/>
              </a:ext>
            </a:extLst>
          </p:cNvPr>
          <p:cNvSpPr>
            <a:spLocks noGrp="1"/>
          </p:cNvSpPr>
          <p:nvPr>
            <p:ph type="title"/>
          </p:nvPr>
        </p:nvSpPr>
        <p:spPr/>
        <p:txBody>
          <a:bodyPr/>
          <a:lstStyle/>
          <a:p>
            <a:r>
              <a:rPr lang="en-US" dirty="0"/>
              <a:t>Appendix #</a:t>
            </a:r>
          </a:p>
        </p:txBody>
      </p:sp>
      <p:sp>
        <p:nvSpPr>
          <p:cNvPr id="5" name="Content Placeholder 4">
            <a:extLst>
              <a:ext uri="{FF2B5EF4-FFF2-40B4-BE49-F238E27FC236}">
                <a16:creationId xmlns:a16="http://schemas.microsoft.com/office/drawing/2014/main" id="{28072E42-DDEE-F140-AB06-21CFED9B6549}"/>
              </a:ext>
            </a:extLst>
          </p:cNvPr>
          <p:cNvSpPr>
            <a:spLocks noGrp="1"/>
          </p:cNvSpPr>
          <p:nvPr>
            <p:ph idx="1"/>
          </p:nvPr>
        </p:nvSpPr>
        <p:spPr/>
        <p:txBody>
          <a:bodyPr vert="horz" lIns="91440" tIns="45720" rIns="91440" bIns="45720" rtlCol="0">
            <a:normAutofit/>
          </a:bodyPr>
          <a:lstStyle/>
          <a:p>
            <a:pPr marL="0" indent="0" rtl="0" fontAlgn="base">
              <a:spcBef>
                <a:spcPts val="1200"/>
              </a:spcBef>
              <a:spcAft>
                <a:spcPts val="1200"/>
              </a:spcAft>
              <a:buNone/>
            </a:pPr>
            <a:r>
              <a:rPr lang="en-US" sz="1800" b="1" i="0" u="none" strike="noStrike">
                <a:solidFill>
                  <a:srgbClr val="000000"/>
                </a:solidFill>
                <a:effectLst/>
                <a:latin typeface="Arial" panose="020B0604020202020204" pitchFamily="34" charset="0"/>
              </a:rPr>
              <a:t>Database Structure (phpMyAdmin View)</a:t>
            </a:r>
            <a:br>
              <a:rPr lang="en-US" sz="1800" b="1" i="0" u="none" strike="noStrike">
                <a:solidFill>
                  <a:srgbClr val="000000"/>
                </a:solidFill>
                <a:effectLst/>
                <a:latin typeface="Arial" panose="020B0604020202020204" pitchFamily="34" charset="0"/>
              </a:rPr>
            </a:br>
            <a:r>
              <a:rPr lang="en-US" sz="1800" b="0" i="0" u="none" strike="noStrike">
                <a:solidFill>
                  <a:srgbClr val="000000"/>
                </a:solidFill>
                <a:effectLst/>
                <a:latin typeface="Arial" panose="020B0604020202020204" pitchFamily="34" charset="0"/>
              </a:rPr>
              <a:t>Shows the final SQL schema for the FinPro project, including:</a:t>
            </a:r>
            <a:br>
              <a:rPr lang="en-US" sz="1800" b="0" i="0" u="none" strike="noStrike">
                <a:solidFill>
                  <a:srgbClr val="000000"/>
                </a:solidFill>
                <a:effectLst/>
                <a:latin typeface="Arial" panose="020B0604020202020204" pitchFamily="34" charset="0"/>
              </a:rPr>
            </a:br>
            <a:r>
              <a:rPr lang="en-US" sz="1800" b="0" i="1" u="none" strike="noStrike">
                <a:solidFill>
                  <a:srgbClr val="000000"/>
                </a:solidFill>
                <a:effectLst/>
                <a:latin typeface="Arial" panose="020B0604020202020204" pitchFamily="34" charset="0"/>
              </a:rPr>
              <a:t>account_type, branches, countries, customer_data, transaction_data, us_cities</a:t>
            </a:r>
            <a:br>
              <a:rPr lang="en-US" sz="1800" b="0" i="1" u="none" strike="noStrike">
                <a:solidFill>
                  <a:srgbClr val="000000"/>
                </a:solidFill>
                <a:effectLst/>
                <a:latin typeface="Arial" panose="020B0604020202020204" pitchFamily="34" charset="0"/>
              </a:rPr>
            </a:br>
            <a:r>
              <a:rPr lang="en-US" sz="1800" b="0" i="0" u="none" strike="noStrike">
                <a:solidFill>
                  <a:srgbClr val="000000"/>
                </a:solidFill>
                <a:effectLst/>
                <a:latin typeface="Arial" panose="020B0604020202020204" pitchFamily="34" charset="0"/>
              </a:rPr>
              <a:t>Demonstrates successful data migration, table creation, and relational integrity.</a:t>
            </a:r>
            <a:endParaRPr lang="en-IN" sz="1800" kern="100" dirty="0">
              <a:latin typeface="Aptos" panose="020B0004020202020204" pitchFamily="34" charset="0"/>
              <a:cs typeface="Times New Roman" panose="02020603050405020304" pitchFamily="18" charset="0"/>
            </a:endParaRPr>
          </a:p>
        </p:txBody>
      </p:sp>
      <p:pic>
        <p:nvPicPr>
          <p:cNvPr id="13" name="Picture 12">
            <a:extLst>
              <a:ext uri="{FF2B5EF4-FFF2-40B4-BE49-F238E27FC236}">
                <a16:creationId xmlns:a16="http://schemas.microsoft.com/office/drawing/2014/main" id="{31BD794A-9D3D-6D67-212E-46110F3E0918}"/>
              </a:ext>
            </a:extLst>
          </p:cNvPr>
          <p:cNvPicPr>
            <a:picLocks noChangeAspect="1"/>
          </p:cNvPicPr>
          <p:nvPr/>
        </p:nvPicPr>
        <p:blipFill>
          <a:blip r:embed="rId3"/>
          <a:stretch>
            <a:fillRect/>
          </a:stretch>
        </p:blipFill>
        <p:spPr>
          <a:xfrm>
            <a:off x="914400" y="2493817"/>
            <a:ext cx="10328564" cy="3158838"/>
          </a:xfrm>
          <a:prstGeom prst="rect">
            <a:avLst/>
          </a:prstGeom>
        </p:spPr>
      </p:pic>
    </p:spTree>
    <p:extLst>
      <p:ext uri="{BB962C8B-B14F-4D97-AF65-F5344CB8AC3E}">
        <p14:creationId xmlns:p14="http://schemas.microsoft.com/office/powerpoint/2010/main" val="3935955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0A00B-F530-1BBE-634E-CCE6EE6BDC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57693F-7251-E2FC-B896-B5DB433B2489}"/>
              </a:ext>
            </a:extLst>
          </p:cNvPr>
          <p:cNvSpPr>
            <a:spLocks noGrp="1"/>
          </p:cNvSpPr>
          <p:nvPr>
            <p:ph type="title"/>
          </p:nvPr>
        </p:nvSpPr>
        <p:spPr/>
        <p:txBody>
          <a:bodyPr/>
          <a:lstStyle/>
          <a:p>
            <a:r>
              <a:rPr lang="en-US" dirty="0"/>
              <a:t>Appendix #</a:t>
            </a:r>
          </a:p>
        </p:txBody>
      </p:sp>
      <p:sp>
        <p:nvSpPr>
          <p:cNvPr id="5" name="Content Placeholder 4">
            <a:extLst>
              <a:ext uri="{FF2B5EF4-FFF2-40B4-BE49-F238E27FC236}">
                <a16:creationId xmlns:a16="http://schemas.microsoft.com/office/drawing/2014/main" id="{039F0E12-F512-0BEC-FC81-BA00FF98C53E}"/>
              </a:ext>
            </a:extLst>
          </p:cNvPr>
          <p:cNvSpPr>
            <a:spLocks noGrp="1"/>
          </p:cNvSpPr>
          <p:nvPr>
            <p:ph idx="1"/>
          </p:nvPr>
        </p:nvSpPr>
        <p:spPr/>
        <p:txBody>
          <a:bodyPr vert="horz" lIns="91440" tIns="45720" rIns="91440" bIns="45720" rtlCol="0">
            <a:normAutofit/>
          </a:bodyPr>
          <a:lstStyle/>
          <a:p>
            <a:pPr marL="0" indent="0">
              <a:lnSpc>
                <a:spcPct val="115000"/>
              </a:lnSpc>
              <a:spcAft>
                <a:spcPts val="800"/>
              </a:spcAft>
              <a:buNone/>
            </a:pPr>
            <a:r>
              <a:rPr lang="en-US" sz="1800" dirty="0">
                <a:effectLst/>
                <a:latin typeface="Arial" panose="020B0604020202020204" pitchFamily="34" charset="0"/>
                <a:ea typeface="Arial" panose="020B0604020202020204" pitchFamily="34" charset="0"/>
              </a:rPr>
              <a:t>Tableau Links</a:t>
            </a:r>
          </a:p>
          <a:p>
            <a:pPr marL="0" indent="0">
              <a:lnSpc>
                <a:spcPct val="115000"/>
              </a:lnSpc>
              <a:spcAft>
                <a:spcPts val="800"/>
              </a:spcAft>
              <a:buNone/>
            </a:pPr>
            <a:r>
              <a:rPr lang="en-US" sz="1800" dirty="0">
                <a:effectLst/>
                <a:latin typeface="Arial" panose="020B0604020202020204" pitchFamily="34" charset="0"/>
                <a:ea typeface="Arial" panose="020B0604020202020204" pitchFamily="34" charset="0"/>
                <a:hlinkClick r:id="rId2"/>
              </a:rPr>
              <a:t>Customer &amp; Branch Performance Dashboard</a:t>
            </a:r>
            <a:endParaRPr lang="en-US" sz="1800" dirty="0">
              <a:effectLst/>
              <a:latin typeface="Arial" panose="020B0604020202020204" pitchFamily="34" charset="0"/>
              <a:ea typeface="Arial" panose="020B0604020202020204" pitchFamily="34" charset="0"/>
            </a:endParaRPr>
          </a:p>
          <a:p>
            <a:pPr marL="0" indent="0">
              <a:lnSpc>
                <a:spcPct val="115000"/>
              </a:lnSpc>
              <a:spcAft>
                <a:spcPts val="800"/>
              </a:spcAft>
              <a:buNone/>
            </a:pPr>
            <a:r>
              <a:rPr lang="en-US" sz="1800" dirty="0">
                <a:effectLst/>
                <a:latin typeface="Arial" panose="020B0604020202020204" pitchFamily="34" charset="0"/>
                <a:ea typeface="Arial" panose="020B0604020202020204" pitchFamily="34" charset="0"/>
                <a:hlinkClick r:id="rId3"/>
              </a:rPr>
              <a:t>Country‑Wise Transaction Analysis</a:t>
            </a:r>
            <a:endParaRPr lang="en-US" sz="1800" dirty="0">
              <a:effectLst/>
              <a:latin typeface="Arial" panose="020B0604020202020204" pitchFamily="34" charset="0"/>
              <a:ea typeface="Arial" panose="020B0604020202020204" pitchFamily="34" charset="0"/>
            </a:endParaRPr>
          </a:p>
          <a:p>
            <a:pPr marL="0" indent="0">
              <a:lnSpc>
                <a:spcPct val="115000"/>
              </a:lnSpc>
              <a:spcAft>
                <a:spcPts val="800"/>
              </a:spcAft>
              <a:buNone/>
            </a:pPr>
            <a:r>
              <a:rPr lang="en-US" sz="1800" dirty="0" err="1">
                <a:effectLst/>
                <a:latin typeface="Arial" panose="020B0604020202020204" pitchFamily="34" charset="0"/>
                <a:ea typeface="Arial" panose="020B0604020202020204" pitchFamily="34" charset="0"/>
                <a:hlinkClick r:id="rId4"/>
              </a:rPr>
              <a:t>FinPro</a:t>
            </a:r>
            <a:r>
              <a:rPr lang="en-US" sz="1800" dirty="0">
                <a:effectLst/>
                <a:latin typeface="Arial" panose="020B0604020202020204" pitchFamily="34" charset="0"/>
                <a:ea typeface="Arial" panose="020B0604020202020204" pitchFamily="34" charset="0"/>
                <a:hlinkClick r:id="rId4"/>
              </a:rPr>
              <a:t> Storyboard</a:t>
            </a:r>
            <a:endParaRPr lang="en-US"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618990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2295</TotalTime>
  <Words>4861</Words>
  <Application>Microsoft Office PowerPoint</Application>
  <PresentationFormat>Widescreen</PresentationFormat>
  <Paragraphs>641</Paragraphs>
  <Slides>64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Arial</vt:lpstr>
      <vt:lpstr>Helvetica Neue</vt:lpstr>
      <vt:lpstr>Roboto Mono</vt:lpstr>
      <vt:lpstr>Symbol</vt:lpstr>
      <vt:lpstr>Office Theme</vt:lpstr>
      <vt:lpstr>Finpro Bank</vt:lpstr>
      <vt:lpstr>Outline</vt:lpstr>
      <vt:lpstr>Introduction</vt:lpstr>
      <vt:lpstr>Purpose of the presentation</vt:lpstr>
      <vt:lpstr>Summary of work done on the project</vt:lpstr>
      <vt:lpstr>Data acquisition and cleaning </vt:lpstr>
      <vt:lpstr>Data cleaning documentation (1 of 3)</vt:lpstr>
      <vt:lpstr>Data cleaning documentation (2 of 3)</vt:lpstr>
      <vt:lpstr>Data cleaning documentation (3 of 3)</vt:lpstr>
      <vt:lpstr>Analysis and visualization using MS Excel (1 of 2)</vt:lpstr>
      <vt:lpstr>Analysis and visualization using MS Excel (2 of 2)</vt:lpstr>
      <vt:lpstr>Database design and setup</vt:lpstr>
      <vt:lpstr>Entity relationship diagram (ERD) (1 of 3)</vt:lpstr>
      <vt:lpstr>Entity relationship diagram (ERD) (2 of 3)</vt:lpstr>
      <vt:lpstr>Entity relationship diagram (ERD) (3 of 3)</vt:lpstr>
      <vt:lpstr>Table structure design</vt:lpstr>
      <vt:lpstr>OLAP schema (1 of 3)</vt:lpstr>
      <vt:lpstr>OLAP schema (2 of 3)</vt:lpstr>
      <vt:lpstr>OLAP schema (3 of 3)</vt:lpstr>
      <vt:lpstr>Evaluation and interpretation</vt:lpstr>
      <vt:lpstr>Documenting SQL queries and scripts (1 of 7)</vt:lpstr>
      <vt:lpstr>Documenting SQL queries and scripts (2 of 7)</vt:lpstr>
      <vt:lpstr>Documenting SQL queries and scripts (3 of 7)</vt:lpstr>
      <vt:lpstr>Documenting SQL queries and scripts (4 of 7)</vt:lpstr>
      <vt:lpstr>Documenting SQL queries and scripts (5 of 7)</vt:lpstr>
      <vt:lpstr>Documenting SQL queries and scripts (6 of 7)</vt:lpstr>
      <vt:lpstr>Documenting SQL queries and scripts (7 of 7)</vt:lpstr>
      <vt:lpstr>Inferences (1 of 4)</vt:lpstr>
      <vt:lpstr>Inferences (2 of 4)</vt:lpstr>
      <vt:lpstr>Inferences (3 of 4)</vt:lpstr>
      <vt:lpstr>Inferences (4 of 4)</vt:lpstr>
      <vt:lpstr>Data integration and security</vt:lpstr>
      <vt:lpstr>Data integration recommendations (1 of 3)</vt:lpstr>
      <vt:lpstr>Data integration recommendations (2 of 3)</vt:lpstr>
      <vt:lpstr>Data integration recommendations (3 of 3)</vt:lpstr>
      <vt:lpstr>Security documentation (1 of 3)</vt:lpstr>
      <vt:lpstr>Security documentation (2 of 3)</vt:lpstr>
      <vt:lpstr>Security documentation (3 of 3)</vt:lpstr>
      <vt:lpstr>Data reporting</vt:lpstr>
      <vt:lpstr>Report specifications (1 of 6)</vt:lpstr>
      <vt:lpstr>Report specifications (2 of 6)</vt:lpstr>
      <vt:lpstr>Report specifications (3 of 6)</vt:lpstr>
      <vt:lpstr>Report specifications (4 of 6)</vt:lpstr>
      <vt:lpstr>Report specifications (5 of 6)</vt:lpstr>
      <vt:lpstr>Report specifications (6 of 6)</vt:lpstr>
      <vt:lpstr>Performance analysis guidelines (1 of 3)</vt:lpstr>
      <vt:lpstr>Performance analysis guidelines (2 of 3)</vt:lpstr>
      <vt:lpstr>Performance analysis guidelines (3 of 3)</vt:lpstr>
      <vt:lpstr>General handover documentation</vt:lpstr>
      <vt:lpstr>Role and key responsibilities</vt:lpstr>
      <vt:lpstr>System architecture diagram - i</vt:lpstr>
      <vt:lpstr>System architecture diagram - ii</vt:lpstr>
      <vt:lpstr>System architecture diagram- iii</vt:lpstr>
      <vt:lpstr>Key challenges and resolutions - i</vt:lpstr>
      <vt:lpstr>Key challenges and resolutions - ii</vt:lpstr>
      <vt:lpstr>Insights and recommendations</vt:lpstr>
      <vt:lpstr>Insights and recommendations - i</vt:lpstr>
      <vt:lpstr>Insights and recommendations - ii</vt:lpstr>
      <vt:lpstr>Insights and recommendations - iii</vt:lpstr>
      <vt:lpstr>Summary</vt:lpstr>
      <vt:lpstr>Appendix</vt:lpstr>
      <vt:lpstr>Appendix #</vt:lpstr>
      <vt:lpstr>Appendix #</vt:lpstr>
      <vt:lpstr>Appendix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sangeeta srinivasan</dc:creator>
  <cp:lastModifiedBy>Mohammad Shahidullah Chowdhury</cp:lastModifiedBy>
  <cp:revision>71</cp:revision>
  <dcterms:created xsi:type="dcterms:W3CDTF">2024-04-22T14:20:24Z</dcterms:created>
  <dcterms:modified xsi:type="dcterms:W3CDTF">2026-03-17T14:03:26Z</dcterms:modified>
</cp:coreProperties>
</file>